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428" autoAdjust="0"/>
  </p:normalViewPr>
  <p:slideViewPr>
    <p:cSldViewPr snapToGrid="0" snapToObjects="1">
      <p:cViewPr varScale="1">
        <p:scale>
          <a:sx n="64" d="100"/>
          <a:sy n="64" d="100"/>
        </p:scale>
        <p:origin x="15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744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session: this is the certification demo for the Release Note Workflow Automation proof of concept, built as part of the TWT AI Mastery program. Open by naming the team briefly and thanking the trainer and the course. Set expectations: this is a proof of concept, not a production system, and the goal today is to show how AI capabilities — Commands, Skills, Agents, and MCP integrations — can meaningfully improve release note creation while keeping a human in control at every step. Preview the three parts of the walkthrough: the problem and design, a live demonstration of two scenarios, and the responsible-AI validation and roadmap. Keep this slide brief — under 30 seconds — energy and clarity matter more than detail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audience in the real pain before showing any AI. Walk the four cards left to right: information scattered across YouTrack issues with no single source of truth; a slow cycle — 9 to 15 days is the documented current-state duration; inconsistent quality because tone and depth depend on whoever drafts it; and low traceability, meaning reviewers can't easily confirm which ticket informed which line. Land the point: this isn't a tooling gap, it's a process built entirely on manual synthesis. Bridge line to the next slide: 'Let's look at exactly what that manual process looks like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 five-step manual pipeline documented for the current process: collect issues, manually read each ticket, hand-draft the note, route it through several review rounds, then publish. Emphasize that every arrow in this chain is a human doing synthesis work — there is no assistance at any step. Call out the 9-15 day duration as the current-state baseline captured in the workflow analysis document, and note it is highly variable because it depends entirely on writer and reviewer availability. This is the baseline we'll compare the AI-assisted version against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central thesis of the whole project, so slow down here. Explain that 'AI-powered' implies autonomy and finality, which is exactly the wrong signal for a documentation workflow where accuracy and traceability matter. 'AI-assisted' instead frames the AI as doing extraction, drafting, and review — while humans keep final approval authority at every checkpoint. Read the three phrases on screen aloud: AI only uses provided information, humans make final approval, and this makes people faster not redundant. Tell the audience these three phrases will recur throughout the live demo — they are the throughline of the responsible-AI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AI capabilities this PoC demonstrates, left to right. Commands are the reusable prompts the writer triggers — think of them as on-demand actions. Skills package expertise, like the release-note style guide, so drafts come out consistent regardless of who runs the command. Agents are the multi-step workers: they extract from tickets, draft, and run a self-review pass before anything reaches a human. MCP integrations are the forward-looking piece — direct connectors into YouTrack and GitHub — and we'll flag that this is a roadmap item today, demonstrated conceptually rather than fully wired end-to-end. Bridge: 'Here's how those four pieces combine into a full future-state workflow.'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same five-stage shape as the current-state slide, but color-code who does each step: teal for AI-performed steps, navy for human-performed steps. AI retrieves and reads issues, extracts and drafts the note, and runs a self-review pass — three consecutive AI steps. Then the flow deliberately hands off: a human approves, and only a human publishes. That handoff is not incidental, it is the design. Cite the estimated 80-90% cycle time reduction from the future-state workflow document as directional, not audited — call it an estimate, not a guarantee. Bridge: 'Let's stop talking about the design and actually see it work — two scenarios.'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live demo before running it. We'll show two scenarios using the same underlying agent workflow. Scenario 1, Feature Release, has complete engineering detail in YouTrack, so the AI produces a full, publish-ready draft — this shows the raw automation gain. Scenario 2, Mixed Release, deliberately has incomplete information, so the AI flags the specific gaps rather than guessing or fabricating — this shows the safeguard that makes the workflow trustworthy. Tell the audience which one you'll run live and which one you'll walk through as a pre-built artifact, per your demo plan, so expectations are set before you switch screens.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live as you run this scenario: the agent extracts directly from the YouTrack issue — title, description, resolution notes — then a skill applies the release-note style guide to draft it in the house voice. Before handing off, the agent runs a self-review pass, checking its own draft against the source ticket for accuracy. Then stop and hand control to the human reviewer step explicitly: the writer reads the draft, makes any edits, and gives the final sign-off. Reinforce: 'Notice the AI did not publish anything — it produced a draft for a human to approve.'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transformation concretely. On the left is what a writer starts with today — raw ticket fragments, technical shorthand, no customer framing. This example is illustrative, built to represent a typical ticket, not a real customer issue. On the right is the AI-produced draft after the writer's review: customer-facing language, a clear headline, and plain-English impact. Note that every fact in the 'after' text traces back to something in the 'before' — nothing was invented. That traceability is exactly what the AI-assisted framing promises. This is the automation win: minutes instead of days for the first draft, with a human still finishing the job.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scenario that carries the responsible-AI message, so narrate it deliberately. The agent extracts from a ticket that is missing a customer impact statement — a required field per the style guide. Instead of inferring or inventing that detail, the agent stops at the gap-check step and surfaces precisely what's missing. Say the key phrase here explicitly: 'AI only uses provided information.' It does not guess to fill the silence. The workflow then routes back to the human, who supplies the missing detail before drafting resumes — the human is a required input, not an optional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flagged message on screen and read it aloud — it's specific about which ticket and exactly which field is missing, not a vague error. Walk the three outcomes underneath: nothing is invented to fill the silence, the draft pauses and routes back to the human, and it only resumes once the missing fact is supplied. This is the moment to land the second key phrase: 'humans make final approval' pairs with this gap-flag behavior — the human isn't just approving at the end, they're a required input whenever information is genuinely missing. Bridge: 'That behavior isn't incidental — it's a deliberate governance principle. Let's look at how we validated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the live demo to how we govern this pattern more broadly. Four principles, all downstream of the same idea. Final approval is always human — nothing ships without a person's sign-off. No fabrication — you just watched this in scenario 2, where the AI flagged rather than guessed. Transparent reasoning means every line in an AI draft can be traced to a specific ticket, which is what makes the traceability problem from slide 2 actually solved, not just hidden. Auditable trail means every draft, edit, and approval is logged, so if something goes wrong after publish, the review path is reconstructable. These four principles are what the validation work in the next slide was designed to test.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checklist against the project charter's success criteria — read it as evidence, not aspiration, since everything here was actually demonstrated today. Call out that the MCP integration path is validated at the concept level only; full automated retrieval from YouTrack and GitHub is future work, addressed on the roadmap slide next. If asked by evaluators, be ready to point to the specific validation findings and known-limitations documentation Anubhav's team maintained, since this slide summarizes rather than replaces that record. Bridge: 'With validation covered, here's where the next iteration goes.'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deliberately scoped so nobody thinks this PoC claims more than it delivers. Now: what you saw today — two validated scenarios using Commands, Skills, and Agents inside Claude.ai. Next: MCP integration with YouTrack and GitHub, so draft retrieval becomes automated rather than manually pasted in — this is the most requested next step from the team. Later: once the pattern is proven for release notes, the same AI-assisted approach could extend to other documentation types, though that is explicitly out of scope for this proof of concept. Keep this slide honest about sequencing — avoid implying MCP integration is already built.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human-effectiveness message, not a technology flex. Read the quote and let it land: this makes people faster, not redundant. Restate the division of labor in one breath — AI extracts, drafts, and reviews; people decide, approve, and publish — that's the entire proof of concept in a sentence. Thank the team by name, since this was a group effort across workflow design, validation, and prototyping. Open the floor for questions, and if evaluators probe on production-readiness, be direct that this is explicitly a proof of concept: the MCP integration, broader document types, and full audit tooling are roadmap items, not built today.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5B"/>
        </a:solidFill>
        <a:effectLst/>
      </p:bgPr>
    </p:bg>
    <p:spTree>
      <p:nvGrpSpPr>
        <p:cNvPr id="1" name=""/>
        <p:cNvGrpSpPr/>
        <p:nvPr/>
      </p:nvGrpSpPr>
      <p:grpSpPr>
        <a:xfrm>
          <a:off x="0" y="0"/>
          <a:ext cx="0" cy="0"/>
          <a:chOff x="0" y="0"/>
          <a:chExt cx="0" cy="0"/>
        </a:xfrm>
      </p:grpSpPr>
      <p:sp>
        <p:nvSpPr>
          <p:cNvPr id="2" name="Shape 0"/>
          <p:cNvSpPr/>
          <p:nvPr/>
        </p:nvSpPr>
        <p:spPr>
          <a:xfrm>
            <a:off x="6949440" y="-1188720"/>
            <a:ext cx="3840480" cy="3840480"/>
          </a:xfrm>
          <a:prstGeom prst="ellipse">
            <a:avLst/>
          </a:prstGeom>
          <a:solidFill>
            <a:srgbClr val="2A9D8F">
              <a:alpha val="16000"/>
            </a:srgbClr>
          </a:solidFill>
          <a:ln/>
        </p:spPr>
        <p:txBody>
          <a:bodyPr/>
          <a:lstStyle/>
          <a:p>
            <a:endParaRPr/>
          </a:p>
        </p:txBody>
      </p:sp>
      <p:sp>
        <p:nvSpPr>
          <p:cNvPr id="3" name="Shape 1"/>
          <p:cNvSpPr/>
          <p:nvPr/>
        </p:nvSpPr>
        <p:spPr>
          <a:xfrm>
            <a:off x="7680960" y="-548640"/>
            <a:ext cx="2377440" cy="2377440"/>
          </a:xfrm>
          <a:prstGeom prst="ellipse">
            <a:avLst/>
          </a:prstGeom>
          <a:solidFill>
            <a:srgbClr val="2A9D8F">
              <a:alpha val="28000"/>
            </a:srgbClr>
          </a:solidFill>
          <a:ln/>
        </p:spPr>
        <p:txBody>
          <a:bodyPr/>
          <a:lstStyle/>
          <a:p>
            <a:endParaRPr/>
          </a:p>
        </p:txBody>
      </p:sp>
      <p:sp>
        <p:nvSpPr>
          <p:cNvPr id="4" name="Text 2"/>
          <p:cNvSpPr/>
          <p:nvPr/>
        </p:nvSpPr>
        <p:spPr>
          <a:xfrm>
            <a:off x="640080" y="1051560"/>
            <a:ext cx="7315200" cy="320040"/>
          </a:xfrm>
          <a:prstGeom prst="rect">
            <a:avLst/>
          </a:prstGeom>
          <a:noFill/>
          <a:ln/>
        </p:spPr>
        <p:txBody>
          <a:bodyPr wrap="square" lIns="0" tIns="0" rIns="0" bIns="0" rtlCol="0" anchor="ctr"/>
          <a:lstStyle/>
          <a:p>
            <a:pPr marL="0" indent="0">
              <a:buNone/>
            </a:pPr>
            <a:r>
              <a:rPr lang="en-US" sz="1200" b="1" kern="0" spc="200" dirty="0">
                <a:solidFill>
                  <a:srgbClr val="2A9D8F"/>
                </a:solidFill>
                <a:latin typeface="Calibri" pitchFamily="34" charset="0"/>
                <a:ea typeface="Calibri" pitchFamily="34" charset="-122"/>
                <a:cs typeface="Calibri" pitchFamily="34" charset="-120"/>
              </a:rPr>
              <a:t>TWT AI MASTERY PROGRAM  ·  CERTIFICATION DEMO</a:t>
            </a:r>
            <a:endParaRPr lang="en-US" sz="1200" dirty="0"/>
          </a:p>
        </p:txBody>
      </p:sp>
      <p:sp>
        <p:nvSpPr>
          <p:cNvPr id="5" name="Text 3"/>
          <p:cNvSpPr/>
          <p:nvPr/>
        </p:nvSpPr>
        <p:spPr>
          <a:xfrm>
            <a:off x="640080" y="1463040"/>
            <a:ext cx="7772400" cy="15544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AI-Assisted Documentation</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Workflow Automation</a:t>
            </a:r>
            <a:endParaRPr lang="en-US" sz="4000" dirty="0"/>
          </a:p>
        </p:txBody>
      </p:sp>
      <p:sp>
        <p:nvSpPr>
          <p:cNvPr id="6" name="Text 4"/>
          <p:cNvSpPr/>
          <p:nvPr/>
        </p:nvSpPr>
        <p:spPr>
          <a:xfrm>
            <a:off x="640080" y="2880360"/>
            <a:ext cx="7498080" cy="457200"/>
          </a:xfrm>
          <a:prstGeom prst="rect">
            <a:avLst/>
          </a:prstGeom>
          <a:noFill/>
          <a:ln/>
        </p:spPr>
        <p:txBody>
          <a:bodyPr wrap="square" lIns="0" tIns="0" rIns="0" bIns="0" rtlCol="0" anchor="ctr"/>
          <a:lstStyle/>
          <a:p>
            <a:pPr marL="0" indent="0">
              <a:buNone/>
            </a:pPr>
            <a:r>
              <a:rPr lang="en-US" sz="1800" i="1" dirty="0">
                <a:solidFill>
                  <a:srgbClr val="CFE3E0"/>
                </a:solidFill>
                <a:latin typeface="Calibri" pitchFamily="34" charset="0"/>
                <a:ea typeface="Calibri" pitchFamily="34" charset="-122"/>
                <a:cs typeface="Calibri" pitchFamily="34" charset="-120"/>
              </a:rPr>
              <a:t>Release Notes as a Proof of Concept</a:t>
            </a:r>
            <a:endParaRPr lang="en-US" sz="1800" dirty="0"/>
          </a:p>
        </p:txBody>
      </p:sp>
      <p:sp>
        <p:nvSpPr>
          <p:cNvPr id="7" name="Shape 5"/>
          <p:cNvSpPr/>
          <p:nvPr/>
        </p:nvSpPr>
        <p:spPr>
          <a:xfrm>
            <a:off x="658368" y="3520440"/>
            <a:ext cx="1280160" cy="0"/>
          </a:xfrm>
          <a:prstGeom prst="line">
            <a:avLst/>
          </a:prstGeom>
          <a:noFill/>
          <a:ln w="25400">
            <a:solidFill>
              <a:srgbClr val="2A9D8F"/>
            </a:solidFill>
            <a:prstDash val="solid"/>
          </a:ln>
        </p:spPr>
        <p:txBody>
          <a:bodyPr/>
          <a:lstStyle/>
          <a:p>
            <a:endParaRPr/>
          </a:p>
        </p:txBody>
      </p:sp>
      <p:sp>
        <p:nvSpPr>
          <p:cNvPr id="8" name="Text 6"/>
          <p:cNvSpPr/>
          <p:nvPr/>
        </p:nvSpPr>
        <p:spPr>
          <a:xfrm>
            <a:off x="640080" y="3749040"/>
            <a:ext cx="7315200" cy="640080"/>
          </a:xfrm>
          <a:prstGeom prst="rect">
            <a:avLst/>
          </a:prstGeom>
          <a:noFill/>
          <a:ln/>
        </p:spPr>
        <p:txBody>
          <a:bodyPr wrap="square" lIns="0" tIns="0" rIns="0" bIns="0" rtlCol="0" anchor="ctr"/>
          <a:lstStyle/>
          <a:p>
            <a:pPr marL="0" indent="0">
              <a:lnSpc>
                <a:spcPct val="130000"/>
              </a:lnSpc>
              <a:buNone/>
            </a:pPr>
            <a:r>
              <a:rPr lang="en-US" sz="1300" dirty="0">
                <a:solidFill>
                  <a:srgbClr val="AFC3D6"/>
                </a:solidFill>
                <a:latin typeface="Calibri" pitchFamily="34" charset="0"/>
                <a:ea typeface="Calibri" pitchFamily="34" charset="-122"/>
                <a:cs typeface="Calibri" pitchFamily="34" charset="-120"/>
              </a:rPr>
              <a:t>05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7772400" cy="594360"/>
          </a:xfrm>
          <a:prstGeom prst="rect">
            <a:avLst/>
          </a:prstGeom>
          <a:noFill/>
          <a:ln/>
        </p:spPr>
        <p:txBody>
          <a:bodyPr wrap="square" lIns="0" tIns="0" rIns="0" bIns="0" rtlCol="0" anchor="ctr"/>
          <a:lstStyle/>
          <a:p>
            <a:pPr marL="0" indent="0">
              <a:buNone/>
            </a:pPr>
            <a:r>
              <a:rPr lang="en-US" sz="3000" b="1" dirty="0">
                <a:solidFill>
                  <a:srgbClr val="12355B"/>
                </a:solidFill>
                <a:latin typeface="Cambria" pitchFamily="34" charset="0"/>
                <a:ea typeface="Cambria" pitchFamily="34" charset="-122"/>
                <a:cs typeface="Cambria" pitchFamily="34" charset="-120"/>
              </a:rPr>
              <a:t>The Problem We're Solving</a:t>
            </a:r>
            <a:endParaRPr lang="en-US" sz="3000" dirty="0"/>
          </a:p>
        </p:txBody>
      </p:sp>
      <p:sp>
        <p:nvSpPr>
          <p:cNvPr id="4" name="Text 2"/>
          <p:cNvSpPr/>
          <p:nvPr/>
        </p:nvSpPr>
        <p:spPr>
          <a:xfrm>
            <a:off x="548640" y="1170432"/>
            <a:ext cx="7863840" cy="457200"/>
          </a:xfrm>
          <a:prstGeom prst="rect">
            <a:avLst/>
          </a:prstGeom>
          <a:noFill/>
          <a:ln/>
        </p:spPr>
        <p:txBody>
          <a:bodyPr wrap="square" lIns="0" tIns="0" rIns="0" bIns="0" rtlCol="0" anchor="ctr"/>
          <a:lstStyle/>
          <a:p>
            <a:pPr marL="0" indent="0">
              <a:buNone/>
            </a:pPr>
            <a:r>
              <a:rPr lang="en-US" sz="1400" dirty="0">
                <a:solidFill>
                  <a:srgbClr val="5F6B7A"/>
                </a:solidFill>
                <a:latin typeface="Calibri" pitchFamily="34" charset="0"/>
                <a:ea typeface="Calibri" pitchFamily="34" charset="-122"/>
                <a:cs typeface="Calibri" pitchFamily="34" charset="-120"/>
              </a:rPr>
              <a:t>Release notes today are manually assembled from scattered engineering detail — slow, inconsistent, and hard to trace.</a:t>
            </a:r>
            <a:endParaRPr lang="en-US" sz="1400" dirty="0"/>
          </a:p>
        </p:txBody>
      </p:sp>
      <p:sp>
        <p:nvSpPr>
          <p:cNvPr id="5" name="Shape 3"/>
          <p:cNvSpPr/>
          <p:nvPr/>
        </p:nvSpPr>
        <p:spPr>
          <a:xfrm>
            <a:off x="548640" y="1874520"/>
            <a:ext cx="1847088" cy="278892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130552"/>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249424"/>
            <a:ext cx="347472" cy="347472"/>
          </a:xfrm>
          <a:prstGeom prst="rect">
            <a:avLst/>
          </a:prstGeom>
        </p:spPr>
      </p:pic>
      <p:sp>
        <p:nvSpPr>
          <p:cNvPr id="8" name="Text 5"/>
          <p:cNvSpPr/>
          <p:nvPr/>
        </p:nvSpPr>
        <p:spPr>
          <a:xfrm>
            <a:off x="658368" y="2880360"/>
            <a:ext cx="1627632" cy="502920"/>
          </a:xfrm>
          <a:prstGeom prst="rect">
            <a:avLst/>
          </a:prstGeom>
          <a:noFill/>
          <a:ln/>
        </p:spPr>
        <p:txBody>
          <a:bodyPr wrap="square" lIns="0" tIns="0" rIns="0" bIns="0" rtlCol="0" anchor="t"/>
          <a:lstStyle/>
          <a:p>
            <a:pPr marL="0" indent="0" algn="ctr">
              <a:buNone/>
            </a:pPr>
            <a:r>
              <a:rPr lang="en-US" sz="1250" b="1" dirty="0">
                <a:solidFill>
                  <a:srgbClr val="12355B"/>
                </a:solidFill>
                <a:latin typeface="Calibri" pitchFamily="34" charset="0"/>
                <a:ea typeface="Calibri" pitchFamily="34" charset="-122"/>
                <a:cs typeface="Calibri" pitchFamily="34" charset="-120"/>
              </a:rPr>
              <a:t>Scattered Information</a:t>
            </a:r>
            <a:endParaRPr lang="en-US" sz="1250" dirty="0"/>
          </a:p>
        </p:txBody>
      </p:sp>
      <p:sp>
        <p:nvSpPr>
          <p:cNvPr id="9" name="Text 6"/>
          <p:cNvSpPr/>
          <p:nvPr/>
        </p:nvSpPr>
        <p:spPr>
          <a:xfrm>
            <a:off x="694944" y="3355848"/>
            <a:ext cx="1554480" cy="1188720"/>
          </a:xfrm>
          <a:prstGeom prst="rect">
            <a:avLst/>
          </a:prstGeom>
          <a:noFill/>
          <a:ln/>
        </p:spPr>
        <p:txBody>
          <a:bodyPr wrap="square" lIns="0" tIns="0" rIns="0" bIns="0" rtlCol="0" anchor="t"/>
          <a:lstStyle/>
          <a:p>
            <a:pPr marL="0" indent="0" algn="ctr">
              <a:lnSpc>
                <a:spcPct val="115000"/>
              </a:lnSpc>
              <a:buNone/>
            </a:pPr>
            <a:r>
              <a:rPr lang="en-US" sz="1050" dirty="0">
                <a:solidFill>
                  <a:srgbClr val="5F6B7A"/>
                </a:solidFill>
                <a:latin typeface="Calibri" pitchFamily="34" charset="0"/>
                <a:ea typeface="Calibri" pitchFamily="34" charset="-122"/>
                <a:cs typeface="Calibri" pitchFamily="34" charset="-120"/>
              </a:rPr>
              <a:t>Engineering detail lives across dozens of YouTrack issues with no single source of truth.</a:t>
            </a:r>
            <a:endParaRPr lang="en-US" sz="1050" dirty="0"/>
          </a:p>
        </p:txBody>
      </p:sp>
      <p:sp>
        <p:nvSpPr>
          <p:cNvPr id="10" name="Shape 7"/>
          <p:cNvSpPr/>
          <p:nvPr/>
        </p:nvSpPr>
        <p:spPr>
          <a:xfrm>
            <a:off x="2560320" y="1874520"/>
            <a:ext cx="1847088" cy="278892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Shape 8"/>
          <p:cNvSpPr/>
          <p:nvPr/>
        </p:nvSpPr>
        <p:spPr>
          <a:xfrm>
            <a:off x="3191256" y="2130552"/>
            <a:ext cx="585216" cy="585216"/>
          </a:xfrm>
          <a:prstGeom prst="ellipse">
            <a:avLst/>
          </a:prstGeom>
          <a:solidFill>
            <a:srgbClr val="FFFF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310128" y="2249424"/>
            <a:ext cx="347472" cy="347472"/>
          </a:xfrm>
          <a:prstGeom prst="rect">
            <a:avLst/>
          </a:prstGeom>
        </p:spPr>
      </p:pic>
      <p:sp>
        <p:nvSpPr>
          <p:cNvPr id="13" name="Text 9"/>
          <p:cNvSpPr/>
          <p:nvPr/>
        </p:nvSpPr>
        <p:spPr>
          <a:xfrm>
            <a:off x="2670048" y="2880360"/>
            <a:ext cx="1627632" cy="502920"/>
          </a:xfrm>
          <a:prstGeom prst="rect">
            <a:avLst/>
          </a:prstGeom>
          <a:noFill/>
          <a:ln/>
        </p:spPr>
        <p:txBody>
          <a:bodyPr wrap="square" lIns="0" tIns="0" rIns="0" bIns="0" rtlCol="0" anchor="t"/>
          <a:lstStyle/>
          <a:p>
            <a:pPr marL="0" indent="0" algn="ctr">
              <a:buNone/>
            </a:pPr>
            <a:r>
              <a:rPr lang="en-US" sz="1250" b="1" dirty="0">
                <a:solidFill>
                  <a:srgbClr val="12355B"/>
                </a:solidFill>
                <a:latin typeface="Calibri" pitchFamily="34" charset="0"/>
                <a:ea typeface="Calibri" pitchFamily="34" charset="-122"/>
                <a:cs typeface="Calibri" pitchFamily="34" charset="-120"/>
              </a:rPr>
              <a:t>Slow Cycle Time</a:t>
            </a:r>
            <a:endParaRPr lang="en-US" sz="1250" dirty="0"/>
          </a:p>
        </p:txBody>
      </p:sp>
      <p:sp>
        <p:nvSpPr>
          <p:cNvPr id="14" name="Text 10"/>
          <p:cNvSpPr/>
          <p:nvPr/>
        </p:nvSpPr>
        <p:spPr>
          <a:xfrm>
            <a:off x="2706624" y="3355848"/>
            <a:ext cx="1554480" cy="1188720"/>
          </a:xfrm>
          <a:prstGeom prst="rect">
            <a:avLst/>
          </a:prstGeom>
          <a:noFill/>
          <a:ln/>
        </p:spPr>
        <p:txBody>
          <a:bodyPr wrap="square" lIns="0" tIns="0" rIns="0" bIns="0" rtlCol="0" anchor="t"/>
          <a:lstStyle/>
          <a:p>
            <a:pPr marL="0" indent="0" algn="ctr">
              <a:lnSpc>
                <a:spcPct val="115000"/>
              </a:lnSpc>
              <a:buNone/>
            </a:pPr>
            <a:r>
              <a:rPr lang="en-US" sz="1050" dirty="0">
                <a:solidFill>
                  <a:srgbClr val="5F6B7A"/>
                </a:solidFill>
                <a:latin typeface="Calibri" pitchFamily="34" charset="0"/>
                <a:ea typeface="Calibri" pitchFamily="34" charset="-122"/>
                <a:cs typeface="Calibri" pitchFamily="34" charset="-120"/>
              </a:rPr>
              <a:t>Manual drafting and multi-round review stretch a single release note over 9-15 days.</a:t>
            </a:r>
            <a:endParaRPr lang="en-US" sz="1050" dirty="0"/>
          </a:p>
        </p:txBody>
      </p:sp>
      <p:sp>
        <p:nvSpPr>
          <p:cNvPr id="15" name="Shape 11"/>
          <p:cNvSpPr/>
          <p:nvPr/>
        </p:nvSpPr>
        <p:spPr>
          <a:xfrm>
            <a:off x="4572000" y="1874520"/>
            <a:ext cx="1847088" cy="278892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6" name="Shape 12"/>
          <p:cNvSpPr/>
          <p:nvPr/>
        </p:nvSpPr>
        <p:spPr>
          <a:xfrm>
            <a:off x="5202936" y="2130552"/>
            <a:ext cx="585216" cy="585216"/>
          </a:xfrm>
          <a:prstGeom prst="ellipse">
            <a:avLst/>
          </a:prstGeom>
          <a:solidFill>
            <a:srgbClr val="FFFFFF"/>
          </a:solidFill>
          <a:ln/>
        </p:spPr>
        <p:txBody>
          <a:bodyPr/>
          <a:lstStyle/>
          <a:p>
            <a:endParaRPr/>
          </a:p>
        </p:txBody>
      </p:sp>
      <p:pic>
        <p:nvPicPr>
          <p:cNvPr id="17" name="Image 2" descr="preencoded.png"/>
          <p:cNvPicPr>
            <a:picLocks noChangeAspect="1"/>
          </p:cNvPicPr>
          <p:nvPr/>
        </p:nvPicPr>
        <p:blipFill>
          <a:blip r:embed="rId5"/>
          <a:stretch>
            <a:fillRect/>
          </a:stretch>
        </p:blipFill>
        <p:spPr>
          <a:xfrm>
            <a:off x="5321808" y="2249424"/>
            <a:ext cx="347472" cy="347472"/>
          </a:xfrm>
          <a:prstGeom prst="rect">
            <a:avLst/>
          </a:prstGeom>
        </p:spPr>
      </p:pic>
      <p:sp>
        <p:nvSpPr>
          <p:cNvPr id="18" name="Text 13"/>
          <p:cNvSpPr/>
          <p:nvPr/>
        </p:nvSpPr>
        <p:spPr>
          <a:xfrm>
            <a:off x="4681728" y="2880360"/>
            <a:ext cx="1627632" cy="502920"/>
          </a:xfrm>
          <a:prstGeom prst="rect">
            <a:avLst/>
          </a:prstGeom>
          <a:noFill/>
          <a:ln/>
        </p:spPr>
        <p:txBody>
          <a:bodyPr wrap="square" lIns="0" tIns="0" rIns="0" bIns="0" rtlCol="0" anchor="t"/>
          <a:lstStyle/>
          <a:p>
            <a:pPr marL="0" indent="0" algn="ctr">
              <a:buNone/>
            </a:pPr>
            <a:r>
              <a:rPr lang="en-US" sz="1250" b="1" dirty="0">
                <a:solidFill>
                  <a:srgbClr val="12355B"/>
                </a:solidFill>
                <a:latin typeface="Calibri" pitchFamily="34" charset="0"/>
                <a:ea typeface="Calibri" pitchFamily="34" charset="-122"/>
                <a:cs typeface="Calibri" pitchFamily="34" charset="-120"/>
              </a:rPr>
              <a:t>Inconsistent Quality</a:t>
            </a:r>
            <a:endParaRPr lang="en-US" sz="1250" dirty="0"/>
          </a:p>
        </p:txBody>
      </p:sp>
      <p:sp>
        <p:nvSpPr>
          <p:cNvPr id="19" name="Text 14"/>
          <p:cNvSpPr/>
          <p:nvPr/>
        </p:nvSpPr>
        <p:spPr>
          <a:xfrm>
            <a:off x="4718304" y="3355848"/>
            <a:ext cx="1554480" cy="1188720"/>
          </a:xfrm>
          <a:prstGeom prst="rect">
            <a:avLst/>
          </a:prstGeom>
          <a:noFill/>
          <a:ln/>
        </p:spPr>
        <p:txBody>
          <a:bodyPr wrap="square" lIns="0" tIns="0" rIns="0" bIns="0" rtlCol="0" anchor="t"/>
          <a:lstStyle/>
          <a:p>
            <a:pPr marL="0" indent="0" algn="ctr">
              <a:lnSpc>
                <a:spcPct val="115000"/>
              </a:lnSpc>
              <a:buNone/>
            </a:pPr>
            <a:r>
              <a:rPr lang="en-US" sz="1050" dirty="0">
                <a:solidFill>
                  <a:srgbClr val="5F6B7A"/>
                </a:solidFill>
                <a:latin typeface="Calibri" pitchFamily="34" charset="0"/>
                <a:ea typeface="Calibri" pitchFamily="34" charset="-122"/>
                <a:cs typeface="Calibri" pitchFamily="34" charset="-120"/>
              </a:rPr>
              <a:t>Tone, structure, and depth vary by writer, with no repeatable quality bar.</a:t>
            </a:r>
            <a:endParaRPr lang="en-US" sz="1050" dirty="0"/>
          </a:p>
        </p:txBody>
      </p:sp>
      <p:sp>
        <p:nvSpPr>
          <p:cNvPr id="20" name="Shape 15"/>
          <p:cNvSpPr/>
          <p:nvPr/>
        </p:nvSpPr>
        <p:spPr>
          <a:xfrm>
            <a:off x="6583680" y="1874520"/>
            <a:ext cx="1847088" cy="278892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1" name="Shape 16"/>
          <p:cNvSpPr/>
          <p:nvPr/>
        </p:nvSpPr>
        <p:spPr>
          <a:xfrm>
            <a:off x="7214616" y="2130552"/>
            <a:ext cx="585216" cy="585216"/>
          </a:xfrm>
          <a:prstGeom prst="ellipse">
            <a:avLst/>
          </a:prstGeom>
          <a:solidFill>
            <a:srgbClr val="FFFFFF"/>
          </a:solidFill>
          <a:ln/>
        </p:spPr>
        <p:txBody>
          <a:bodyPr/>
          <a:lstStyle/>
          <a:p>
            <a:endParaRPr/>
          </a:p>
        </p:txBody>
      </p:sp>
      <p:pic>
        <p:nvPicPr>
          <p:cNvPr id="22" name="Image 3" descr="preencoded.png"/>
          <p:cNvPicPr>
            <a:picLocks noChangeAspect="1"/>
          </p:cNvPicPr>
          <p:nvPr/>
        </p:nvPicPr>
        <p:blipFill>
          <a:blip r:embed="rId6"/>
          <a:stretch>
            <a:fillRect/>
          </a:stretch>
        </p:blipFill>
        <p:spPr>
          <a:xfrm>
            <a:off x="7333488" y="2249424"/>
            <a:ext cx="347472" cy="347472"/>
          </a:xfrm>
          <a:prstGeom prst="rect">
            <a:avLst/>
          </a:prstGeom>
        </p:spPr>
      </p:pic>
      <p:sp>
        <p:nvSpPr>
          <p:cNvPr id="23" name="Text 17"/>
          <p:cNvSpPr/>
          <p:nvPr/>
        </p:nvSpPr>
        <p:spPr>
          <a:xfrm>
            <a:off x="6693408" y="2880360"/>
            <a:ext cx="1627632" cy="502920"/>
          </a:xfrm>
          <a:prstGeom prst="rect">
            <a:avLst/>
          </a:prstGeom>
          <a:noFill/>
          <a:ln/>
        </p:spPr>
        <p:txBody>
          <a:bodyPr wrap="square" lIns="0" tIns="0" rIns="0" bIns="0" rtlCol="0" anchor="t"/>
          <a:lstStyle/>
          <a:p>
            <a:pPr marL="0" indent="0" algn="ctr">
              <a:buNone/>
            </a:pPr>
            <a:r>
              <a:rPr lang="en-US" sz="1250" b="1" dirty="0">
                <a:solidFill>
                  <a:srgbClr val="12355B"/>
                </a:solidFill>
                <a:latin typeface="Calibri" pitchFamily="34" charset="0"/>
                <a:ea typeface="Calibri" pitchFamily="34" charset="-122"/>
                <a:cs typeface="Calibri" pitchFamily="34" charset="-120"/>
              </a:rPr>
              <a:t>Low Traceability</a:t>
            </a:r>
            <a:endParaRPr lang="en-US" sz="1250" dirty="0"/>
          </a:p>
        </p:txBody>
      </p:sp>
      <p:sp>
        <p:nvSpPr>
          <p:cNvPr id="24" name="Text 18"/>
          <p:cNvSpPr/>
          <p:nvPr/>
        </p:nvSpPr>
        <p:spPr>
          <a:xfrm>
            <a:off x="6729984" y="3355848"/>
            <a:ext cx="1554480" cy="1188720"/>
          </a:xfrm>
          <a:prstGeom prst="rect">
            <a:avLst/>
          </a:prstGeom>
          <a:noFill/>
          <a:ln/>
        </p:spPr>
        <p:txBody>
          <a:bodyPr wrap="square" lIns="0" tIns="0" rIns="0" bIns="0" rtlCol="0" anchor="t"/>
          <a:lstStyle/>
          <a:p>
            <a:pPr marL="0" indent="0" algn="ctr">
              <a:lnSpc>
                <a:spcPct val="115000"/>
              </a:lnSpc>
              <a:buNone/>
            </a:pPr>
            <a:r>
              <a:rPr lang="en-US" sz="1050" dirty="0">
                <a:solidFill>
                  <a:srgbClr val="5F6B7A"/>
                </a:solidFill>
                <a:latin typeface="Calibri" pitchFamily="34" charset="0"/>
                <a:ea typeface="Calibri" pitchFamily="34" charset="-122"/>
                <a:cs typeface="Calibri" pitchFamily="34" charset="-120"/>
              </a:rPr>
              <a:t>It is hard to confirm which ticket informed which line — approvals are hard to audit.</a:t>
            </a:r>
            <a:endParaRPr lang="en-US" sz="1050" dirty="0"/>
          </a:p>
        </p:txBody>
      </p:sp>
      <p:sp>
        <p:nvSpPr>
          <p:cNvPr id="25"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6"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7863840" cy="594360"/>
          </a:xfrm>
          <a:prstGeom prst="rect">
            <a:avLst/>
          </a:prstGeom>
          <a:noFill/>
          <a:ln/>
        </p:spPr>
        <p:txBody>
          <a:bodyPr wrap="square" lIns="0" tIns="0" rIns="0" bIns="0" rtlCol="0" anchor="ctr"/>
          <a:lstStyle/>
          <a:p>
            <a:pPr marL="0" indent="0">
              <a:buNone/>
            </a:pPr>
            <a:r>
              <a:rPr lang="en-US" sz="2700" b="1" dirty="0">
                <a:solidFill>
                  <a:srgbClr val="12355B"/>
                </a:solidFill>
                <a:latin typeface="Cambria" pitchFamily="34" charset="0"/>
                <a:ea typeface="Cambria" pitchFamily="34" charset="-122"/>
                <a:cs typeface="Cambria" pitchFamily="34" charset="-120"/>
              </a:rPr>
              <a:t>Current-State Workflow: Manual, Sequential</a:t>
            </a:r>
            <a:endParaRPr lang="en-US" sz="2700" dirty="0"/>
          </a:p>
        </p:txBody>
      </p:sp>
      <p:sp>
        <p:nvSpPr>
          <p:cNvPr id="4" name="Shape 2"/>
          <p:cNvSpPr/>
          <p:nvPr/>
        </p:nvSpPr>
        <p:spPr>
          <a:xfrm>
            <a:off x="905256" y="1600200"/>
            <a:ext cx="822960" cy="822960"/>
          </a:xfrm>
          <a:prstGeom prst="ellipse">
            <a:avLst/>
          </a:prstGeom>
          <a:solidFill>
            <a:srgbClr val="12355B"/>
          </a:solidFill>
          <a:ln/>
        </p:spPr>
        <p:txBody>
          <a:bodyPr/>
          <a:lstStyle/>
          <a:p>
            <a:endParaRPr/>
          </a:p>
        </p:txBody>
      </p:sp>
      <p:pic>
        <p:nvPicPr>
          <p:cNvPr id="5" name="Image 0" descr="preencoded.png"/>
          <p:cNvPicPr>
            <a:picLocks noChangeAspect="1"/>
          </p:cNvPicPr>
          <p:nvPr/>
        </p:nvPicPr>
        <p:blipFill>
          <a:blip r:embed="rId3"/>
          <a:stretch>
            <a:fillRect/>
          </a:stretch>
        </p:blipFill>
        <p:spPr>
          <a:xfrm>
            <a:off x="1097280" y="1792224"/>
            <a:ext cx="438912" cy="438912"/>
          </a:xfrm>
          <a:prstGeom prst="rect">
            <a:avLst/>
          </a:prstGeom>
        </p:spPr>
      </p:pic>
      <p:sp>
        <p:nvSpPr>
          <p:cNvPr id="6" name="Text 3"/>
          <p:cNvSpPr/>
          <p:nvPr/>
        </p:nvSpPr>
        <p:spPr>
          <a:xfrm>
            <a:off x="630936" y="251460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Collect</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issues</a:t>
            </a:r>
            <a:endParaRPr lang="en-US" sz="1100" dirty="0"/>
          </a:p>
        </p:txBody>
      </p:sp>
      <p:sp>
        <p:nvSpPr>
          <p:cNvPr id="7" name="Shape 4"/>
          <p:cNvSpPr/>
          <p:nvPr/>
        </p:nvSpPr>
        <p:spPr>
          <a:xfrm>
            <a:off x="2020824" y="2011680"/>
            <a:ext cx="219456" cy="0"/>
          </a:xfrm>
          <a:prstGeom prst="line">
            <a:avLst/>
          </a:prstGeom>
          <a:noFill/>
          <a:ln w="22225">
            <a:solidFill>
              <a:srgbClr val="5F6B7A"/>
            </a:solidFill>
            <a:prstDash val="solid"/>
            <a:tailEnd type="triangle"/>
          </a:ln>
        </p:spPr>
        <p:txBody>
          <a:bodyPr/>
          <a:lstStyle/>
          <a:p>
            <a:endParaRPr/>
          </a:p>
        </p:txBody>
      </p:sp>
      <p:sp>
        <p:nvSpPr>
          <p:cNvPr id="8" name="Shape 5"/>
          <p:cNvSpPr/>
          <p:nvPr/>
        </p:nvSpPr>
        <p:spPr>
          <a:xfrm>
            <a:off x="2532888" y="1600200"/>
            <a:ext cx="822960" cy="822960"/>
          </a:xfrm>
          <a:prstGeom prst="ellipse">
            <a:avLst/>
          </a:prstGeom>
          <a:solidFill>
            <a:srgbClr val="12355B"/>
          </a:solidFill>
          <a:ln/>
        </p:spPr>
        <p:txBody>
          <a:bodyPr/>
          <a:lstStyle/>
          <a:p>
            <a:endParaRPr/>
          </a:p>
        </p:txBody>
      </p:sp>
      <p:pic>
        <p:nvPicPr>
          <p:cNvPr id="9" name="Image 1" descr="preencoded.png"/>
          <p:cNvPicPr>
            <a:picLocks noChangeAspect="1"/>
          </p:cNvPicPr>
          <p:nvPr/>
        </p:nvPicPr>
        <p:blipFill>
          <a:blip r:embed="rId4"/>
          <a:stretch>
            <a:fillRect/>
          </a:stretch>
        </p:blipFill>
        <p:spPr>
          <a:xfrm>
            <a:off x="2724912" y="1792224"/>
            <a:ext cx="438912" cy="438912"/>
          </a:xfrm>
          <a:prstGeom prst="rect">
            <a:avLst/>
          </a:prstGeom>
        </p:spPr>
      </p:pic>
      <p:sp>
        <p:nvSpPr>
          <p:cNvPr id="10" name="Text 6"/>
          <p:cNvSpPr/>
          <p:nvPr/>
        </p:nvSpPr>
        <p:spPr>
          <a:xfrm>
            <a:off x="2258568" y="251460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Manually</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read tickets</a:t>
            </a:r>
            <a:endParaRPr lang="en-US" sz="1100" dirty="0"/>
          </a:p>
        </p:txBody>
      </p:sp>
      <p:sp>
        <p:nvSpPr>
          <p:cNvPr id="11" name="Shape 7"/>
          <p:cNvSpPr/>
          <p:nvPr/>
        </p:nvSpPr>
        <p:spPr>
          <a:xfrm>
            <a:off x="3648456" y="2011680"/>
            <a:ext cx="219456" cy="0"/>
          </a:xfrm>
          <a:prstGeom prst="line">
            <a:avLst/>
          </a:prstGeom>
          <a:noFill/>
          <a:ln w="22225">
            <a:solidFill>
              <a:srgbClr val="5F6B7A"/>
            </a:solidFill>
            <a:prstDash val="solid"/>
            <a:tailEnd type="triangle"/>
          </a:ln>
        </p:spPr>
        <p:txBody>
          <a:bodyPr/>
          <a:lstStyle/>
          <a:p>
            <a:endParaRPr/>
          </a:p>
        </p:txBody>
      </p:sp>
      <p:sp>
        <p:nvSpPr>
          <p:cNvPr id="12" name="Shape 8"/>
          <p:cNvSpPr/>
          <p:nvPr/>
        </p:nvSpPr>
        <p:spPr>
          <a:xfrm>
            <a:off x="4160520" y="1600200"/>
            <a:ext cx="822960" cy="822960"/>
          </a:xfrm>
          <a:prstGeom prst="ellipse">
            <a:avLst/>
          </a:prstGeom>
          <a:solidFill>
            <a:srgbClr val="12355B"/>
          </a:solidFill>
          <a:ln/>
        </p:spPr>
        <p:txBody>
          <a:bodyPr/>
          <a:lstStyle/>
          <a:p>
            <a:endParaRPr/>
          </a:p>
        </p:txBody>
      </p:sp>
      <p:pic>
        <p:nvPicPr>
          <p:cNvPr id="13" name="Image 2" descr="preencoded.png"/>
          <p:cNvPicPr>
            <a:picLocks noChangeAspect="1"/>
          </p:cNvPicPr>
          <p:nvPr/>
        </p:nvPicPr>
        <p:blipFill>
          <a:blip r:embed="rId5"/>
          <a:stretch>
            <a:fillRect/>
          </a:stretch>
        </p:blipFill>
        <p:spPr>
          <a:xfrm>
            <a:off x="4352544" y="1792224"/>
            <a:ext cx="438912" cy="438912"/>
          </a:xfrm>
          <a:prstGeom prst="rect">
            <a:avLst/>
          </a:prstGeom>
        </p:spPr>
      </p:pic>
      <p:sp>
        <p:nvSpPr>
          <p:cNvPr id="14" name="Text 9"/>
          <p:cNvSpPr/>
          <p:nvPr/>
        </p:nvSpPr>
        <p:spPr>
          <a:xfrm>
            <a:off x="3886200" y="251460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Draft the</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note by hand</a:t>
            </a:r>
            <a:endParaRPr lang="en-US" sz="1100" dirty="0"/>
          </a:p>
        </p:txBody>
      </p:sp>
      <p:sp>
        <p:nvSpPr>
          <p:cNvPr id="15" name="Shape 10"/>
          <p:cNvSpPr/>
          <p:nvPr/>
        </p:nvSpPr>
        <p:spPr>
          <a:xfrm>
            <a:off x="5276088" y="2011680"/>
            <a:ext cx="219456" cy="0"/>
          </a:xfrm>
          <a:prstGeom prst="line">
            <a:avLst/>
          </a:prstGeom>
          <a:noFill/>
          <a:ln w="22225">
            <a:solidFill>
              <a:srgbClr val="5F6B7A"/>
            </a:solidFill>
            <a:prstDash val="solid"/>
            <a:tailEnd type="triangle"/>
          </a:ln>
        </p:spPr>
        <p:txBody>
          <a:bodyPr/>
          <a:lstStyle/>
          <a:p>
            <a:endParaRPr/>
          </a:p>
        </p:txBody>
      </p:sp>
      <p:sp>
        <p:nvSpPr>
          <p:cNvPr id="16" name="Shape 11"/>
          <p:cNvSpPr/>
          <p:nvPr/>
        </p:nvSpPr>
        <p:spPr>
          <a:xfrm>
            <a:off x="5788152" y="1600200"/>
            <a:ext cx="822960" cy="822960"/>
          </a:xfrm>
          <a:prstGeom prst="ellipse">
            <a:avLst/>
          </a:prstGeom>
          <a:solidFill>
            <a:srgbClr val="12355B"/>
          </a:solidFill>
          <a:ln/>
        </p:spPr>
        <p:txBody>
          <a:bodyPr/>
          <a:lstStyle/>
          <a:p>
            <a:endParaRPr/>
          </a:p>
        </p:txBody>
      </p:sp>
      <p:pic>
        <p:nvPicPr>
          <p:cNvPr id="17" name="Image 3" descr="preencoded.png"/>
          <p:cNvPicPr>
            <a:picLocks noChangeAspect="1"/>
          </p:cNvPicPr>
          <p:nvPr/>
        </p:nvPicPr>
        <p:blipFill>
          <a:blip r:embed="rId6"/>
          <a:stretch>
            <a:fillRect/>
          </a:stretch>
        </p:blipFill>
        <p:spPr>
          <a:xfrm>
            <a:off x="5980176" y="1792224"/>
            <a:ext cx="438912" cy="438912"/>
          </a:xfrm>
          <a:prstGeom prst="rect">
            <a:avLst/>
          </a:prstGeom>
        </p:spPr>
      </p:pic>
      <p:sp>
        <p:nvSpPr>
          <p:cNvPr id="18" name="Text 12"/>
          <p:cNvSpPr/>
          <p:nvPr/>
        </p:nvSpPr>
        <p:spPr>
          <a:xfrm>
            <a:off x="5513832" y="251460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Multiple</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review rounds</a:t>
            </a:r>
            <a:endParaRPr lang="en-US" sz="1100" dirty="0"/>
          </a:p>
        </p:txBody>
      </p:sp>
      <p:sp>
        <p:nvSpPr>
          <p:cNvPr id="19" name="Shape 13"/>
          <p:cNvSpPr/>
          <p:nvPr/>
        </p:nvSpPr>
        <p:spPr>
          <a:xfrm>
            <a:off x="6903720" y="2011680"/>
            <a:ext cx="219456" cy="0"/>
          </a:xfrm>
          <a:prstGeom prst="line">
            <a:avLst/>
          </a:prstGeom>
          <a:noFill/>
          <a:ln w="22225">
            <a:solidFill>
              <a:srgbClr val="5F6B7A"/>
            </a:solidFill>
            <a:prstDash val="solid"/>
            <a:tailEnd type="triangle"/>
          </a:ln>
        </p:spPr>
        <p:txBody>
          <a:bodyPr/>
          <a:lstStyle/>
          <a:p>
            <a:endParaRPr/>
          </a:p>
        </p:txBody>
      </p:sp>
      <p:sp>
        <p:nvSpPr>
          <p:cNvPr id="20" name="Shape 14"/>
          <p:cNvSpPr/>
          <p:nvPr/>
        </p:nvSpPr>
        <p:spPr>
          <a:xfrm>
            <a:off x="7415784" y="1600200"/>
            <a:ext cx="822960" cy="822960"/>
          </a:xfrm>
          <a:prstGeom prst="ellipse">
            <a:avLst/>
          </a:prstGeom>
          <a:solidFill>
            <a:srgbClr val="12355B"/>
          </a:solidFill>
          <a:ln/>
        </p:spPr>
        <p:txBody>
          <a:bodyPr/>
          <a:lstStyle/>
          <a:p>
            <a:endParaRPr/>
          </a:p>
        </p:txBody>
      </p:sp>
      <p:pic>
        <p:nvPicPr>
          <p:cNvPr id="21" name="Image 4" descr="preencoded.png"/>
          <p:cNvPicPr>
            <a:picLocks noChangeAspect="1"/>
          </p:cNvPicPr>
          <p:nvPr/>
        </p:nvPicPr>
        <p:blipFill>
          <a:blip r:embed="rId7"/>
          <a:stretch>
            <a:fillRect/>
          </a:stretch>
        </p:blipFill>
        <p:spPr>
          <a:xfrm>
            <a:off x="7607808" y="1792224"/>
            <a:ext cx="438912" cy="438912"/>
          </a:xfrm>
          <a:prstGeom prst="rect">
            <a:avLst/>
          </a:prstGeom>
        </p:spPr>
      </p:pic>
      <p:sp>
        <p:nvSpPr>
          <p:cNvPr id="22" name="Text 15"/>
          <p:cNvSpPr/>
          <p:nvPr/>
        </p:nvSpPr>
        <p:spPr>
          <a:xfrm>
            <a:off x="7141464" y="251460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Publish</a:t>
            </a:r>
            <a:endParaRPr lang="en-US" sz="1100" dirty="0"/>
          </a:p>
        </p:txBody>
      </p:sp>
      <p:sp>
        <p:nvSpPr>
          <p:cNvPr id="23" name="Shape 16"/>
          <p:cNvSpPr/>
          <p:nvPr/>
        </p:nvSpPr>
        <p:spPr>
          <a:xfrm>
            <a:off x="2194560" y="3246120"/>
            <a:ext cx="4754880" cy="1051560"/>
          </a:xfrm>
          <a:prstGeom prst="roundRect">
            <a:avLst>
              <a:gd name="adj" fmla="val 6957"/>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4" name="Text 17"/>
          <p:cNvSpPr/>
          <p:nvPr/>
        </p:nvSpPr>
        <p:spPr>
          <a:xfrm>
            <a:off x="2377440" y="3383280"/>
            <a:ext cx="1920240" cy="777240"/>
          </a:xfrm>
          <a:prstGeom prst="rect">
            <a:avLst/>
          </a:prstGeom>
          <a:noFill/>
          <a:ln/>
        </p:spPr>
        <p:txBody>
          <a:bodyPr wrap="square" lIns="0" tIns="0" rIns="0" bIns="0" rtlCol="0" anchor="ctr"/>
          <a:lstStyle/>
          <a:p>
            <a:pPr marL="0" indent="0" algn="ctr">
              <a:buNone/>
            </a:pPr>
            <a:r>
              <a:rPr lang="en-US" sz="3000" b="1" dirty="0">
                <a:solidFill>
                  <a:srgbClr val="12355B"/>
                </a:solidFill>
                <a:latin typeface="Cambria" pitchFamily="34" charset="0"/>
                <a:ea typeface="Cambria" pitchFamily="34" charset="-122"/>
                <a:cs typeface="Cambria" pitchFamily="34" charset="-120"/>
              </a:rPr>
              <a:t>9–15 days</a:t>
            </a:r>
            <a:endParaRPr lang="en-US" sz="3000" dirty="0"/>
          </a:p>
        </p:txBody>
      </p:sp>
      <p:sp>
        <p:nvSpPr>
          <p:cNvPr id="25" name="Text 18"/>
          <p:cNvSpPr/>
          <p:nvPr/>
        </p:nvSpPr>
        <p:spPr>
          <a:xfrm>
            <a:off x="4343400" y="3337560"/>
            <a:ext cx="2468880" cy="914400"/>
          </a:xfrm>
          <a:prstGeom prst="rect">
            <a:avLst/>
          </a:prstGeom>
          <a:noFill/>
          <a:ln/>
        </p:spPr>
        <p:txBody>
          <a:bodyPr wrap="square" lIns="0" tIns="0" rIns="0" bIns="0" rtlCol="0" anchor="ctr"/>
          <a:lstStyle/>
          <a:p>
            <a:pPr marL="0" indent="0">
              <a:lnSpc>
                <a:spcPct val="115000"/>
              </a:lnSpc>
              <a:buNone/>
            </a:pPr>
            <a:r>
              <a:rPr lang="en-US" sz="1050" dirty="0">
                <a:solidFill>
                  <a:srgbClr val="5F6B7A"/>
                </a:solidFill>
                <a:latin typeface="Calibri" pitchFamily="34" charset="0"/>
                <a:ea typeface="Calibri" pitchFamily="34" charset="-122"/>
                <a:cs typeface="Calibri" pitchFamily="34" charset="-120"/>
              </a:rPr>
              <a:t>typical end-to-end duration per release, entirely dependent on manual writer availability and review turnaround</a:t>
            </a:r>
            <a:endParaRPr lang="en-US" sz="1050" dirty="0"/>
          </a:p>
        </p:txBody>
      </p:sp>
      <p:sp>
        <p:nvSpPr>
          <p:cNvPr id="26"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7"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A Deliberate Choice: AI-Assisted, Not AI-Powered</a:t>
            </a:r>
            <a:endParaRPr lang="en-US" sz="2400" dirty="0"/>
          </a:p>
        </p:txBody>
      </p:sp>
      <p:sp>
        <p:nvSpPr>
          <p:cNvPr id="4" name="Text 2"/>
          <p:cNvSpPr/>
          <p:nvPr/>
        </p:nvSpPr>
        <p:spPr>
          <a:xfrm>
            <a:off x="548640" y="1143000"/>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The wording is intentional — it shapes stakeholder trust and defines where AI's authority ends.</a:t>
            </a:r>
            <a:endParaRPr lang="en-US" sz="1300" dirty="0"/>
          </a:p>
        </p:txBody>
      </p:sp>
      <p:sp>
        <p:nvSpPr>
          <p:cNvPr id="5" name="Shape 3"/>
          <p:cNvSpPr/>
          <p:nvPr/>
        </p:nvSpPr>
        <p:spPr>
          <a:xfrm>
            <a:off x="548640" y="1691640"/>
            <a:ext cx="3794760" cy="1965960"/>
          </a:xfrm>
          <a:prstGeom prst="roundRect">
            <a:avLst>
              <a:gd name="adj" fmla="val 3721"/>
            </a:avLst>
          </a:prstGeom>
          <a:solidFill>
            <a:srgbClr val="EEF1F3"/>
          </a:solidFill>
          <a:ln/>
        </p:spPr>
        <p:txBody>
          <a:bodyPr/>
          <a:lstStyle/>
          <a:p>
            <a:endParaRPr/>
          </a:p>
        </p:txBody>
      </p:sp>
      <p:sp>
        <p:nvSpPr>
          <p:cNvPr id="6" name="Shape 4"/>
          <p:cNvSpPr/>
          <p:nvPr/>
        </p:nvSpPr>
        <p:spPr>
          <a:xfrm>
            <a:off x="4800600" y="1691640"/>
            <a:ext cx="3794760" cy="1965960"/>
          </a:xfrm>
          <a:prstGeom prst="roundRect">
            <a:avLst>
              <a:gd name="adj" fmla="val 3721"/>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7" name="Text 5"/>
          <p:cNvSpPr/>
          <p:nvPr/>
        </p:nvSpPr>
        <p:spPr>
          <a:xfrm>
            <a:off x="777240" y="1856232"/>
            <a:ext cx="3337560" cy="365760"/>
          </a:xfrm>
          <a:prstGeom prst="rect">
            <a:avLst/>
          </a:prstGeom>
          <a:noFill/>
          <a:ln/>
        </p:spPr>
        <p:txBody>
          <a:bodyPr wrap="square" lIns="0" tIns="0" rIns="0" bIns="0" rtlCol="0" anchor="ctr"/>
          <a:lstStyle/>
          <a:p>
            <a:pPr marL="0" indent="0">
              <a:buNone/>
            </a:pPr>
            <a:r>
              <a:rPr lang="en-US" sz="1400" b="1" dirty="0">
                <a:solidFill>
                  <a:srgbClr val="5F6B7A"/>
                </a:solidFill>
                <a:latin typeface="Calibri" pitchFamily="34" charset="0"/>
                <a:ea typeface="Calibri" pitchFamily="34" charset="-122"/>
                <a:cs typeface="Calibri" pitchFamily="34" charset="-120"/>
              </a:rPr>
              <a:t>AI-Powered (rejected framing)</a:t>
            </a:r>
            <a:endParaRPr lang="en-US" sz="1400" dirty="0"/>
          </a:p>
        </p:txBody>
      </p:sp>
      <p:sp>
        <p:nvSpPr>
          <p:cNvPr id="8" name="Text 6"/>
          <p:cNvSpPr/>
          <p:nvPr/>
        </p:nvSpPr>
        <p:spPr>
          <a:xfrm>
            <a:off x="777240" y="2286000"/>
            <a:ext cx="3337560" cy="1280160"/>
          </a:xfrm>
          <a:prstGeom prst="rect">
            <a:avLst/>
          </a:prstGeom>
          <a:noFill/>
          <a:ln/>
        </p:spPr>
        <p:txBody>
          <a:bodyPr wrap="square" lIns="0" tIns="0" rIns="0" bIns="0" rtlCol="0" anchor="ctr"/>
          <a:lstStyle/>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Implies autonomous, black-box decisions</a:t>
            </a:r>
            <a:endParaRPr lang="en-US" sz="1250" dirty="0"/>
          </a:p>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Suggests AI output is final</a:t>
            </a:r>
            <a:endParaRPr lang="en-US" sz="1250" dirty="0"/>
          </a:p>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Erodes trust when AI is wrong</a:t>
            </a:r>
            <a:endParaRPr lang="en-US" sz="1250" dirty="0"/>
          </a:p>
        </p:txBody>
      </p:sp>
      <p:sp>
        <p:nvSpPr>
          <p:cNvPr id="9" name="Text 7"/>
          <p:cNvSpPr/>
          <p:nvPr/>
        </p:nvSpPr>
        <p:spPr>
          <a:xfrm>
            <a:off x="5029200" y="1856232"/>
            <a:ext cx="3337560" cy="36576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AI-Assisted (this project)</a:t>
            </a:r>
            <a:endParaRPr lang="en-US" sz="1400" dirty="0"/>
          </a:p>
        </p:txBody>
      </p:sp>
      <p:sp>
        <p:nvSpPr>
          <p:cNvPr id="10" name="Text 8"/>
          <p:cNvSpPr/>
          <p:nvPr/>
        </p:nvSpPr>
        <p:spPr>
          <a:xfrm>
            <a:off x="5029200" y="2286000"/>
            <a:ext cx="3337560" cy="1280160"/>
          </a:xfrm>
          <a:prstGeom prst="rect">
            <a:avLst/>
          </a:prstGeom>
          <a:noFill/>
          <a:ln/>
        </p:spPr>
        <p:txBody>
          <a:bodyPr wrap="square" lIns="0" tIns="0" rIns="0" bIns="0" rtlCol="0" anchor="ctr"/>
          <a:lstStyle/>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AI extracts, drafts, and reviews</a:t>
            </a:r>
            <a:endParaRPr lang="en-US" sz="1250" dirty="0"/>
          </a:p>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Humans hold final approval authority</a:t>
            </a:r>
            <a:endParaRPr lang="en-US" sz="1250" dirty="0"/>
          </a:p>
          <a:p>
            <a:pPr marL="342900" indent="-342900">
              <a:lnSpc>
                <a:spcPct val="125000"/>
              </a:lnSpc>
              <a:buSzPct val="100000"/>
              <a:buChar char="•"/>
            </a:pPr>
            <a:r>
              <a:rPr lang="en-US" sz="1250" dirty="0">
                <a:solidFill>
                  <a:srgbClr val="1C2530"/>
                </a:solidFill>
                <a:latin typeface="Calibri" pitchFamily="34" charset="0"/>
                <a:ea typeface="Calibri" pitchFamily="34" charset="-122"/>
                <a:cs typeface="Calibri" pitchFamily="34" charset="-120"/>
              </a:rPr>
              <a:t>Builds trust through visible oversight</a:t>
            </a:r>
            <a:endParaRPr lang="en-US" sz="1250" dirty="0"/>
          </a:p>
        </p:txBody>
      </p:sp>
      <p:sp>
        <p:nvSpPr>
          <p:cNvPr id="11" name="Shape 9"/>
          <p:cNvSpPr/>
          <p:nvPr/>
        </p:nvSpPr>
        <p:spPr>
          <a:xfrm>
            <a:off x="548640" y="3886200"/>
            <a:ext cx="2697480" cy="777240"/>
          </a:xfrm>
          <a:prstGeom prst="roundRect">
            <a:avLst>
              <a:gd name="adj" fmla="val 9412"/>
            </a:avLst>
          </a:prstGeom>
          <a:solidFill>
            <a:srgbClr val="12355B"/>
          </a:solidFill>
          <a:ln/>
        </p:spPr>
        <p:txBody>
          <a:bodyPr/>
          <a:lstStyle/>
          <a:p>
            <a:endParaRPr/>
          </a:p>
        </p:txBody>
      </p:sp>
      <p:sp>
        <p:nvSpPr>
          <p:cNvPr id="12" name="Text 10"/>
          <p:cNvSpPr/>
          <p:nvPr/>
        </p:nvSpPr>
        <p:spPr>
          <a:xfrm>
            <a:off x="685800" y="3886200"/>
            <a:ext cx="2423160" cy="777240"/>
          </a:xfrm>
          <a:prstGeom prst="rect">
            <a:avLst/>
          </a:prstGeom>
          <a:noFill/>
          <a:ln/>
        </p:spPr>
        <p:txBody>
          <a:bodyPr wrap="square" lIns="0" tIns="0" rIns="0" bIns="0" rtlCol="0" anchor="ctr"/>
          <a:lstStyle/>
          <a:p>
            <a:pPr marL="0" indent="0" algn="ctr">
              <a:lnSpc>
                <a:spcPct val="110000"/>
              </a:lnSpc>
              <a:buNone/>
            </a:pPr>
            <a:r>
              <a:rPr lang="en-US" sz="1150" i="1" dirty="0">
                <a:solidFill>
                  <a:srgbClr val="FFFFFF"/>
                </a:solidFill>
                <a:latin typeface="Calibri" pitchFamily="34" charset="0"/>
                <a:ea typeface="Calibri" pitchFamily="34" charset="-122"/>
                <a:cs typeface="Calibri" pitchFamily="34" charset="-120"/>
              </a:rPr>
              <a:t>“AI only uses provided information”</a:t>
            </a:r>
            <a:endParaRPr lang="en-US" sz="1150" dirty="0"/>
          </a:p>
        </p:txBody>
      </p:sp>
      <p:sp>
        <p:nvSpPr>
          <p:cNvPr id="13" name="Shape 11"/>
          <p:cNvSpPr/>
          <p:nvPr/>
        </p:nvSpPr>
        <p:spPr>
          <a:xfrm>
            <a:off x="3383280" y="3886200"/>
            <a:ext cx="2697480" cy="777240"/>
          </a:xfrm>
          <a:prstGeom prst="roundRect">
            <a:avLst>
              <a:gd name="adj" fmla="val 9412"/>
            </a:avLst>
          </a:prstGeom>
          <a:solidFill>
            <a:srgbClr val="12355B"/>
          </a:solidFill>
          <a:ln/>
        </p:spPr>
        <p:txBody>
          <a:bodyPr/>
          <a:lstStyle/>
          <a:p>
            <a:endParaRPr/>
          </a:p>
        </p:txBody>
      </p:sp>
      <p:sp>
        <p:nvSpPr>
          <p:cNvPr id="14" name="Text 12"/>
          <p:cNvSpPr/>
          <p:nvPr/>
        </p:nvSpPr>
        <p:spPr>
          <a:xfrm>
            <a:off x="3520440" y="3886200"/>
            <a:ext cx="2423160" cy="777240"/>
          </a:xfrm>
          <a:prstGeom prst="rect">
            <a:avLst/>
          </a:prstGeom>
          <a:noFill/>
          <a:ln/>
        </p:spPr>
        <p:txBody>
          <a:bodyPr wrap="square" lIns="0" tIns="0" rIns="0" bIns="0" rtlCol="0" anchor="ctr"/>
          <a:lstStyle/>
          <a:p>
            <a:pPr marL="0" indent="0" algn="ctr">
              <a:lnSpc>
                <a:spcPct val="110000"/>
              </a:lnSpc>
              <a:buNone/>
            </a:pPr>
            <a:r>
              <a:rPr lang="en-US" sz="1150" i="1" dirty="0">
                <a:solidFill>
                  <a:srgbClr val="FFFFFF"/>
                </a:solidFill>
                <a:latin typeface="Calibri" pitchFamily="34" charset="0"/>
                <a:ea typeface="Calibri" pitchFamily="34" charset="-122"/>
                <a:cs typeface="Calibri" pitchFamily="34" charset="-120"/>
              </a:rPr>
              <a:t>“Humans make final approval”</a:t>
            </a:r>
            <a:endParaRPr lang="en-US" sz="1150" dirty="0"/>
          </a:p>
        </p:txBody>
      </p:sp>
      <p:sp>
        <p:nvSpPr>
          <p:cNvPr id="15" name="Shape 13"/>
          <p:cNvSpPr/>
          <p:nvPr/>
        </p:nvSpPr>
        <p:spPr>
          <a:xfrm>
            <a:off x="6217920" y="3886200"/>
            <a:ext cx="2697480" cy="777240"/>
          </a:xfrm>
          <a:prstGeom prst="roundRect">
            <a:avLst>
              <a:gd name="adj" fmla="val 9412"/>
            </a:avLst>
          </a:prstGeom>
          <a:solidFill>
            <a:srgbClr val="12355B"/>
          </a:solidFill>
          <a:ln/>
        </p:spPr>
        <p:txBody>
          <a:bodyPr/>
          <a:lstStyle/>
          <a:p>
            <a:endParaRPr/>
          </a:p>
        </p:txBody>
      </p:sp>
      <p:sp>
        <p:nvSpPr>
          <p:cNvPr id="16" name="Text 14"/>
          <p:cNvSpPr/>
          <p:nvPr/>
        </p:nvSpPr>
        <p:spPr>
          <a:xfrm>
            <a:off x="6355080" y="3886200"/>
            <a:ext cx="2423160" cy="777240"/>
          </a:xfrm>
          <a:prstGeom prst="rect">
            <a:avLst/>
          </a:prstGeom>
          <a:noFill/>
          <a:ln/>
        </p:spPr>
        <p:txBody>
          <a:bodyPr wrap="square" lIns="0" tIns="0" rIns="0" bIns="0" rtlCol="0" anchor="ctr"/>
          <a:lstStyle/>
          <a:p>
            <a:pPr marL="0" indent="0" algn="ctr">
              <a:lnSpc>
                <a:spcPct val="110000"/>
              </a:lnSpc>
              <a:buNone/>
            </a:pPr>
            <a:r>
              <a:rPr lang="en-US" sz="1150" i="1" dirty="0">
                <a:solidFill>
                  <a:srgbClr val="FFFFFF"/>
                </a:solidFill>
                <a:latin typeface="Calibri" pitchFamily="34" charset="0"/>
                <a:ea typeface="Calibri" pitchFamily="34" charset="-122"/>
                <a:cs typeface="Calibri" pitchFamily="34" charset="-120"/>
              </a:rPr>
              <a:t>“This makes people faster, not redundant”</a:t>
            </a:r>
            <a:endParaRPr lang="en-US" sz="1150" dirty="0"/>
          </a:p>
        </p:txBody>
      </p:sp>
      <p:sp>
        <p:nvSpPr>
          <p:cNvPr id="17" name="Text 15"/>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8" name="Text 16"/>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Solution Architecture: Four AI Building Blocks</a:t>
            </a:r>
            <a:endParaRPr lang="en-US" sz="2600" dirty="0"/>
          </a:p>
        </p:txBody>
      </p:sp>
      <p:sp>
        <p:nvSpPr>
          <p:cNvPr id="4" name="Text 2"/>
          <p:cNvSpPr/>
          <p:nvPr/>
        </p:nvSpPr>
        <p:spPr>
          <a:xfrm>
            <a:off x="548640" y="1161288"/>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Each capability plays a distinct role in the workflow — together they automate drafting while preserving oversight.</a:t>
            </a:r>
            <a:endParaRPr lang="en-US" sz="1300" dirty="0"/>
          </a:p>
        </p:txBody>
      </p:sp>
      <p:sp>
        <p:nvSpPr>
          <p:cNvPr id="5" name="Shape 3"/>
          <p:cNvSpPr/>
          <p:nvPr/>
        </p:nvSpPr>
        <p:spPr>
          <a:xfrm>
            <a:off x="54864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Commands</a:t>
            </a:r>
            <a:endParaRPr lang="en-US" sz="130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Reusable prompts that trigger a consistent drafting or review action on demand.</a:t>
            </a:r>
            <a:endParaRPr lang="en-US" sz="1050" dirty="0"/>
          </a:p>
        </p:txBody>
      </p:sp>
      <p:sp>
        <p:nvSpPr>
          <p:cNvPr id="10" name="Shape 7"/>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Shape 8"/>
          <p:cNvSpPr/>
          <p:nvPr/>
        </p:nvSpPr>
        <p:spPr>
          <a:xfrm>
            <a:off x="3191256" y="2020824"/>
            <a:ext cx="585216" cy="585216"/>
          </a:xfrm>
          <a:prstGeom prst="ellipse">
            <a:avLst/>
          </a:prstGeom>
          <a:solidFill>
            <a:srgbClr val="FFFF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3" name="Text 9"/>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Skills</a:t>
            </a:r>
            <a:endParaRPr lang="en-US" sz="1300" dirty="0"/>
          </a:p>
        </p:txBody>
      </p:sp>
      <p:sp>
        <p:nvSpPr>
          <p:cNvPr id="14" name="Text 10"/>
          <p:cNvSpPr/>
          <p:nvPr/>
        </p:nvSpPr>
        <p:spPr>
          <a:xfrm>
            <a:off x="270662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Packaged expertise — style guides and templates — that shape how AI drafts.</a:t>
            </a:r>
            <a:endParaRPr lang="en-US" sz="1050" dirty="0"/>
          </a:p>
        </p:txBody>
      </p:sp>
      <p:sp>
        <p:nvSpPr>
          <p:cNvPr id="15" name="Shape 11"/>
          <p:cNvSpPr/>
          <p:nvPr/>
        </p:nvSpPr>
        <p:spPr>
          <a:xfrm>
            <a:off x="457200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16" name="Shape 12"/>
          <p:cNvSpPr/>
          <p:nvPr/>
        </p:nvSpPr>
        <p:spPr>
          <a:xfrm>
            <a:off x="5202936" y="2020824"/>
            <a:ext cx="585216" cy="585216"/>
          </a:xfrm>
          <a:prstGeom prst="ellipse">
            <a:avLst/>
          </a:prstGeom>
          <a:solidFill>
            <a:srgbClr val="FFFFFF"/>
          </a:solidFill>
          <a:ln/>
        </p:spPr>
        <p:txBody>
          <a:bodyPr/>
          <a:lstStyle/>
          <a:p>
            <a:endParaRPr/>
          </a:p>
        </p:txBody>
      </p:sp>
      <p:pic>
        <p:nvPicPr>
          <p:cNvPr id="17"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18" name="Text 13"/>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Agents</a:t>
            </a:r>
            <a:endParaRPr lang="en-US" sz="1300" dirty="0"/>
          </a:p>
        </p:txBody>
      </p:sp>
      <p:sp>
        <p:nvSpPr>
          <p:cNvPr id="19" name="Text 14"/>
          <p:cNvSpPr/>
          <p:nvPr/>
        </p:nvSpPr>
        <p:spPr>
          <a:xfrm>
            <a:off x="471830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Multi-step helpers that extract, draft, and self-review before human handoff.</a:t>
            </a:r>
            <a:endParaRPr lang="en-US" sz="1050" dirty="0"/>
          </a:p>
        </p:txBody>
      </p:sp>
      <p:sp>
        <p:nvSpPr>
          <p:cNvPr id="20" name="Shape 15"/>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1" name="Shape 16"/>
          <p:cNvSpPr/>
          <p:nvPr/>
        </p:nvSpPr>
        <p:spPr>
          <a:xfrm>
            <a:off x="7214616" y="2020824"/>
            <a:ext cx="585216" cy="585216"/>
          </a:xfrm>
          <a:prstGeom prst="ellipse">
            <a:avLst/>
          </a:prstGeom>
          <a:solidFill>
            <a:srgbClr val="FFFFFF"/>
          </a:solidFill>
          <a:ln/>
        </p:spPr>
        <p:txBody>
          <a:bodyPr/>
          <a:lstStyle/>
          <a:p>
            <a:endParaRPr/>
          </a:p>
        </p:txBody>
      </p:sp>
      <p:pic>
        <p:nvPicPr>
          <p:cNvPr id="22"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3" name="Text 17"/>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300" b="1" dirty="0">
                <a:solidFill>
                  <a:srgbClr val="12355B"/>
                </a:solidFill>
                <a:latin typeface="Calibri" pitchFamily="34" charset="0"/>
                <a:ea typeface="Calibri" pitchFamily="34" charset="-122"/>
                <a:cs typeface="Calibri" pitchFamily="34" charset="-120"/>
              </a:rPr>
              <a:t>MCP Integrations</a:t>
            </a:r>
            <a:endParaRPr lang="en-US" sz="1300" dirty="0"/>
          </a:p>
        </p:txBody>
      </p:sp>
      <p:sp>
        <p:nvSpPr>
          <p:cNvPr id="24" name="Text 18"/>
          <p:cNvSpPr/>
          <p:nvPr/>
        </p:nvSpPr>
        <p:spPr>
          <a:xfrm>
            <a:off x="6729984" y="3172968"/>
            <a:ext cx="1554480" cy="1371600"/>
          </a:xfrm>
          <a:prstGeom prst="rect">
            <a:avLst/>
          </a:prstGeom>
          <a:noFill/>
          <a:ln/>
        </p:spPr>
        <p:txBody>
          <a:bodyPr wrap="square" lIns="0" tIns="0" rIns="0" bIns="0" rtlCol="0" anchor="t"/>
          <a:lstStyle/>
          <a:p>
            <a:pPr marL="0" indent="0" algn="ctr">
              <a:lnSpc>
                <a:spcPct val="118000"/>
              </a:lnSpc>
              <a:buNone/>
            </a:pPr>
            <a:r>
              <a:rPr lang="en-US" sz="1050" dirty="0">
                <a:solidFill>
                  <a:srgbClr val="5F6B7A"/>
                </a:solidFill>
                <a:latin typeface="Calibri" pitchFamily="34" charset="0"/>
                <a:ea typeface="Calibri" pitchFamily="34" charset="-122"/>
                <a:cs typeface="Calibri" pitchFamily="34" charset="-120"/>
              </a:rPr>
              <a:t>Connectors to YouTrack and GitHub for direct, automated data retrieval.</a:t>
            </a:r>
            <a:endParaRPr lang="en-US" sz="1050" dirty="0"/>
          </a:p>
        </p:txBody>
      </p:sp>
      <p:sp>
        <p:nvSpPr>
          <p:cNvPr id="25"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6"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1  ·  CONTEXT &amp; FOUNDATION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Future-State Workflow: AI-Assisted, Human-Approved</a:t>
            </a:r>
            <a:endParaRPr lang="en-US" sz="2400" dirty="0"/>
          </a:p>
        </p:txBody>
      </p:sp>
      <p:sp>
        <p:nvSpPr>
          <p:cNvPr id="4" name="Shape 2"/>
          <p:cNvSpPr/>
          <p:nvPr/>
        </p:nvSpPr>
        <p:spPr>
          <a:xfrm>
            <a:off x="905256" y="1508760"/>
            <a:ext cx="822960" cy="822960"/>
          </a:xfrm>
          <a:prstGeom prst="ellipse">
            <a:avLst/>
          </a:prstGeom>
          <a:solidFill>
            <a:srgbClr val="2A9D8F"/>
          </a:solidFill>
          <a:ln/>
        </p:spPr>
        <p:txBody>
          <a:bodyPr/>
          <a:lstStyle/>
          <a:p>
            <a:endParaRPr/>
          </a:p>
        </p:txBody>
      </p:sp>
      <p:pic>
        <p:nvPicPr>
          <p:cNvPr id="5" name="Image 0" descr="preencoded.png"/>
          <p:cNvPicPr>
            <a:picLocks noChangeAspect="1"/>
          </p:cNvPicPr>
          <p:nvPr/>
        </p:nvPicPr>
        <p:blipFill>
          <a:blip r:embed="rId3"/>
          <a:stretch>
            <a:fillRect/>
          </a:stretch>
        </p:blipFill>
        <p:spPr>
          <a:xfrm>
            <a:off x="1097280" y="1700784"/>
            <a:ext cx="438912" cy="438912"/>
          </a:xfrm>
          <a:prstGeom prst="rect">
            <a:avLst/>
          </a:prstGeom>
        </p:spPr>
      </p:pic>
      <p:sp>
        <p:nvSpPr>
          <p:cNvPr id="6" name="Text 3"/>
          <p:cNvSpPr/>
          <p:nvPr/>
        </p:nvSpPr>
        <p:spPr>
          <a:xfrm>
            <a:off x="630936"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Issues</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retrieved</a:t>
            </a:r>
            <a:endParaRPr lang="en-US" sz="1100" dirty="0"/>
          </a:p>
        </p:txBody>
      </p:sp>
      <p:sp>
        <p:nvSpPr>
          <p:cNvPr id="7" name="Shape 4"/>
          <p:cNvSpPr/>
          <p:nvPr/>
        </p:nvSpPr>
        <p:spPr>
          <a:xfrm>
            <a:off x="2020824" y="1920240"/>
            <a:ext cx="219456" cy="0"/>
          </a:xfrm>
          <a:prstGeom prst="line">
            <a:avLst/>
          </a:prstGeom>
          <a:noFill/>
          <a:ln w="22225">
            <a:solidFill>
              <a:srgbClr val="5F6B7A"/>
            </a:solidFill>
            <a:prstDash val="solid"/>
            <a:tailEnd type="triangle"/>
          </a:ln>
        </p:spPr>
        <p:txBody>
          <a:bodyPr/>
          <a:lstStyle/>
          <a:p>
            <a:endParaRPr/>
          </a:p>
        </p:txBody>
      </p:sp>
      <p:sp>
        <p:nvSpPr>
          <p:cNvPr id="8" name="Shape 5"/>
          <p:cNvSpPr/>
          <p:nvPr/>
        </p:nvSpPr>
        <p:spPr>
          <a:xfrm>
            <a:off x="2532888" y="1508760"/>
            <a:ext cx="822960" cy="822960"/>
          </a:xfrm>
          <a:prstGeom prst="ellipse">
            <a:avLst/>
          </a:prstGeom>
          <a:solidFill>
            <a:srgbClr val="2A9D8F"/>
          </a:solidFill>
          <a:ln/>
        </p:spPr>
        <p:txBody>
          <a:bodyPr/>
          <a:lstStyle/>
          <a:p>
            <a:endParaRPr/>
          </a:p>
        </p:txBody>
      </p:sp>
      <p:pic>
        <p:nvPicPr>
          <p:cNvPr id="9" name="Image 1" descr="preencoded.png"/>
          <p:cNvPicPr>
            <a:picLocks noChangeAspect="1"/>
          </p:cNvPicPr>
          <p:nvPr/>
        </p:nvPicPr>
        <p:blipFill>
          <a:blip r:embed="rId4"/>
          <a:stretch>
            <a:fillRect/>
          </a:stretch>
        </p:blipFill>
        <p:spPr>
          <a:xfrm>
            <a:off x="2724912" y="1700784"/>
            <a:ext cx="438912" cy="438912"/>
          </a:xfrm>
          <a:prstGeom prst="rect">
            <a:avLst/>
          </a:prstGeom>
        </p:spPr>
      </p:pic>
      <p:sp>
        <p:nvSpPr>
          <p:cNvPr id="10" name="Text 6"/>
          <p:cNvSpPr/>
          <p:nvPr/>
        </p:nvSpPr>
        <p:spPr>
          <a:xfrm>
            <a:off x="2258568"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AI extracts</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&amp; drafts</a:t>
            </a:r>
            <a:endParaRPr lang="en-US" sz="1100" dirty="0"/>
          </a:p>
        </p:txBody>
      </p:sp>
      <p:sp>
        <p:nvSpPr>
          <p:cNvPr id="11" name="Shape 7"/>
          <p:cNvSpPr/>
          <p:nvPr/>
        </p:nvSpPr>
        <p:spPr>
          <a:xfrm>
            <a:off x="3648456" y="1920240"/>
            <a:ext cx="219456" cy="0"/>
          </a:xfrm>
          <a:prstGeom prst="line">
            <a:avLst/>
          </a:prstGeom>
          <a:noFill/>
          <a:ln w="22225">
            <a:solidFill>
              <a:srgbClr val="5F6B7A"/>
            </a:solidFill>
            <a:prstDash val="solid"/>
            <a:tailEnd type="triangle"/>
          </a:ln>
        </p:spPr>
        <p:txBody>
          <a:bodyPr/>
          <a:lstStyle/>
          <a:p>
            <a:endParaRPr/>
          </a:p>
        </p:txBody>
      </p:sp>
      <p:sp>
        <p:nvSpPr>
          <p:cNvPr id="12" name="Shape 8"/>
          <p:cNvSpPr/>
          <p:nvPr/>
        </p:nvSpPr>
        <p:spPr>
          <a:xfrm>
            <a:off x="4160520" y="1508760"/>
            <a:ext cx="822960" cy="822960"/>
          </a:xfrm>
          <a:prstGeom prst="ellipse">
            <a:avLst/>
          </a:prstGeom>
          <a:solidFill>
            <a:srgbClr val="2A9D8F"/>
          </a:solidFill>
          <a:ln/>
        </p:spPr>
        <p:txBody>
          <a:bodyPr/>
          <a:lstStyle/>
          <a:p>
            <a:endParaRPr/>
          </a:p>
        </p:txBody>
      </p:sp>
      <p:pic>
        <p:nvPicPr>
          <p:cNvPr id="13" name="Image 2" descr="preencoded.png"/>
          <p:cNvPicPr>
            <a:picLocks noChangeAspect="1"/>
          </p:cNvPicPr>
          <p:nvPr/>
        </p:nvPicPr>
        <p:blipFill>
          <a:blip r:embed="rId5"/>
          <a:stretch>
            <a:fillRect/>
          </a:stretch>
        </p:blipFill>
        <p:spPr>
          <a:xfrm>
            <a:off x="4352544" y="1700784"/>
            <a:ext cx="438912" cy="438912"/>
          </a:xfrm>
          <a:prstGeom prst="rect">
            <a:avLst/>
          </a:prstGeom>
        </p:spPr>
      </p:pic>
      <p:sp>
        <p:nvSpPr>
          <p:cNvPr id="14" name="Text 9"/>
          <p:cNvSpPr/>
          <p:nvPr/>
        </p:nvSpPr>
        <p:spPr>
          <a:xfrm>
            <a:off x="3886200"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AI self-</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reviews</a:t>
            </a:r>
            <a:endParaRPr lang="en-US" sz="1100" dirty="0"/>
          </a:p>
        </p:txBody>
      </p:sp>
      <p:sp>
        <p:nvSpPr>
          <p:cNvPr id="15" name="Shape 10"/>
          <p:cNvSpPr/>
          <p:nvPr/>
        </p:nvSpPr>
        <p:spPr>
          <a:xfrm>
            <a:off x="5276088" y="1920240"/>
            <a:ext cx="219456" cy="0"/>
          </a:xfrm>
          <a:prstGeom prst="line">
            <a:avLst/>
          </a:prstGeom>
          <a:noFill/>
          <a:ln w="22225">
            <a:solidFill>
              <a:srgbClr val="5F6B7A"/>
            </a:solidFill>
            <a:prstDash val="solid"/>
            <a:tailEnd type="triangle"/>
          </a:ln>
        </p:spPr>
        <p:txBody>
          <a:bodyPr/>
          <a:lstStyle/>
          <a:p>
            <a:endParaRPr/>
          </a:p>
        </p:txBody>
      </p:sp>
      <p:sp>
        <p:nvSpPr>
          <p:cNvPr id="16" name="Shape 11"/>
          <p:cNvSpPr/>
          <p:nvPr/>
        </p:nvSpPr>
        <p:spPr>
          <a:xfrm>
            <a:off x="5788152" y="1508760"/>
            <a:ext cx="822960" cy="822960"/>
          </a:xfrm>
          <a:prstGeom prst="ellipse">
            <a:avLst/>
          </a:prstGeom>
          <a:solidFill>
            <a:srgbClr val="12355B"/>
          </a:solidFill>
          <a:ln/>
        </p:spPr>
        <p:txBody>
          <a:bodyPr/>
          <a:lstStyle/>
          <a:p>
            <a:endParaRPr/>
          </a:p>
        </p:txBody>
      </p:sp>
      <p:pic>
        <p:nvPicPr>
          <p:cNvPr id="17" name="Image 3" descr="preencoded.png"/>
          <p:cNvPicPr>
            <a:picLocks noChangeAspect="1"/>
          </p:cNvPicPr>
          <p:nvPr/>
        </p:nvPicPr>
        <p:blipFill>
          <a:blip r:embed="rId6"/>
          <a:stretch>
            <a:fillRect/>
          </a:stretch>
        </p:blipFill>
        <p:spPr>
          <a:xfrm>
            <a:off x="5980176" y="1700784"/>
            <a:ext cx="438912" cy="438912"/>
          </a:xfrm>
          <a:prstGeom prst="rect">
            <a:avLst/>
          </a:prstGeom>
        </p:spPr>
      </p:pic>
      <p:sp>
        <p:nvSpPr>
          <p:cNvPr id="18" name="Text 12"/>
          <p:cNvSpPr/>
          <p:nvPr/>
        </p:nvSpPr>
        <p:spPr>
          <a:xfrm>
            <a:off x="5513832"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Human</a:t>
            </a:r>
            <a:endParaRPr lang="en-US" sz="1100" dirty="0"/>
          </a:p>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approves</a:t>
            </a:r>
            <a:endParaRPr lang="en-US" sz="1100" dirty="0"/>
          </a:p>
        </p:txBody>
      </p:sp>
      <p:sp>
        <p:nvSpPr>
          <p:cNvPr id="19" name="Shape 13"/>
          <p:cNvSpPr/>
          <p:nvPr/>
        </p:nvSpPr>
        <p:spPr>
          <a:xfrm>
            <a:off x="6903720" y="1920240"/>
            <a:ext cx="219456" cy="0"/>
          </a:xfrm>
          <a:prstGeom prst="line">
            <a:avLst/>
          </a:prstGeom>
          <a:noFill/>
          <a:ln w="22225">
            <a:solidFill>
              <a:srgbClr val="5F6B7A"/>
            </a:solidFill>
            <a:prstDash val="solid"/>
            <a:tailEnd type="triangle"/>
          </a:ln>
        </p:spPr>
        <p:txBody>
          <a:bodyPr/>
          <a:lstStyle/>
          <a:p>
            <a:endParaRPr/>
          </a:p>
        </p:txBody>
      </p:sp>
      <p:sp>
        <p:nvSpPr>
          <p:cNvPr id="20" name="Shape 14"/>
          <p:cNvSpPr/>
          <p:nvPr/>
        </p:nvSpPr>
        <p:spPr>
          <a:xfrm>
            <a:off x="7415784" y="1508760"/>
            <a:ext cx="822960" cy="822960"/>
          </a:xfrm>
          <a:prstGeom prst="ellipse">
            <a:avLst/>
          </a:prstGeom>
          <a:solidFill>
            <a:srgbClr val="12355B"/>
          </a:solidFill>
          <a:ln/>
        </p:spPr>
        <p:txBody>
          <a:bodyPr/>
          <a:lstStyle/>
          <a:p>
            <a:endParaRPr/>
          </a:p>
        </p:txBody>
      </p:sp>
      <p:pic>
        <p:nvPicPr>
          <p:cNvPr id="21" name="Image 4" descr="preencoded.png"/>
          <p:cNvPicPr>
            <a:picLocks noChangeAspect="1"/>
          </p:cNvPicPr>
          <p:nvPr/>
        </p:nvPicPr>
        <p:blipFill>
          <a:blip r:embed="rId7"/>
          <a:stretch>
            <a:fillRect/>
          </a:stretch>
        </p:blipFill>
        <p:spPr>
          <a:xfrm>
            <a:off x="7607808" y="1700784"/>
            <a:ext cx="438912" cy="438912"/>
          </a:xfrm>
          <a:prstGeom prst="rect">
            <a:avLst/>
          </a:prstGeom>
        </p:spPr>
      </p:pic>
      <p:sp>
        <p:nvSpPr>
          <p:cNvPr id="22" name="Text 15"/>
          <p:cNvSpPr/>
          <p:nvPr/>
        </p:nvSpPr>
        <p:spPr>
          <a:xfrm>
            <a:off x="7141464" y="2423160"/>
            <a:ext cx="1371600" cy="548640"/>
          </a:xfrm>
          <a:prstGeom prst="rect">
            <a:avLst/>
          </a:prstGeom>
          <a:noFill/>
          <a:ln/>
        </p:spPr>
        <p:txBody>
          <a:bodyPr wrap="square" lIns="0" tIns="0" rIns="0" bIns="0" rtlCol="0" anchor="t"/>
          <a:lstStyle/>
          <a:p>
            <a:pPr marL="0" indent="0" algn="ctr">
              <a:lnSpc>
                <a:spcPct val="105000"/>
              </a:lnSpc>
              <a:buNone/>
            </a:pPr>
            <a:r>
              <a:rPr lang="en-US" sz="1100" dirty="0">
                <a:solidFill>
                  <a:srgbClr val="1C2530"/>
                </a:solidFill>
                <a:latin typeface="Calibri" pitchFamily="34" charset="0"/>
                <a:ea typeface="Calibri" pitchFamily="34" charset="-122"/>
                <a:cs typeface="Calibri" pitchFamily="34" charset="-120"/>
              </a:rPr>
              <a:t>Publish</a:t>
            </a:r>
            <a:endParaRPr lang="en-US" sz="1100" dirty="0"/>
          </a:p>
        </p:txBody>
      </p:sp>
      <p:sp>
        <p:nvSpPr>
          <p:cNvPr id="23" name="Shape 16"/>
          <p:cNvSpPr/>
          <p:nvPr/>
        </p:nvSpPr>
        <p:spPr>
          <a:xfrm>
            <a:off x="2331720" y="2788920"/>
            <a:ext cx="146304" cy="146304"/>
          </a:xfrm>
          <a:prstGeom prst="ellipse">
            <a:avLst/>
          </a:prstGeom>
          <a:solidFill>
            <a:srgbClr val="2A9D8F"/>
          </a:solidFill>
          <a:ln/>
        </p:spPr>
        <p:txBody>
          <a:bodyPr/>
          <a:lstStyle/>
          <a:p>
            <a:endParaRPr/>
          </a:p>
        </p:txBody>
      </p:sp>
      <p:sp>
        <p:nvSpPr>
          <p:cNvPr id="24" name="Text 17"/>
          <p:cNvSpPr/>
          <p:nvPr/>
        </p:nvSpPr>
        <p:spPr>
          <a:xfrm>
            <a:off x="2542032" y="2743200"/>
            <a:ext cx="1554480" cy="246888"/>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AI-performed step</a:t>
            </a:r>
            <a:endParaRPr lang="en-US" sz="1050" dirty="0"/>
          </a:p>
        </p:txBody>
      </p:sp>
      <p:sp>
        <p:nvSpPr>
          <p:cNvPr id="25" name="Shape 18"/>
          <p:cNvSpPr/>
          <p:nvPr/>
        </p:nvSpPr>
        <p:spPr>
          <a:xfrm>
            <a:off x="4343400" y="2788920"/>
            <a:ext cx="146304" cy="146304"/>
          </a:xfrm>
          <a:prstGeom prst="ellipse">
            <a:avLst/>
          </a:prstGeom>
          <a:solidFill>
            <a:srgbClr val="12355B"/>
          </a:solidFill>
          <a:ln/>
        </p:spPr>
        <p:txBody>
          <a:bodyPr/>
          <a:lstStyle/>
          <a:p>
            <a:endParaRPr/>
          </a:p>
        </p:txBody>
      </p:sp>
      <p:sp>
        <p:nvSpPr>
          <p:cNvPr id="26" name="Text 19"/>
          <p:cNvSpPr/>
          <p:nvPr/>
        </p:nvSpPr>
        <p:spPr>
          <a:xfrm>
            <a:off x="4553712" y="2743200"/>
            <a:ext cx="1828800" cy="246888"/>
          </a:xfrm>
          <a:prstGeom prst="rect">
            <a:avLst/>
          </a:prstGeom>
          <a:noFill/>
          <a:ln/>
        </p:spPr>
        <p:txBody>
          <a:bodyPr wrap="square" lIns="0" tIns="0" rIns="0" bIns="0" rtlCol="0" anchor="ctr"/>
          <a:lstStyle/>
          <a:p>
            <a:pPr marL="0" indent="0">
              <a:buNone/>
            </a:pPr>
            <a:r>
              <a:rPr lang="en-US" sz="1050" dirty="0">
                <a:solidFill>
                  <a:srgbClr val="5F6B7A"/>
                </a:solidFill>
                <a:latin typeface="Calibri" pitchFamily="34" charset="0"/>
                <a:ea typeface="Calibri" pitchFamily="34" charset="-122"/>
                <a:cs typeface="Calibri" pitchFamily="34" charset="-120"/>
              </a:rPr>
              <a:t>Human-performed step</a:t>
            </a:r>
            <a:endParaRPr lang="en-US" sz="1050" dirty="0"/>
          </a:p>
        </p:txBody>
      </p:sp>
      <p:sp>
        <p:nvSpPr>
          <p:cNvPr id="27" name="Shape 20"/>
          <p:cNvSpPr/>
          <p:nvPr/>
        </p:nvSpPr>
        <p:spPr>
          <a:xfrm>
            <a:off x="1371600" y="3246120"/>
            <a:ext cx="6400800" cy="1051560"/>
          </a:xfrm>
          <a:prstGeom prst="roundRect">
            <a:avLst>
              <a:gd name="adj" fmla="val 6957"/>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28" name="Text 21"/>
          <p:cNvSpPr/>
          <p:nvPr/>
        </p:nvSpPr>
        <p:spPr>
          <a:xfrm>
            <a:off x="1600200" y="3337560"/>
            <a:ext cx="2011680" cy="868680"/>
          </a:xfrm>
          <a:prstGeom prst="rect">
            <a:avLst/>
          </a:prstGeom>
          <a:noFill/>
          <a:ln/>
        </p:spPr>
        <p:txBody>
          <a:bodyPr wrap="square" lIns="0" tIns="0" rIns="0" bIns="0" rtlCol="0" anchor="ctr"/>
          <a:lstStyle/>
          <a:p>
            <a:pPr marL="0" indent="0" algn="ctr">
              <a:buNone/>
            </a:pPr>
            <a:r>
              <a:rPr lang="en-US" sz="3200" b="1" dirty="0">
                <a:solidFill>
                  <a:srgbClr val="12355B"/>
                </a:solidFill>
                <a:latin typeface="Cambria" pitchFamily="34" charset="0"/>
                <a:ea typeface="Cambria" pitchFamily="34" charset="-122"/>
                <a:cs typeface="Cambria" pitchFamily="34" charset="-120"/>
              </a:rPr>
              <a:t>~80–90%</a:t>
            </a:r>
            <a:endParaRPr lang="en-US" sz="3200" dirty="0"/>
          </a:p>
        </p:txBody>
      </p:sp>
      <p:sp>
        <p:nvSpPr>
          <p:cNvPr id="29" name="Text 22"/>
          <p:cNvSpPr/>
          <p:nvPr/>
        </p:nvSpPr>
        <p:spPr>
          <a:xfrm>
            <a:off x="3749040" y="3319272"/>
            <a:ext cx="3840480" cy="914400"/>
          </a:xfrm>
          <a:prstGeom prst="rect">
            <a:avLst/>
          </a:prstGeom>
          <a:noFill/>
          <a:ln/>
        </p:spPr>
        <p:txBody>
          <a:bodyPr wrap="square" lIns="0" tIns="0" rIns="0" bIns="0" rtlCol="0" anchor="ctr"/>
          <a:lstStyle/>
          <a:p>
            <a:pPr marL="0" indent="0">
              <a:lnSpc>
                <a:spcPct val="120000"/>
              </a:lnSpc>
              <a:buNone/>
            </a:pPr>
            <a:r>
              <a:rPr lang="en-US" sz="1100" dirty="0">
                <a:solidFill>
                  <a:srgbClr val="5F6B7A"/>
                </a:solidFill>
                <a:latin typeface="Calibri" pitchFamily="34" charset="0"/>
                <a:ea typeface="Calibri" pitchFamily="34" charset="-122"/>
                <a:cs typeface="Calibri" pitchFamily="34" charset="-120"/>
              </a:rPr>
              <a:t>estimated reduction in end-to-end cycle time versus the current 9–15 day manual process, per the future-state workflow analysis</a:t>
            </a:r>
            <a:endParaRPr lang="en-US" sz="1100" dirty="0"/>
          </a:p>
        </p:txBody>
      </p:sp>
      <p:sp>
        <p:nvSpPr>
          <p:cNvPr id="30" name="Text 23"/>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31" name="Text 24"/>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Two Scenarios, One Governance Principle</a:t>
            </a:r>
            <a:endParaRPr lang="en-US" sz="2600" dirty="0"/>
          </a:p>
        </p:txBody>
      </p:sp>
      <p:sp>
        <p:nvSpPr>
          <p:cNvPr id="4" name="Text 2"/>
          <p:cNvSpPr/>
          <p:nvPr/>
        </p:nvSpPr>
        <p:spPr>
          <a:xfrm>
            <a:off x="548640" y="1170432"/>
            <a:ext cx="7863840" cy="45720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Both scenarios run the same AI workflow — they differ only in what happens when engineering information is incomplete.</a:t>
            </a:r>
            <a:endParaRPr lang="en-US" sz="1300" dirty="0"/>
          </a:p>
        </p:txBody>
      </p:sp>
      <p:sp>
        <p:nvSpPr>
          <p:cNvPr id="5" name="Shape 3"/>
          <p:cNvSpPr/>
          <p:nvPr/>
        </p:nvSpPr>
        <p:spPr>
          <a:xfrm>
            <a:off x="548640" y="1828800"/>
            <a:ext cx="3794760" cy="2788920"/>
          </a:xfrm>
          <a:prstGeom prst="roundRect">
            <a:avLst>
              <a:gd name="adj" fmla="val 2623"/>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4800600" y="1828800"/>
            <a:ext cx="3794760" cy="2788920"/>
          </a:xfrm>
          <a:prstGeom prst="roundRect">
            <a:avLst>
              <a:gd name="adj" fmla="val 2623"/>
            </a:avLst>
          </a:prstGeom>
          <a:solidFill>
            <a:srgbClr val="FBF0E3"/>
          </a:solidFill>
          <a:ln/>
          <a:effectLst>
            <a:outerShdw blurRad="101600" dist="38100" dir="5400000" algn="bl" rotWithShape="0">
              <a:srgbClr val="0B2745">
                <a:alpha val="12000"/>
              </a:srgbClr>
            </a:outerShdw>
          </a:effectLst>
        </p:spPr>
        <p:txBody>
          <a:bodyPr/>
          <a:lstStyle/>
          <a:p>
            <a:endParaRPr/>
          </a:p>
        </p:txBody>
      </p:sp>
      <p:pic>
        <p:nvPicPr>
          <p:cNvPr id="7" name="Image 0" descr="preencoded.png"/>
          <p:cNvPicPr>
            <a:picLocks noChangeAspect="1"/>
          </p:cNvPicPr>
          <p:nvPr/>
        </p:nvPicPr>
        <p:blipFill>
          <a:blip r:embed="rId3"/>
          <a:stretch>
            <a:fillRect/>
          </a:stretch>
        </p:blipFill>
        <p:spPr>
          <a:xfrm>
            <a:off x="777240" y="2057400"/>
            <a:ext cx="457200" cy="457200"/>
          </a:xfrm>
          <a:prstGeom prst="rect">
            <a:avLst/>
          </a:prstGeom>
        </p:spPr>
      </p:pic>
      <p:sp>
        <p:nvSpPr>
          <p:cNvPr id="8" name="Text 5"/>
          <p:cNvSpPr/>
          <p:nvPr/>
        </p:nvSpPr>
        <p:spPr>
          <a:xfrm>
            <a:off x="1325880" y="2103120"/>
            <a:ext cx="2971800"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Scenario 1: Feature Release</a:t>
            </a:r>
            <a:endParaRPr lang="en-US" sz="1500" dirty="0"/>
          </a:p>
        </p:txBody>
      </p:sp>
      <p:sp>
        <p:nvSpPr>
          <p:cNvPr id="9" name="Text 6"/>
          <p:cNvSpPr/>
          <p:nvPr/>
        </p:nvSpPr>
        <p:spPr>
          <a:xfrm>
            <a:off x="777240" y="2697480"/>
            <a:ext cx="3337560" cy="1737360"/>
          </a:xfrm>
          <a:prstGeom prst="rect">
            <a:avLst/>
          </a:prstGeom>
          <a:noFill/>
          <a:ln/>
        </p:spPr>
        <p:txBody>
          <a:bodyPr wrap="square" lIns="0" tIns="0" rIns="0" bIns="0" rtlCol="0" anchor="ctr"/>
          <a:lstStyle/>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Complete engineering information in YouTrack</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AI drafts a complete, publish-ready note</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Demonstrates the automation gain</a:t>
            </a:r>
            <a:endParaRPr lang="en-US" sz="1250" dirty="0"/>
          </a:p>
        </p:txBody>
      </p:sp>
      <p:pic>
        <p:nvPicPr>
          <p:cNvPr id="10" name="Image 1" descr="preencoded.png"/>
          <p:cNvPicPr>
            <a:picLocks noChangeAspect="1"/>
          </p:cNvPicPr>
          <p:nvPr/>
        </p:nvPicPr>
        <p:blipFill>
          <a:blip r:embed="rId4"/>
          <a:stretch>
            <a:fillRect/>
          </a:stretch>
        </p:blipFill>
        <p:spPr>
          <a:xfrm>
            <a:off x="5029200" y="2057400"/>
            <a:ext cx="457200" cy="457200"/>
          </a:xfrm>
          <a:prstGeom prst="rect">
            <a:avLst/>
          </a:prstGeom>
        </p:spPr>
      </p:pic>
      <p:sp>
        <p:nvSpPr>
          <p:cNvPr id="11" name="Text 7"/>
          <p:cNvSpPr/>
          <p:nvPr/>
        </p:nvSpPr>
        <p:spPr>
          <a:xfrm>
            <a:off x="5577840" y="2103120"/>
            <a:ext cx="2971800" cy="365760"/>
          </a:xfrm>
          <a:prstGeom prst="rect">
            <a:avLst/>
          </a:prstGeom>
          <a:noFill/>
          <a:ln/>
        </p:spPr>
        <p:txBody>
          <a:bodyPr wrap="square" lIns="0" tIns="0" rIns="0" bIns="0" rtlCol="0" anchor="ctr"/>
          <a:lstStyle/>
          <a:p>
            <a:pPr marL="0" indent="0">
              <a:buNone/>
            </a:pPr>
            <a:r>
              <a:rPr lang="en-US" sz="1500" b="1" dirty="0">
                <a:solidFill>
                  <a:srgbClr val="12355B"/>
                </a:solidFill>
                <a:latin typeface="Calibri" pitchFamily="34" charset="0"/>
                <a:ea typeface="Calibri" pitchFamily="34" charset="-122"/>
                <a:cs typeface="Calibri" pitchFamily="34" charset="-120"/>
              </a:rPr>
              <a:t>Scenario 2: Mixed Release</a:t>
            </a:r>
            <a:endParaRPr lang="en-US" sz="1500" dirty="0"/>
          </a:p>
        </p:txBody>
      </p:sp>
      <p:sp>
        <p:nvSpPr>
          <p:cNvPr id="12" name="Text 8"/>
          <p:cNvSpPr/>
          <p:nvPr/>
        </p:nvSpPr>
        <p:spPr>
          <a:xfrm>
            <a:off x="5029200" y="2697480"/>
            <a:ext cx="3337560" cy="1737360"/>
          </a:xfrm>
          <a:prstGeom prst="rect">
            <a:avLst/>
          </a:prstGeom>
          <a:noFill/>
          <a:ln/>
        </p:spPr>
        <p:txBody>
          <a:bodyPr wrap="square" lIns="0" tIns="0" rIns="0" bIns="0" rtlCol="0" anchor="ctr"/>
          <a:lstStyle/>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Incomplete engineering information</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AI flags the gaps instead of inventing content</a:t>
            </a:r>
            <a:endParaRPr lang="en-US" sz="1250" dirty="0"/>
          </a:p>
          <a:p>
            <a:pPr marL="342900" indent="-342900">
              <a:lnSpc>
                <a:spcPct val="130000"/>
              </a:lnSpc>
              <a:buSzPct val="100000"/>
              <a:buChar char="•"/>
            </a:pPr>
            <a:r>
              <a:rPr lang="en-US" sz="1250" dirty="0">
                <a:solidFill>
                  <a:srgbClr val="1C2530"/>
                </a:solidFill>
                <a:latin typeface="Calibri" pitchFamily="34" charset="0"/>
                <a:ea typeface="Calibri" pitchFamily="34" charset="-122"/>
                <a:cs typeface="Calibri" pitchFamily="34" charset="-120"/>
              </a:rPr>
              <a:t>Demonstrates the responsible-AI safeguard</a:t>
            </a:r>
            <a:endParaRPr lang="en-US" sz="1250" dirty="0"/>
          </a:p>
        </p:txBody>
      </p:sp>
      <p:sp>
        <p:nvSpPr>
          <p:cNvPr id="13" name="Text 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4" name="Text 1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Scenario 1: Feature Release Walkthrough</a:t>
            </a:r>
            <a:endParaRPr lang="en-US" sz="2500" dirty="0"/>
          </a:p>
        </p:txBody>
      </p:sp>
      <p:sp>
        <p:nvSpPr>
          <p:cNvPr id="4" name="Text 2"/>
          <p:cNvSpPr/>
          <p:nvPr/>
        </p:nvSpPr>
        <p:spPr>
          <a:xfrm>
            <a:off x="548640" y="1170432"/>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Complete ticket information flows straight through to a human-approved draft.</a:t>
            </a:r>
            <a:endParaRPr lang="en-US" sz="1300" dirty="0"/>
          </a:p>
        </p:txBody>
      </p:sp>
      <p:sp>
        <p:nvSpPr>
          <p:cNvPr id="5" name="Shape 3"/>
          <p:cNvSpPr/>
          <p:nvPr/>
        </p:nvSpPr>
        <p:spPr>
          <a:xfrm>
            <a:off x="54864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1. Extract</a:t>
            </a:r>
            <a:endParaRPr lang="en-US" sz="125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reads the YouTrack issue: title, description, and resolution notes.</a:t>
            </a:r>
            <a:endParaRPr lang="en-US" sz="1000" dirty="0"/>
          </a:p>
        </p:txBody>
      </p:sp>
      <p:sp>
        <p:nvSpPr>
          <p:cNvPr id="10" name="Shape 7"/>
          <p:cNvSpPr/>
          <p:nvPr/>
        </p:nvSpPr>
        <p:spPr>
          <a:xfrm>
            <a:off x="2404872" y="3223260"/>
            <a:ext cx="146304" cy="0"/>
          </a:xfrm>
          <a:prstGeom prst="line">
            <a:avLst/>
          </a:prstGeom>
          <a:noFill/>
          <a:ln w="19050">
            <a:solidFill>
              <a:srgbClr val="5F6B7A"/>
            </a:solidFill>
            <a:prstDash val="solid"/>
            <a:tailEnd type="triangle"/>
          </a:ln>
        </p:spPr>
        <p:txBody>
          <a:bodyPr/>
          <a:lstStyle/>
          <a:p>
            <a:endParaRPr/>
          </a:p>
        </p:txBody>
      </p:sp>
      <p:sp>
        <p:nvSpPr>
          <p:cNvPr id="11" name="Shape 8"/>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2" name="Shape 9"/>
          <p:cNvSpPr/>
          <p:nvPr/>
        </p:nvSpPr>
        <p:spPr>
          <a:xfrm>
            <a:off x="3191256" y="2020824"/>
            <a:ext cx="585216" cy="585216"/>
          </a:xfrm>
          <a:prstGeom prst="ellipse">
            <a:avLst/>
          </a:prstGeom>
          <a:solidFill>
            <a:srgbClr val="FFFFFF"/>
          </a:solidFill>
          <a:ln/>
        </p:spPr>
        <p:txBody>
          <a:bodyPr/>
          <a:lstStyle/>
          <a:p>
            <a:endParaRPr/>
          </a:p>
        </p:txBody>
      </p:sp>
      <p:pic>
        <p:nvPicPr>
          <p:cNvPr id="13"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4" name="Text 10"/>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2. Draft</a:t>
            </a:r>
            <a:endParaRPr lang="en-US" sz="1250" dirty="0"/>
          </a:p>
        </p:txBody>
      </p:sp>
      <p:sp>
        <p:nvSpPr>
          <p:cNvPr id="15" name="Text 11"/>
          <p:cNvSpPr/>
          <p:nvPr/>
        </p:nvSpPr>
        <p:spPr>
          <a:xfrm>
            <a:off x="270662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Skill applies the release-note style guide to produce a structured draft.</a:t>
            </a:r>
            <a:endParaRPr lang="en-US" sz="1000" dirty="0"/>
          </a:p>
        </p:txBody>
      </p:sp>
      <p:sp>
        <p:nvSpPr>
          <p:cNvPr id="16" name="Shape 12"/>
          <p:cNvSpPr/>
          <p:nvPr/>
        </p:nvSpPr>
        <p:spPr>
          <a:xfrm>
            <a:off x="4416552" y="3223260"/>
            <a:ext cx="146304" cy="0"/>
          </a:xfrm>
          <a:prstGeom prst="line">
            <a:avLst/>
          </a:prstGeom>
          <a:noFill/>
          <a:ln w="19050">
            <a:solidFill>
              <a:srgbClr val="5F6B7A"/>
            </a:solidFill>
            <a:prstDash val="solid"/>
            <a:tailEnd type="triangle"/>
          </a:ln>
        </p:spPr>
        <p:txBody>
          <a:bodyPr/>
          <a:lstStyle/>
          <a:p>
            <a:endParaRPr/>
          </a:p>
        </p:txBody>
      </p:sp>
      <p:sp>
        <p:nvSpPr>
          <p:cNvPr id="17" name="Shape 13"/>
          <p:cNvSpPr/>
          <p:nvPr/>
        </p:nvSpPr>
        <p:spPr>
          <a:xfrm>
            <a:off x="457200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8" name="Shape 14"/>
          <p:cNvSpPr/>
          <p:nvPr/>
        </p:nvSpPr>
        <p:spPr>
          <a:xfrm>
            <a:off x="5202936" y="2020824"/>
            <a:ext cx="585216" cy="585216"/>
          </a:xfrm>
          <a:prstGeom prst="ellipse">
            <a:avLst/>
          </a:prstGeom>
          <a:solidFill>
            <a:srgbClr val="FFFFFF"/>
          </a:solidFill>
          <a:ln/>
        </p:spPr>
        <p:txBody>
          <a:bodyPr/>
          <a:lstStyle/>
          <a:p>
            <a:endParaRPr/>
          </a:p>
        </p:txBody>
      </p:sp>
      <p:pic>
        <p:nvPicPr>
          <p:cNvPr id="19"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20" name="Text 15"/>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3. Self-Review</a:t>
            </a:r>
            <a:endParaRPr lang="en-US" sz="1250" dirty="0"/>
          </a:p>
        </p:txBody>
      </p:sp>
      <p:sp>
        <p:nvSpPr>
          <p:cNvPr id="21" name="Text 16"/>
          <p:cNvSpPr/>
          <p:nvPr/>
        </p:nvSpPr>
        <p:spPr>
          <a:xfrm>
            <a:off x="471830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checks its own draft against the source ticket for accuracy.</a:t>
            </a:r>
            <a:endParaRPr lang="en-US" sz="1000" dirty="0"/>
          </a:p>
        </p:txBody>
      </p:sp>
      <p:sp>
        <p:nvSpPr>
          <p:cNvPr id="22" name="Shape 17"/>
          <p:cNvSpPr/>
          <p:nvPr/>
        </p:nvSpPr>
        <p:spPr>
          <a:xfrm>
            <a:off x="6428232" y="3223260"/>
            <a:ext cx="146304" cy="0"/>
          </a:xfrm>
          <a:prstGeom prst="line">
            <a:avLst/>
          </a:prstGeom>
          <a:noFill/>
          <a:ln w="19050">
            <a:solidFill>
              <a:srgbClr val="5F6B7A"/>
            </a:solidFill>
            <a:prstDash val="solid"/>
            <a:tailEnd type="triangle"/>
          </a:ln>
        </p:spPr>
        <p:txBody>
          <a:bodyPr/>
          <a:lstStyle/>
          <a:p>
            <a:endParaRPr/>
          </a:p>
        </p:txBody>
      </p:sp>
      <p:sp>
        <p:nvSpPr>
          <p:cNvPr id="23" name="Shape 18"/>
          <p:cNvSpPr/>
          <p:nvPr/>
        </p:nvSpPr>
        <p:spPr>
          <a:xfrm>
            <a:off x="658368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24" name="Shape 19"/>
          <p:cNvSpPr/>
          <p:nvPr/>
        </p:nvSpPr>
        <p:spPr>
          <a:xfrm>
            <a:off x="7214616" y="2020824"/>
            <a:ext cx="585216" cy="585216"/>
          </a:xfrm>
          <a:prstGeom prst="ellipse">
            <a:avLst/>
          </a:prstGeom>
          <a:solidFill>
            <a:srgbClr val="FFFFFF"/>
          </a:solidFill>
          <a:ln/>
        </p:spPr>
        <p:txBody>
          <a:bodyPr/>
          <a:lstStyle/>
          <a:p>
            <a:endParaRPr/>
          </a:p>
        </p:txBody>
      </p:sp>
      <p:pic>
        <p:nvPicPr>
          <p:cNvPr id="25"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6" name="Text 20"/>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250" b="1" dirty="0">
                <a:solidFill>
                  <a:srgbClr val="12355B"/>
                </a:solidFill>
                <a:latin typeface="Calibri" pitchFamily="34" charset="0"/>
                <a:ea typeface="Calibri" pitchFamily="34" charset="-122"/>
                <a:cs typeface="Calibri" pitchFamily="34" charset="-120"/>
              </a:rPr>
              <a:t>4. Human Approval</a:t>
            </a:r>
            <a:endParaRPr lang="en-US" sz="1250" dirty="0"/>
          </a:p>
        </p:txBody>
      </p:sp>
      <p:sp>
        <p:nvSpPr>
          <p:cNvPr id="27" name="Text 21"/>
          <p:cNvSpPr/>
          <p:nvPr/>
        </p:nvSpPr>
        <p:spPr>
          <a:xfrm>
            <a:off x="672998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Writer reviews, edits if needed, and gives the final sign-off.</a:t>
            </a:r>
            <a:endParaRPr lang="en-US" sz="1000" dirty="0"/>
          </a:p>
        </p:txBody>
      </p:sp>
      <p:sp>
        <p:nvSpPr>
          <p:cNvPr id="28" name="Text 22"/>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9" name="Text 23"/>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700" b="1" dirty="0">
                <a:solidFill>
                  <a:srgbClr val="12355B"/>
                </a:solidFill>
                <a:latin typeface="Cambria" pitchFamily="34" charset="0"/>
                <a:ea typeface="Cambria" pitchFamily="34" charset="-122"/>
                <a:cs typeface="Cambria" pitchFamily="34" charset="-120"/>
              </a:rPr>
              <a:t>Scenario 1 Result: Before &amp; After</a:t>
            </a:r>
            <a:endParaRPr lang="en-US" sz="2700" dirty="0"/>
          </a:p>
        </p:txBody>
      </p:sp>
      <p:sp>
        <p:nvSpPr>
          <p:cNvPr id="4" name="Shape 2"/>
          <p:cNvSpPr/>
          <p:nvPr/>
        </p:nvSpPr>
        <p:spPr>
          <a:xfrm>
            <a:off x="548640" y="1371600"/>
            <a:ext cx="3794760" cy="3246120"/>
          </a:xfrm>
          <a:prstGeom prst="roundRect">
            <a:avLst>
              <a:gd name="adj" fmla="val 2254"/>
            </a:avLst>
          </a:prstGeom>
          <a:solidFill>
            <a:srgbClr val="EEF1F3"/>
          </a:solidFill>
          <a:ln/>
        </p:spPr>
        <p:txBody>
          <a:bodyPr/>
          <a:lstStyle/>
          <a:p>
            <a:endParaRPr/>
          </a:p>
        </p:txBody>
      </p:sp>
      <p:sp>
        <p:nvSpPr>
          <p:cNvPr id="5" name="Text 3"/>
          <p:cNvSpPr/>
          <p:nvPr/>
        </p:nvSpPr>
        <p:spPr>
          <a:xfrm>
            <a:off x="777240" y="1536192"/>
            <a:ext cx="3383280" cy="320040"/>
          </a:xfrm>
          <a:prstGeom prst="rect">
            <a:avLst/>
          </a:prstGeom>
          <a:noFill/>
          <a:ln/>
        </p:spPr>
        <p:txBody>
          <a:bodyPr wrap="square" lIns="0" tIns="0" rIns="0" bIns="0" rtlCol="0" anchor="ctr"/>
          <a:lstStyle/>
          <a:p>
            <a:pPr marL="0" indent="0">
              <a:buNone/>
            </a:pPr>
            <a:r>
              <a:rPr lang="en-US" sz="1250" b="1" dirty="0">
                <a:solidFill>
                  <a:srgbClr val="5F6B7A"/>
                </a:solidFill>
                <a:latin typeface="Calibri" pitchFamily="34" charset="0"/>
                <a:ea typeface="Calibri" pitchFamily="34" charset="-122"/>
                <a:cs typeface="Calibri" pitchFamily="34" charset="-120"/>
              </a:rPr>
              <a:t>BEFORE — Raw Ticket Fragments</a:t>
            </a:r>
            <a:endParaRPr lang="en-US" sz="1250" dirty="0"/>
          </a:p>
        </p:txBody>
      </p:sp>
      <p:sp>
        <p:nvSpPr>
          <p:cNvPr id="6" name="Text 4"/>
          <p:cNvSpPr/>
          <p:nvPr/>
        </p:nvSpPr>
        <p:spPr>
          <a:xfrm>
            <a:off x="777240" y="1965960"/>
            <a:ext cx="3337560" cy="2377440"/>
          </a:xfrm>
          <a:prstGeom prst="rect">
            <a:avLst/>
          </a:prstGeom>
          <a:noFill/>
          <a:ln/>
        </p:spPr>
        <p:txBody>
          <a:bodyPr wrap="square" lIns="0" tIns="0" rIns="0" bIns="0" rtlCol="0" anchor="ctr"/>
          <a:lstStyle/>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YT-4021: bulk export button, CSV only, added retry logic</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Status: Resolved, no customer-facing summary written</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Component: Reporting module</a:t>
            </a:r>
            <a:endParaRPr lang="en-US" sz="1150" dirty="0"/>
          </a:p>
          <a:p>
            <a:pPr marL="342900" indent="-342900">
              <a:lnSpc>
                <a:spcPct val="135000"/>
              </a:lnSpc>
              <a:buSzPct val="100000"/>
              <a:buChar char="•"/>
            </a:pPr>
            <a:r>
              <a:rPr lang="en-US" sz="1150" dirty="0">
                <a:solidFill>
                  <a:srgbClr val="1C2530"/>
                </a:solidFill>
                <a:latin typeface="Calibri" pitchFamily="34" charset="0"/>
                <a:ea typeface="Calibri" pitchFamily="34" charset="-122"/>
                <a:cs typeface="Calibri" pitchFamily="34" charset="-120"/>
              </a:rPr>
              <a:t>Resolution note: “fixed timeout on large exports”</a:t>
            </a:r>
            <a:endParaRPr lang="en-US" sz="1150" dirty="0"/>
          </a:p>
        </p:txBody>
      </p:sp>
      <p:sp>
        <p:nvSpPr>
          <p:cNvPr id="7" name="Shape 5"/>
          <p:cNvSpPr/>
          <p:nvPr/>
        </p:nvSpPr>
        <p:spPr>
          <a:xfrm>
            <a:off x="4800600" y="1371600"/>
            <a:ext cx="3794760" cy="3246120"/>
          </a:xfrm>
          <a:prstGeom prst="roundRect">
            <a:avLst>
              <a:gd name="adj" fmla="val 2254"/>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8" name="Text 6"/>
          <p:cNvSpPr/>
          <p:nvPr/>
        </p:nvSpPr>
        <p:spPr>
          <a:xfrm>
            <a:off x="5029200" y="1536192"/>
            <a:ext cx="3383280" cy="320040"/>
          </a:xfrm>
          <a:prstGeom prst="rect">
            <a:avLst/>
          </a:prstGeom>
          <a:noFill/>
          <a:ln/>
        </p:spPr>
        <p:txBody>
          <a:bodyPr wrap="square" lIns="0" tIns="0" rIns="0" bIns="0" rtlCol="0" anchor="ctr"/>
          <a:lstStyle/>
          <a:p>
            <a:pPr marL="0" indent="0">
              <a:buNone/>
            </a:pPr>
            <a:r>
              <a:rPr lang="en-US" sz="1250" b="1" dirty="0">
                <a:solidFill>
                  <a:srgbClr val="12355B"/>
                </a:solidFill>
                <a:latin typeface="Calibri" pitchFamily="34" charset="0"/>
                <a:ea typeface="Calibri" pitchFamily="34" charset="-122"/>
                <a:cs typeface="Calibri" pitchFamily="34" charset="-120"/>
              </a:rPr>
              <a:t>AFTER — Human-Approved Draft</a:t>
            </a:r>
            <a:endParaRPr lang="en-US" sz="1250" dirty="0"/>
          </a:p>
        </p:txBody>
      </p:sp>
      <p:sp>
        <p:nvSpPr>
          <p:cNvPr id="9" name="Text 7"/>
          <p:cNvSpPr/>
          <p:nvPr/>
        </p:nvSpPr>
        <p:spPr>
          <a:xfrm>
            <a:off x="5029200" y="1965960"/>
            <a:ext cx="3337560" cy="2377440"/>
          </a:xfrm>
          <a:prstGeom prst="rect">
            <a:avLst/>
          </a:prstGeom>
          <a:noFill/>
          <a:ln/>
        </p:spPr>
        <p:txBody>
          <a:bodyPr wrap="square" lIns="0" tIns="0" rIns="0" bIns="0" rtlCol="0" anchor="ctr"/>
          <a:lstStyle/>
          <a:p>
            <a:pPr marL="0" indent="0">
              <a:lnSpc>
                <a:spcPct val="130000"/>
              </a:lnSpc>
              <a:buNone/>
            </a:pPr>
            <a:r>
              <a:rPr lang="en-US" sz="1150" b="1" dirty="0">
                <a:solidFill>
                  <a:srgbClr val="12355B"/>
                </a:solidFill>
                <a:latin typeface="Calibri" pitchFamily="34" charset="0"/>
                <a:ea typeface="Calibri" pitchFamily="34" charset="-122"/>
                <a:cs typeface="Calibri" pitchFamily="34" charset="-120"/>
              </a:rPr>
              <a:t>Bulk Export Improvements</a:t>
            </a:r>
            <a:endParaRPr lang="en-US" sz="1150" dirty="0"/>
          </a:p>
          <a:p>
            <a:pPr marL="0" indent="0">
              <a:lnSpc>
                <a:spcPct val="130000"/>
              </a:lnSpc>
              <a:buNone/>
            </a:pPr>
            <a:r>
              <a:rPr lang="en-US" sz="1150" dirty="0">
                <a:solidFill>
                  <a:srgbClr val="1C2530"/>
                </a:solidFill>
                <a:latin typeface="Calibri" pitchFamily="34" charset="0"/>
                <a:ea typeface="Calibri" pitchFamily="34" charset="-122"/>
                <a:cs typeface="Calibri" pitchFamily="34" charset="-120"/>
              </a:rPr>
              <a:t>You can now export large reports to CSV more reliably. We fixed a timeout issue that affected bulk exports and added automatic retry logic to reduce failed downloads.</a:t>
            </a:r>
            <a:endParaRPr lang="en-US" sz="1150" dirty="0"/>
          </a:p>
          <a:p>
            <a:pPr marL="0" indent="0">
              <a:lnSpc>
                <a:spcPct val="130000"/>
              </a:lnSpc>
              <a:buNone/>
            </a:pPr>
            <a:r>
              <a:rPr lang="en-US" sz="1150" i="1" dirty="0">
                <a:solidFill>
                  <a:srgbClr val="5F6B7A"/>
                </a:solidFill>
                <a:latin typeface="Calibri" pitchFamily="34" charset="0"/>
                <a:ea typeface="Calibri" pitchFamily="34" charset="-122"/>
                <a:cs typeface="Calibri" pitchFamily="34" charset="-120"/>
              </a:rPr>
              <a:t>Component: Reporting</a:t>
            </a:r>
            <a:endParaRPr lang="en-US" sz="1150" dirty="0"/>
          </a:p>
        </p:txBody>
      </p:sp>
      <p:sp>
        <p:nvSpPr>
          <p:cNvPr id="10" name="Text 8"/>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1" name="Text 9"/>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Scenario 2: Mixed Release Walkthrough</a:t>
            </a:r>
            <a:endParaRPr lang="en-US" sz="2500" dirty="0"/>
          </a:p>
        </p:txBody>
      </p:sp>
      <p:sp>
        <p:nvSpPr>
          <p:cNvPr id="4" name="Text 2"/>
          <p:cNvSpPr/>
          <p:nvPr/>
        </p:nvSpPr>
        <p:spPr>
          <a:xfrm>
            <a:off x="548640" y="1170432"/>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When information is incomplete, the AI flags the gap instead of guessing.</a:t>
            </a:r>
            <a:endParaRPr lang="en-US" sz="1300" dirty="0"/>
          </a:p>
        </p:txBody>
      </p:sp>
      <p:sp>
        <p:nvSpPr>
          <p:cNvPr id="5" name="Shape 3"/>
          <p:cNvSpPr/>
          <p:nvPr/>
        </p:nvSpPr>
        <p:spPr>
          <a:xfrm>
            <a:off x="54864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1. Extract</a:t>
            </a:r>
            <a:endParaRPr lang="en-US" sz="1150" dirty="0"/>
          </a:p>
        </p:txBody>
      </p:sp>
      <p:sp>
        <p:nvSpPr>
          <p:cNvPr id="9" name="Text 6"/>
          <p:cNvSpPr/>
          <p:nvPr/>
        </p:nvSpPr>
        <p:spPr>
          <a:xfrm>
            <a:off x="69494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reads the ticket — this one is missing a customer impact statement.</a:t>
            </a:r>
            <a:endParaRPr lang="en-US" sz="1000" dirty="0"/>
          </a:p>
        </p:txBody>
      </p:sp>
      <p:sp>
        <p:nvSpPr>
          <p:cNvPr id="10" name="Shape 7"/>
          <p:cNvSpPr/>
          <p:nvPr/>
        </p:nvSpPr>
        <p:spPr>
          <a:xfrm>
            <a:off x="2404872" y="3223260"/>
            <a:ext cx="146304" cy="0"/>
          </a:xfrm>
          <a:prstGeom prst="line">
            <a:avLst/>
          </a:prstGeom>
          <a:noFill/>
          <a:ln w="19050">
            <a:solidFill>
              <a:srgbClr val="5F6B7A"/>
            </a:solidFill>
            <a:prstDash val="solid"/>
            <a:tailEnd type="triangle"/>
          </a:ln>
        </p:spPr>
        <p:txBody>
          <a:bodyPr/>
          <a:lstStyle/>
          <a:p>
            <a:endParaRPr/>
          </a:p>
        </p:txBody>
      </p:sp>
      <p:sp>
        <p:nvSpPr>
          <p:cNvPr id="11" name="Shape 8"/>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2" name="Shape 9"/>
          <p:cNvSpPr/>
          <p:nvPr/>
        </p:nvSpPr>
        <p:spPr>
          <a:xfrm>
            <a:off x="3191256" y="2020824"/>
            <a:ext cx="585216" cy="585216"/>
          </a:xfrm>
          <a:prstGeom prst="ellipse">
            <a:avLst/>
          </a:prstGeom>
          <a:solidFill>
            <a:srgbClr val="FFFFFF"/>
          </a:solidFill>
          <a:ln/>
        </p:spPr>
        <p:txBody>
          <a:bodyPr/>
          <a:lstStyle/>
          <a:p>
            <a:endParaRPr/>
          </a:p>
        </p:txBody>
      </p:sp>
      <p:pic>
        <p:nvPicPr>
          <p:cNvPr id="13"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4" name="Text 10"/>
          <p:cNvSpPr/>
          <p:nvPr/>
        </p:nvSpPr>
        <p:spPr>
          <a:xfrm>
            <a:off x="265176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2. Gap Check</a:t>
            </a:r>
            <a:endParaRPr lang="en-US" sz="1150" dirty="0"/>
          </a:p>
        </p:txBody>
      </p:sp>
      <p:sp>
        <p:nvSpPr>
          <p:cNvPr id="15" name="Text 11"/>
          <p:cNvSpPr/>
          <p:nvPr/>
        </p:nvSpPr>
        <p:spPr>
          <a:xfrm>
            <a:off x="270662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compares available fields against what the style guide requires.</a:t>
            </a:r>
            <a:endParaRPr lang="en-US" sz="1000" dirty="0"/>
          </a:p>
        </p:txBody>
      </p:sp>
      <p:sp>
        <p:nvSpPr>
          <p:cNvPr id="16" name="Shape 12"/>
          <p:cNvSpPr/>
          <p:nvPr/>
        </p:nvSpPr>
        <p:spPr>
          <a:xfrm>
            <a:off x="4416552" y="3223260"/>
            <a:ext cx="146304" cy="0"/>
          </a:xfrm>
          <a:prstGeom prst="line">
            <a:avLst/>
          </a:prstGeom>
          <a:noFill/>
          <a:ln w="19050">
            <a:solidFill>
              <a:srgbClr val="5F6B7A"/>
            </a:solidFill>
            <a:prstDash val="solid"/>
            <a:tailEnd type="triangle"/>
          </a:ln>
        </p:spPr>
        <p:txBody>
          <a:bodyPr/>
          <a:lstStyle/>
          <a:p>
            <a:endParaRPr/>
          </a:p>
        </p:txBody>
      </p:sp>
      <p:sp>
        <p:nvSpPr>
          <p:cNvPr id="17" name="Shape 13"/>
          <p:cNvSpPr/>
          <p:nvPr/>
        </p:nvSpPr>
        <p:spPr>
          <a:xfrm>
            <a:off x="4572000" y="1783080"/>
            <a:ext cx="1847088" cy="2880360"/>
          </a:xfrm>
          <a:prstGeom prst="roundRect">
            <a:avLst>
              <a:gd name="adj" fmla="val 3960"/>
            </a:avLst>
          </a:prstGeom>
          <a:solidFill>
            <a:srgbClr val="FBF0E3"/>
          </a:solidFill>
          <a:ln/>
          <a:effectLst>
            <a:outerShdw blurRad="101600" dist="38100" dir="5400000" algn="bl" rotWithShape="0">
              <a:srgbClr val="0B2745">
                <a:alpha val="12000"/>
              </a:srgbClr>
            </a:outerShdw>
          </a:effectLst>
        </p:spPr>
        <p:txBody>
          <a:bodyPr/>
          <a:lstStyle/>
          <a:p>
            <a:endParaRPr/>
          </a:p>
        </p:txBody>
      </p:sp>
      <p:sp>
        <p:nvSpPr>
          <p:cNvPr id="18" name="Shape 14"/>
          <p:cNvSpPr/>
          <p:nvPr/>
        </p:nvSpPr>
        <p:spPr>
          <a:xfrm>
            <a:off x="5202936" y="2020824"/>
            <a:ext cx="585216" cy="585216"/>
          </a:xfrm>
          <a:prstGeom prst="ellipse">
            <a:avLst/>
          </a:prstGeom>
          <a:solidFill>
            <a:srgbClr val="FFFFFF"/>
          </a:solidFill>
          <a:ln/>
        </p:spPr>
        <p:txBody>
          <a:bodyPr/>
          <a:lstStyle/>
          <a:p>
            <a:endParaRPr/>
          </a:p>
        </p:txBody>
      </p:sp>
      <p:pic>
        <p:nvPicPr>
          <p:cNvPr id="19"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20" name="Text 15"/>
          <p:cNvSpPr/>
          <p:nvPr/>
        </p:nvSpPr>
        <p:spPr>
          <a:xfrm>
            <a:off x="466344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3. Flag, Don't Fabricate</a:t>
            </a:r>
            <a:endParaRPr lang="en-US" sz="1150" dirty="0"/>
          </a:p>
        </p:txBody>
      </p:sp>
      <p:sp>
        <p:nvSpPr>
          <p:cNvPr id="21" name="Text 16"/>
          <p:cNvSpPr/>
          <p:nvPr/>
        </p:nvSpPr>
        <p:spPr>
          <a:xfrm>
            <a:off x="471830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Agent stops and surfaces exactly what is missing, with no invented content.</a:t>
            </a:r>
            <a:endParaRPr lang="en-US" sz="1000" dirty="0"/>
          </a:p>
        </p:txBody>
      </p:sp>
      <p:sp>
        <p:nvSpPr>
          <p:cNvPr id="22" name="Shape 17"/>
          <p:cNvSpPr/>
          <p:nvPr/>
        </p:nvSpPr>
        <p:spPr>
          <a:xfrm>
            <a:off x="6428232" y="3223260"/>
            <a:ext cx="146304" cy="0"/>
          </a:xfrm>
          <a:prstGeom prst="line">
            <a:avLst/>
          </a:prstGeom>
          <a:noFill/>
          <a:ln w="19050">
            <a:solidFill>
              <a:srgbClr val="5F6B7A"/>
            </a:solidFill>
            <a:prstDash val="solid"/>
            <a:tailEnd type="triangle"/>
          </a:ln>
        </p:spPr>
        <p:txBody>
          <a:bodyPr/>
          <a:lstStyle/>
          <a:p>
            <a:endParaRPr/>
          </a:p>
        </p:txBody>
      </p:sp>
      <p:sp>
        <p:nvSpPr>
          <p:cNvPr id="23" name="Shape 18"/>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4" name="Shape 19"/>
          <p:cNvSpPr/>
          <p:nvPr/>
        </p:nvSpPr>
        <p:spPr>
          <a:xfrm>
            <a:off x="7214616" y="2020824"/>
            <a:ext cx="585216" cy="585216"/>
          </a:xfrm>
          <a:prstGeom prst="ellipse">
            <a:avLst/>
          </a:prstGeom>
          <a:solidFill>
            <a:srgbClr val="FFFFFF"/>
          </a:solidFill>
          <a:ln/>
        </p:spPr>
        <p:txBody>
          <a:bodyPr/>
          <a:lstStyle/>
          <a:p>
            <a:endParaRPr/>
          </a:p>
        </p:txBody>
      </p:sp>
      <p:pic>
        <p:nvPicPr>
          <p:cNvPr id="25"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6" name="Text 20"/>
          <p:cNvSpPr/>
          <p:nvPr/>
        </p:nvSpPr>
        <p:spPr>
          <a:xfrm>
            <a:off x="6675120" y="2770632"/>
            <a:ext cx="1664208" cy="365760"/>
          </a:xfrm>
          <a:prstGeom prst="rect">
            <a:avLst/>
          </a:prstGeom>
          <a:noFill/>
          <a:ln/>
        </p:spPr>
        <p:txBody>
          <a:bodyPr wrap="square" lIns="0" tIns="0" rIns="0" bIns="0" rtlCol="0" anchor="ctr"/>
          <a:lstStyle/>
          <a:p>
            <a:pPr marL="0" indent="0" algn="ctr">
              <a:buNone/>
            </a:pPr>
            <a:r>
              <a:rPr lang="en-US" sz="1150" b="1" dirty="0">
                <a:solidFill>
                  <a:srgbClr val="12355B"/>
                </a:solidFill>
                <a:latin typeface="Calibri" pitchFamily="34" charset="0"/>
                <a:ea typeface="Calibri" pitchFamily="34" charset="-122"/>
                <a:cs typeface="Calibri" pitchFamily="34" charset="-120"/>
              </a:rPr>
              <a:t>4. Human Follow-Up</a:t>
            </a:r>
            <a:endParaRPr lang="en-US" sz="1150" dirty="0"/>
          </a:p>
        </p:txBody>
      </p:sp>
      <p:sp>
        <p:nvSpPr>
          <p:cNvPr id="27" name="Text 21"/>
          <p:cNvSpPr/>
          <p:nvPr/>
        </p:nvSpPr>
        <p:spPr>
          <a:xfrm>
            <a:off x="6729984" y="3172968"/>
            <a:ext cx="1554480" cy="1371600"/>
          </a:xfrm>
          <a:prstGeom prst="rect">
            <a:avLst/>
          </a:prstGeom>
          <a:noFill/>
          <a:ln/>
        </p:spPr>
        <p:txBody>
          <a:bodyPr wrap="square" lIns="0" tIns="0" rIns="0" bIns="0" rtlCol="0" anchor="t"/>
          <a:lstStyle/>
          <a:p>
            <a:pPr marL="0" indent="0" algn="ctr">
              <a:lnSpc>
                <a:spcPct val="115000"/>
              </a:lnSpc>
              <a:buNone/>
            </a:pPr>
            <a:r>
              <a:rPr lang="en-US" sz="1000" dirty="0">
                <a:solidFill>
                  <a:srgbClr val="5F6B7A"/>
                </a:solidFill>
                <a:latin typeface="Calibri" pitchFamily="34" charset="0"/>
                <a:ea typeface="Calibri" pitchFamily="34" charset="-122"/>
                <a:cs typeface="Calibri" pitchFamily="34" charset="-120"/>
              </a:rPr>
              <a:t>Writer supplies the missing detail; only then does drafting continue.</a:t>
            </a:r>
            <a:endParaRPr lang="en-US" sz="1000" dirty="0"/>
          </a:p>
        </p:txBody>
      </p:sp>
      <p:sp>
        <p:nvSpPr>
          <p:cNvPr id="28" name="Text 22"/>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9" name="Text 23"/>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2  · DEMONSTRATION</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Scenario 2 Result: The Gap-Flag in Action</a:t>
            </a:r>
            <a:endParaRPr lang="en-US" sz="2400" dirty="0"/>
          </a:p>
        </p:txBody>
      </p:sp>
      <p:sp>
        <p:nvSpPr>
          <p:cNvPr id="4" name="Shape 2"/>
          <p:cNvSpPr/>
          <p:nvPr/>
        </p:nvSpPr>
        <p:spPr>
          <a:xfrm>
            <a:off x="548640" y="1371600"/>
            <a:ext cx="8046720" cy="1417320"/>
          </a:xfrm>
          <a:prstGeom prst="roundRect">
            <a:avLst>
              <a:gd name="adj" fmla="val 5161"/>
            </a:avLst>
          </a:prstGeom>
          <a:solidFill>
            <a:srgbClr val="FBF0E3"/>
          </a:solidFill>
          <a:ln/>
          <a:effectLst>
            <a:outerShdw blurRad="101600" dist="38100" dir="5400000" algn="bl" rotWithShape="0">
              <a:srgbClr val="0B2745">
                <a:alpha val="12000"/>
              </a:srgbClr>
            </a:outerShdw>
          </a:effectLst>
        </p:spPr>
        <p:txBody>
          <a:bodyPr/>
          <a:lstStyle/>
          <a:p>
            <a:endParaRPr/>
          </a:p>
        </p:txBody>
      </p:sp>
      <p:pic>
        <p:nvPicPr>
          <p:cNvPr id="5" name="Image 0" descr="preencoded.png"/>
          <p:cNvPicPr>
            <a:picLocks noChangeAspect="1"/>
          </p:cNvPicPr>
          <p:nvPr/>
        </p:nvPicPr>
        <p:blipFill>
          <a:blip r:embed="rId3"/>
          <a:stretch>
            <a:fillRect/>
          </a:stretch>
        </p:blipFill>
        <p:spPr>
          <a:xfrm>
            <a:off x="822960" y="1691640"/>
            <a:ext cx="502920" cy="502920"/>
          </a:xfrm>
          <a:prstGeom prst="rect">
            <a:avLst/>
          </a:prstGeom>
        </p:spPr>
      </p:pic>
      <p:sp>
        <p:nvSpPr>
          <p:cNvPr id="6" name="Text 3"/>
          <p:cNvSpPr/>
          <p:nvPr/>
        </p:nvSpPr>
        <p:spPr>
          <a:xfrm>
            <a:off x="1508760" y="1572768"/>
            <a:ext cx="6858000" cy="1005840"/>
          </a:xfrm>
          <a:prstGeom prst="rect">
            <a:avLst/>
          </a:prstGeom>
          <a:noFill/>
          <a:ln/>
        </p:spPr>
        <p:txBody>
          <a:bodyPr wrap="square" lIns="0" tIns="0" rIns="0" bIns="0" rtlCol="0" anchor="ctr"/>
          <a:lstStyle/>
          <a:p>
            <a:pPr marL="0" indent="0">
              <a:lnSpc>
                <a:spcPct val="130000"/>
              </a:lnSpc>
              <a:buNone/>
            </a:pPr>
            <a:r>
              <a:rPr lang="en-US" sz="1300" b="1" dirty="0">
                <a:solidFill>
                  <a:srgbClr val="12355B"/>
                </a:solidFill>
                <a:latin typeface="Calibri" pitchFamily="34" charset="0"/>
                <a:ea typeface="Calibri" pitchFamily="34" charset="-122"/>
                <a:cs typeface="Calibri" pitchFamily="34" charset="-120"/>
              </a:rPr>
              <a:t>Gap Detected — Cannot Complete Draft</a:t>
            </a:r>
            <a:endParaRPr lang="en-US" sz="1300" dirty="0"/>
          </a:p>
          <a:p>
            <a:pPr marL="0" indent="0">
              <a:lnSpc>
                <a:spcPct val="130000"/>
              </a:lnSpc>
              <a:buNone/>
            </a:pPr>
            <a:r>
              <a:rPr lang="en-US" sz="1300" dirty="0">
                <a:solidFill>
                  <a:srgbClr val="1C2530"/>
                </a:solidFill>
                <a:latin typeface="Calibri" pitchFamily="34" charset="0"/>
                <a:ea typeface="Calibri" pitchFamily="34" charset="-122"/>
                <a:cs typeface="Calibri" pitchFamily="34" charset="-120"/>
              </a:rPr>
              <a:t>Missing: customer impact statement for YT-4108 (Reporting module). Please provide before I continue drafting.</a:t>
            </a:r>
            <a:endParaRPr lang="en-US" sz="1300" dirty="0"/>
          </a:p>
        </p:txBody>
      </p:sp>
      <p:sp>
        <p:nvSpPr>
          <p:cNvPr id="7" name="Shape 4"/>
          <p:cNvSpPr/>
          <p:nvPr/>
        </p:nvSpPr>
        <p:spPr>
          <a:xfrm>
            <a:off x="548640" y="3063240"/>
            <a:ext cx="2606040" cy="1417320"/>
          </a:xfrm>
          <a:prstGeom prst="roundRect">
            <a:avLst>
              <a:gd name="adj" fmla="val 5161"/>
            </a:avLst>
          </a:prstGeom>
          <a:solidFill>
            <a:srgbClr val="EEF1F3"/>
          </a:solidFill>
          <a:ln/>
        </p:spPr>
        <p:txBody>
          <a:bodyPr/>
          <a:lstStyle/>
          <a:p>
            <a:endParaRPr/>
          </a:p>
        </p:txBody>
      </p:sp>
      <p:pic>
        <p:nvPicPr>
          <p:cNvPr id="8" name="Image 1" descr="preencoded.png"/>
          <p:cNvPicPr>
            <a:picLocks noChangeAspect="1"/>
          </p:cNvPicPr>
          <p:nvPr/>
        </p:nvPicPr>
        <p:blipFill>
          <a:blip r:embed="rId4"/>
          <a:stretch>
            <a:fillRect/>
          </a:stretch>
        </p:blipFill>
        <p:spPr>
          <a:xfrm>
            <a:off x="731520" y="3264408"/>
            <a:ext cx="365760" cy="365760"/>
          </a:xfrm>
          <a:prstGeom prst="rect">
            <a:avLst/>
          </a:prstGeom>
        </p:spPr>
      </p:pic>
      <p:sp>
        <p:nvSpPr>
          <p:cNvPr id="9" name="Text 5"/>
          <p:cNvSpPr/>
          <p:nvPr/>
        </p:nvSpPr>
        <p:spPr>
          <a:xfrm>
            <a:off x="7315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No content is invented to fill the silence</a:t>
            </a:r>
            <a:endParaRPr lang="en-US" sz="1150" dirty="0"/>
          </a:p>
        </p:txBody>
      </p:sp>
      <p:sp>
        <p:nvSpPr>
          <p:cNvPr id="10" name="Shape 6"/>
          <p:cNvSpPr/>
          <p:nvPr/>
        </p:nvSpPr>
        <p:spPr>
          <a:xfrm>
            <a:off x="3291840" y="3063240"/>
            <a:ext cx="2606040" cy="1417320"/>
          </a:xfrm>
          <a:prstGeom prst="roundRect">
            <a:avLst>
              <a:gd name="adj" fmla="val 5161"/>
            </a:avLst>
          </a:prstGeom>
          <a:solidFill>
            <a:srgbClr val="EEF1F3"/>
          </a:solidFill>
          <a:ln/>
        </p:spPr>
        <p:txBody>
          <a:bodyPr/>
          <a:lstStyle/>
          <a:p>
            <a:endParaRPr/>
          </a:p>
        </p:txBody>
      </p:sp>
      <p:pic>
        <p:nvPicPr>
          <p:cNvPr id="11" name="Image 2" descr="preencoded.png"/>
          <p:cNvPicPr>
            <a:picLocks noChangeAspect="1"/>
          </p:cNvPicPr>
          <p:nvPr/>
        </p:nvPicPr>
        <p:blipFill>
          <a:blip r:embed="rId5"/>
          <a:stretch>
            <a:fillRect/>
          </a:stretch>
        </p:blipFill>
        <p:spPr>
          <a:xfrm>
            <a:off x="3474720" y="3264408"/>
            <a:ext cx="365760" cy="365760"/>
          </a:xfrm>
          <a:prstGeom prst="rect">
            <a:avLst/>
          </a:prstGeom>
        </p:spPr>
      </p:pic>
      <p:sp>
        <p:nvSpPr>
          <p:cNvPr id="12" name="Text 7"/>
          <p:cNvSpPr/>
          <p:nvPr/>
        </p:nvSpPr>
        <p:spPr>
          <a:xfrm>
            <a:off x="34747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Draft pauses and routes back to the writer</a:t>
            </a:r>
            <a:endParaRPr lang="en-US" sz="1150" dirty="0"/>
          </a:p>
        </p:txBody>
      </p:sp>
      <p:sp>
        <p:nvSpPr>
          <p:cNvPr id="13" name="Shape 8"/>
          <p:cNvSpPr/>
          <p:nvPr/>
        </p:nvSpPr>
        <p:spPr>
          <a:xfrm>
            <a:off x="6035040" y="3063240"/>
            <a:ext cx="2606040" cy="1417320"/>
          </a:xfrm>
          <a:prstGeom prst="roundRect">
            <a:avLst>
              <a:gd name="adj" fmla="val 5161"/>
            </a:avLst>
          </a:prstGeom>
          <a:solidFill>
            <a:srgbClr val="EEF1F3"/>
          </a:solidFill>
          <a:ln/>
        </p:spPr>
        <p:txBody>
          <a:bodyPr/>
          <a:lstStyle/>
          <a:p>
            <a:endParaRPr/>
          </a:p>
        </p:txBody>
      </p:sp>
      <p:pic>
        <p:nvPicPr>
          <p:cNvPr id="14" name="Image 3" descr="preencoded.png"/>
          <p:cNvPicPr>
            <a:picLocks noChangeAspect="1"/>
          </p:cNvPicPr>
          <p:nvPr/>
        </p:nvPicPr>
        <p:blipFill>
          <a:blip r:embed="rId6"/>
          <a:stretch>
            <a:fillRect/>
          </a:stretch>
        </p:blipFill>
        <p:spPr>
          <a:xfrm>
            <a:off x="6217920" y="3264408"/>
            <a:ext cx="365760" cy="365760"/>
          </a:xfrm>
          <a:prstGeom prst="rect">
            <a:avLst/>
          </a:prstGeom>
        </p:spPr>
      </p:pic>
      <p:sp>
        <p:nvSpPr>
          <p:cNvPr id="15" name="Text 9"/>
          <p:cNvSpPr/>
          <p:nvPr/>
        </p:nvSpPr>
        <p:spPr>
          <a:xfrm>
            <a:off x="6217920" y="3721608"/>
            <a:ext cx="2240280" cy="685800"/>
          </a:xfrm>
          <a:prstGeom prst="rect">
            <a:avLst/>
          </a:prstGeom>
          <a:noFill/>
          <a:ln/>
        </p:spPr>
        <p:txBody>
          <a:bodyPr wrap="square" lIns="0" tIns="0" rIns="0" bIns="0" rtlCol="0" anchor="ctr"/>
          <a:lstStyle/>
          <a:p>
            <a:pPr marL="0" indent="0">
              <a:lnSpc>
                <a:spcPct val="120000"/>
              </a:lnSpc>
              <a:buNone/>
            </a:pPr>
            <a:r>
              <a:rPr lang="en-US" sz="1150" dirty="0">
                <a:solidFill>
                  <a:srgbClr val="1C2530"/>
                </a:solidFill>
                <a:latin typeface="Calibri" pitchFamily="34" charset="0"/>
                <a:ea typeface="Calibri" pitchFamily="34" charset="-122"/>
                <a:cs typeface="Calibri" pitchFamily="34" charset="-120"/>
              </a:rPr>
              <a:t>Resumes only once the human supplies the fact</a:t>
            </a:r>
            <a:endParaRPr lang="en-US" sz="1150" dirty="0"/>
          </a:p>
        </p:txBody>
      </p:sp>
      <p:sp>
        <p:nvSpPr>
          <p:cNvPr id="16" name="Text 10"/>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17" name="Text 11"/>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6858000" cy="169277"/>
          </a:xfrm>
          <a:prstGeom prst="rect">
            <a:avLst/>
          </a:prstGeom>
          <a:noFill/>
        </p:spPr>
        <p:txBody>
          <a:bodyPr wrap="square" lIns="0" tIns="0" rIns="0" bIns="0">
            <a:spAutoFit/>
          </a:bodyPr>
          <a:lstStyle/>
          <a:p>
            <a:pPr algn="l"/>
            <a:r>
              <a:rPr sz="1100" b="1" i="0" dirty="0">
                <a:solidFill>
                  <a:srgbClr val="2A9D8F"/>
                </a:solidFill>
                <a:latin typeface="Calibri"/>
              </a:rPr>
              <a:t>SECTION 2  · DEMONSTRATION</a:t>
            </a:r>
          </a:p>
        </p:txBody>
      </p:sp>
      <p:sp>
        <p:nvSpPr>
          <p:cNvPr id="3" name="TextBox 2"/>
          <p:cNvSpPr txBox="1"/>
          <p:nvPr/>
        </p:nvSpPr>
        <p:spPr>
          <a:xfrm>
            <a:off x="548640" y="594360"/>
            <a:ext cx="8046720" cy="594360"/>
          </a:xfrm>
          <a:prstGeom prst="rect">
            <a:avLst/>
          </a:prstGeom>
          <a:noFill/>
        </p:spPr>
        <p:txBody>
          <a:bodyPr wrap="square" lIns="0" tIns="0" rIns="0" bIns="0">
            <a:spAutoFit/>
          </a:bodyPr>
          <a:lstStyle/>
          <a:p>
            <a:pPr algn="l"/>
            <a:r>
              <a:rPr sz="2400" b="1" i="0">
                <a:solidFill>
                  <a:srgbClr val="12355B"/>
                </a:solidFill>
                <a:latin typeface="Cambria"/>
              </a:rPr>
              <a:t>Watch It Run: Both Scenarios End to End</a:t>
            </a:r>
          </a:p>
        </p:txBody>
      </p:sp>
      <p:sp>
        <p:nvSpPr>
          <p:cNvPr id="4" name="TextBox 3"/>
          <p:cNvSpPr txBox="1"/>
          <p:nvPr/>
        </p:nvSpPr>
        <p:spPr>
          <a:xfrm>
            <a:off x="548640" y="1161288"/>
            <a:ext cx="7863840" cy="365760"/>
          </a:xfrm>
          <a:prstGeom prst="rect">
            <a:avLst/>
          </a:prstGeom>
          <a:noFill/>
        </p:spPr>
        <p:txBody>
          <a:bodyPr wrap="square" lIns="0" tIns="0" rIns="0" bIns="0">
            <a:spAutoFit/>
          </a:bodyPr>
          <a:lstStyle/>
          <a:p>
            <a:pPr algn="l"/>
            <a:r>
              <a:rPr sz="1300" b="0" i="0">
                <a:solidFill>
                  <a:srgbClr val="5F6B7A"/>
                </a:solidFill>
                <a:latin typeface="Calibri"/>
              </a:rPr>
              <a:t>A recorded run of the interactive workflow walkthrough — Feature Release, then Mixed Release.</a:t>
            </a:r>
          </a:p>
        </p:txBody>
      </p:sp>
      <p:pic>
        <p:nvPicPr>
          <p:cNvPr id="5" name="walkthrough.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411730" y="1691640"/>
            <a:ext cx="4320540" cy="2880360"/>
          </a:xfrm>
          <a:prstGeom prst="rect">
            <a:avLst/>
          </a:prstGeom>
        </p:spPr>
      </p:pic>
      <p:sp>
        <p:nvSpPr>
          <p:cNvPr id="6" name="TextBox 5"/>
          <p:cNvSpPr txBox="1"/>
          <p:nvPr/>
        </p:nvSpPr>
        <p:spPr>
          <a:xfrm>
            <a:off x="457200" y="4846320"/>
            <a:ext cx="5486400" cy="228600"/>
          </a:xfrm>
          <a:prstGeom prst="rect">
            <a:avLst/>
          </a:prstGeom>
          <a:noFill/>
        </p:spPr>
        <p:txBody>
          <a:bodyPr wrap="square" lIns="0" tIns="0" rIns="0" bIns="0">
            <a:spAutoFit/>
          </a:bodyPr>
          <a:lstStyle/>
          <a:p>
            <a:pPr algn="l"/>
            <a:r>
              <a:rPr sz="900" b="0" i="0">
                <a:solidFill>
                  <a:srgbClr val="70798A"/>
                </a:solidFill>
                <a:latin typeface="Calibri"/>
              </a:rPr>
              <a:t>AI-Assisted Documentation Workflow Automation</a:t>
            </a:r>
          </a:p>
        </p:txBody>
      </p:sp>
      <p:sp>
        <p:nvSpPr>
          <p:cNvPr id="7" name="TextBox 6"/>
          <p:cNvSpPr txBox="1"/>
          <p:nvPr/>
        </p:nvSpPr>
        <p:spPr>
          <a:xfrm>
            <a:off x="8412480" y="4846320"/>
            <a:ext cx="274320" cy="228600"/>
          </a:xfrm>
          <a:prstGeom prst="rect">
            <a:avLst/>
          </a:prstGeom>
          <a:noFill/>
        </p:spPr>
        <p:txBody>
          <a:bodyPr wrap="square" lIns="0" tIns="0" rIns="0" bIns="0">
            <a:spAutoFit/>
          </a:bodyPr>
          <a:lstStyle/>
          <a:p>
            <a:pPr algn="r"/>
            <a:r>
              <a:rPr sz="900" b="0" i="0">
                <a:solidFill>
                  <a:srgbClr val="70798A"/>
                </a:solidFill>
                <a:latin typeface="Calibri"/>
              </a:rPr>
              <a:t>12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500" b="1" dirty="0">
                <a:solidFill>
                  <a:srgbClr val="12355B"/>
                </a:solidFill>
                <a:latin typeface="Cambria" pitchFamily="34" charset="0"/>
                <a:ea typeface="Cambria" pitchFamily="34" charset="-122"/>
                <a:cs typeface="Cambria" pitchFamily="34" charset="-120"/>
              </a:rPr>
              <a:t>Responsible AI: Four Governance Principles</a:t>
            </a:r>
            <a:endParaRPr lang="en-US" sz="2500" dirty="0"/>
          </a:p>
        </p:txBody>
      </p:sp>
      <p:sp>
        <p:nvSpPr>
          <p:cNvPr id="4" name="Text 2"/>
          <p:cNvSpPr/>
          <p:nvPr/>
        </p:nvSpPr>
        <p:spPr>
          <a:xfrm>
            <a:off x="548640" y="1161288"/>
            <a:ext cx="7863840" cy="365760"/>
          </a:xfrm>
          <a:prstGeom prst="rect">
            <a:avLst/>
          </a:prstGeom>
          <a:noFill/>
          <a:ln/>
        </p:spPr>
        <p:txBody>
          <a:bodyPr wrap="square" lIns="0" tIns="0" rIns="0" bIns="0" rtlCol="0" anchor="ctr"/>
          <a:lstStyle/>
          <a:p>
            <a:pPr marL="0" indent="0">
              <a:buNone/>
            </a:pPr>
            <a:r>
              <a:rPr lang="en-US" sz="1300" dirty="0">
                <a:solidFill>
                  <a:srgbClr val="5F6B7A"/>
                </a:solidFill>
                <a:latin typeface="Calibri" pitchFamily="34" charset="0"/>
                <a:ea typeface="Calibri" pitchFamily="34" charset="-122"/>
                <a:cs typeface="Calibri" pitchFamily="34" charset="-120"/>
              </a:rPr>
              <a:t>Every principle traces back to one idea: AI assists, humans decide.</a:t>
            </a:r>
            <a:endParaRPr lang="en-US" sz="1300" dirty="0"/>
          </a:p>
        </p:txBody>
      </p:sp>
      <p:sp>
        <p:nvSpPr>
          <p:cNvPr id="5" name="Shape 3"/>
          <p:cNvSpPr/>
          <p:nvPr/>
        </p:nvSpPr>
        <p:spPr>
          <a:xfrm>
            <a:off x="54864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6" name="Shape 4"/>
          <p:cNvSpPr/>
          <p:nvPr/>
        </p:nvSpPr>
        <p:spPr>
          <a:xfrm>
            <a:off x="1179576" y="2020824"/>
            <a:ext cx="585216" cy="585216"/>
          </a:xfrm>
          <a:prstGeom prst="ellipse">
            <a:avLst/>
          </a:prstGeom>
          <a:solidFill>
            <a:srgbClr val="FFFFFF"/>
          </a:solidFill>
          <a:ln/>
        </p:spPr>
        <p:txBody>
          <a:bodyPr/>
          <a:lstStyle/>
          <a:p>
            <a:endParaRPr/>
          </a:p>
        </p:txBody>
      </p:sp>
      <p:pic>
        <p:nvPicPr>
          <p:cNvPr id="7" name="Image 0" descr="preencoded.png"/>
          <p:cNvPicPr>
            <a:picLocks noChangeAspect="1"/>
          </p:cNvPicPr>
          <p:nvPr/>
        </p:nvPicPr>
        <p:blipFill>
          <a:blip r:embed="rId3"/>
          <a:stretch>
            <a:fillRect/>
          </a:stretch>
        </p:blipFill>
        <p:spPr>
          <a:xfrm>
            <a:off x="1298448" y="2139696"/>
            <a:ext cx="347472" cy="347472"/>
          </a:xfrm>
          <a:prstGeom prst="rect">
            <a:avLst/>
          </a:prstGeom>
        </p:spPr>
      </p:pic>
      <p:sp>
        <p:nvSpPr>
          <p:cNvPr id="8" name="Text 5"/>
          <p:cNvSpPr/>
          <p:nvPr/>
        </p:nvSpPr>
        <p:spPr>
          <a:xfrm>
            <a:off x="64008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Final Approval is Human</a:t>
            </a:r>
            <a:endParaRPr lang="en-US" sz="1200" dirty="0"/>
          </a:p>
        </p:txBody>
      </p:sp>
      <p:sp>
        <p:nvSpPr>
          <p:cNvPr id="9" name="Text 6"/>
          <p:cNvSpPr/>
          <p:nvPr/>
        </p:nvSpPr>
        <p:spPr>
          <a:xfrm>
            <a:off x="69494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No draft reaches customers without explicit sign-off from a person.</a:t>
            </a:r>
            <a:endParaRPr lang="en-US" sz="1020" dirty="0"/>
          </a:p>
        </p:txBody>
      </p:sp>
      <p:sp>
        <p:nvSpPr>
          <p:cNvPr id="10" name="Shape 7"/>
          <p:cNvSpPr/>
          <p:nvPr/>
        </p:nvSpPr>
        <p:spPr>
          <a:xfrm>
            <a:off x="256032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Shape 8"/>
          <p:cNvSpPr/>
          <p:nvPr/>
        </p:nvSpPr>
        <p:spPr>
          <a:xfrm>
            <a:off x="3191256" y="2020824"/>
            <a:ext cx="585216" cy="585216"/>
          </a:xfrm>
          <a:prstGeom prst="ellipse">
            <a:avLst/>
          </a:prstGeom>
          <a:solidFill>
            <a:srgbClr val="FFFFFF"/>
          </a:solidFill>
          <a:ln/>
        </p:spPr>
        <p:txBody>
          <a:bodyPr/>
          <a:lstStyle/>
          <a:p>
            <a:endParaRPr/>
          </a:p>
        </p:txBody>
      </p:sp>
      <p:pic>
        <p:nvPicPr>
          <p:cNvPr id="12" name="Image 1" descr="preencoded.png"/>
          <p:cNvPicPr>
            <a:picLocks noChangeAspect="1"/>
          </p:cNvPicPr>
          <p:nvPr/>
        </p:nvPicPr>
        <p:blipFill>
          <a:blip r:embed="rId4"/>
          <a:stretch>
            <a:fillRect/>
          </a:stretch>
        </p:blipFill>
        <p:spPr>
          <a:xfrm>
            <a:off x="3310128" y="2139696"/>
            <a:ext cx="347472" cy="347472"/>
          </a:xfrm>
          <a:prstGeom prst="rect">
            <a:avLst/>
          </a:prstGeom>
        </p:spPr>
      </p:pic>
      <p:sp>
        <p:nvSpPr>
          <p:cNvPr id="13" name="Text 9"/>
          <p:cNvSpPr/>
          <p:nvPr/>
        </p:nvSpPr>
        <p:spPr>
          <a:xfrm>
            <a:off x="265176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No Fabrication</a:t>
            </a:r>
            <a:endParaRPr lang="en-US" sz="1200" dirty="0"/>
          </a:p>
        </p:txBody>
      </p:sp>
      <p:sp>
        <p:nvSpPr>
          <p:cNvPr id="14" name="Text 10"/>
          <p:cNvSpPr/>
          <p:nvPr/>
        </p:nvSpPr>
        <p:spPr>
          <a:xfrm>
            <a:off x="270662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When information is missing, the AI flags it — it never invents detail.</a:t>
            </a:r>
            <a:endParaRPr lang="en-US" sz="1020" dirty="0"/>
          </a:p>
        </p:txBody>
      </p:sp>
      <p:sp>
        <p:nvSpPr>
          <p:cNvPr id="15" name="Shape 11"/>
          <p:cNvSpPr/>
          <p:nvPr/>
        </p:nvSpPr>
        <p:spPr>
          <a:xfrm>
            <a:off x="4572000" y="1783080"/>
            <a:ext cx="1847088" cy="2880360"/>
          </a:xfrm>
          <a:prstGeom prst="roundRect">
            <a:avLst>
              <a:gd name="adj" fmla="val 3960"/>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16" name="Shape 12"/>
          <p:cNvSpPr/>
          <p:nvPr/>
        </p:nvSpPr>
        <p:spPr>
          <a:xfrm>
            <a:off x="5202936" y="2020824"/>
            <a:ext cx="585216" cy="585216"/>
          </a:xfrm>
          <a:prstGeom prst="ellipse">
            <a:avLst/>
          </a:prstGeom>
          <a:solidFill>
            <a:srgbClr val="FFFFFF"/>
          </a:solidFill>
          <a:ln/>
        </p:spPr>
        <p:txBody>
          <a:bodyPr/>
          <a:lstStyle/>
          <a:p>
            <a:endParaRPr/>
          </a:p>
        </p:txBody>
      </p:sp>
      <p:pic>
        <p:nvPicPr>
          <p:cNvPr id="17" name="Image 2" descr="preencoded.png"/>
          <p:cNvPicPr>
            <a:picLocks noChangeAspect="1"/>
          </p:cNvPicPr>
          <p:nvPr/>
        </p:nvPicPr>
        <p:blipFill>
          <a:blip r:embed="rId5"/>
          <a:stretch>
            <a:fillRect/>
          </a:stretch>
        </p:blipFill>
        <p:spPr>
          <a:xfrm>
            <a:off x="5321808" y="2139696"/>
            <a:ext cx="347472" cy="347472"/>
          </a:xfrm>
          <a:prstGeom prst="rect">
            <a:avLst/>
          </a:prstGeom>
        </p:spPr>
      </p:pic>
      <p:sp>
        <p:nvSpPr>
          <p:cNvPr id="18" name="Text 13"/>
          <p:cNvSpPr/>
          <p:nvPr/>
        </p:nvSpPr>
        <p:spPr>
          <a:xfrm>
            <a:off x="466344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Transparent Reasoning</a:t>
            </a:r>
            <a:endParaRPr lang="en-US" sz="1200" dirty="0"/>
          </a:p>
        </p:txBody>
      </p:sp>
      <p:sp>
        <p:nvSpPr>
          <p:cNvPr id="19" name="Text 14"/>
          <p:cNvSpPr/>
          <p:nvPr/>
        </p:nvSpPr>
        <p:spPr>
          <a:xfrm>
            <a:off x="471830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Every AI output can be traced back to the source ticket it drew from.</a:t>
            </a:r>
            <a:endParaRPr lang="en-US" sz="1020" dirty="0"/>
          </a:p>
        </p:txBody>
      </p:sp>
      <p:sp>
        <p:nvSpPr>
          <p:cNvPr id="20" name="Shape 15"/>
          <p:cNvSpPr/>
          <p:nvPr/>
        </p:nvSpPr>
        <p:spPr>
          <a:xfrm>
            <a:off x="6583680" y="1783080"/>
            <a:ext cx="1847088" cy="2880360"/>
          </a:xfrm>
          <a:prstGeom prst="roundRect">
            <a:avLst>
              <a:gd name="adj" fmla="val 3960"/>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21" name="Shape 16"/>
          <p:cNvSpPr/>
          <p:nvPr/>
        </p:nvSpPr>
        <p:spPr>
          <a:xfrm>
            <a:off x="7214616" y="2020824"/>
            <a:ext cx="585216" cy="585216"/>
          </a:xfrm>
          <a:prstGeom prst="ellipse">
            <a:avLst/>
          </a:prstGeom>
          <a:solidFill>
            <a:srgbClr val="FFFFFF"/>
          </a:solidFill>
          <a:ln/>
        </p:spPr>
        <p:txBody>
          <a:bodyPr/>
          <a:lstStyle/>
          <a:p>
            <a:endParaRPr/>
          </a:p>
        </p:txBody>
      </p:sp>
      <p:pic>
        <p:nvPicPr>
          <p:cNvPr id="22" name="Image 3" descr="preencoded.png"/>
          <p:cNvPicPr>
            <a:picLocks noChangeAspect="1"/>
          </p:cNvPicPr>
          <p:nvPr/>
        </p:nvPicPr>
        <p:blipFill>
          <a:blip r:embed="rId6"/>
          <a:stretch>
            <a:fillRect/>
          </a:stretch>
        </p:blipFill>
        <p:spPr>
          <a:xfrm>
            <a:off x="7333488" y="2139696"/>
            <a:ext cx="347472" cy="347472"/>
          </a:xfrm>
          <a:prstGeom prst="rect">
            <a:avLst/>
          </a:prstGeom>
        </p:spPr>
      </p:pic>
      <p:sp>
        <p:nvSpPr>
          <p:cNvPr id="23" name="Text 17"/>
          <p:cNvSpPr/>
          <p:nvPr/>
        </p:nvSpPr>
        <p:spPr>
          <a:xfrm>
            <a:off x="6675120" y="2770632"/>
            <a:ext cx="1664208" cy="502920"/>
          </a:xfrm>
          <a:prstGeom prst="rect">
            <a:avLst/>
          </a:prstGeom>
          <a:noFill/>
          <a:ln/>
        </p:spPr>
        <p:txBody>
          <a:bodyPr wrap="square" lIns="0" tIns="0" rIns="0" bIns="0" rtlCol="0" anchor="t"/>
          <a:lstStyle/>
          <a:p>
            <a:pPr marL="0" indent="0" algn="ctr">
              <a:buNone/>
            </a:pPr>
            <a:r>
              <a:rPr lang="en-US" sz="1200" b="1" dirty="0">
                <a:solidFill>
                  <a:srgbClr val="12355B"/>
                </a:solidFill>
                <a:latin typeface="Calibri" pitchFamily="34" charset="0"/>
                <a:ea typeface="Calibri" pitchFamily="34" charset="-122"/>
                <a:cs typeface="Calibri" pitchFamily="34" charset="-120"/>
              </a:rPr>
              <a:t>Auditable Trail</a:t>
            </a:r>
            <a:endParaRPr lang="en-US" sz="1200" dirty="0"/>
          </a:p>
        </p:txBody>
      </p:sp>
      <p:sp>
        <p:nvSpPr>
          <p:cNvPr id="24" name="Text 18"/>
          <p:cNvSpPr/>
          <p:nvPr/>
        </p:nvSpPr>
        <p:spPr>
          <a:xfrm>
            <a:off x="6729984" y="3300984"/>
            <a:ext cx="1554480" cy="1280160"/>
          </a:xfrm>
          <a:prstGeom prst="rect">
            <a:avLst/>
          </a:prstGeom>
          <a:noFill/>
          <a:ln/>
        </p:spPr>
        <p:txBody>
          <a:bodyPr wrap="square" lIns="0" tIns="0" rIns="0" bIns="0" rtlCol="0" anchor="t"/>
          <a:lstStyle/>
          <a:p>
            <a:pPr marL="0" indent="0" algn="ctr">
              <a:lnSpc>
                <a:spcPct val="118000"/>
              </a:lnSpc>
              <a:buNone/>
            </a:pPr>
            <a:r>
              <a:rPr lang="en-US" sz="1020" dirty="0">
                <a:solidFill>
                  <a:srgbClr val="5F6B7A"/>
                </a:solidFill>
                <a:latin typeface="Calibri" pitchFamily="34" charset="0"/>
                <a:ea typeface="Calibri" pitchFamily="34" charset="-122"/>
                <a:cs typeface="Calibri" pitchFamily="34" charset="-120"/>
              </a:rPr>
              <a:t>Each draft, edit, and approval is logged for review after the fact.</a:t>
            </a:r>
            <a:endParaRPr lang="en-US" sz="1020" dirty="0"/>
          </a:p>
        </p:txBody>
      </p:sp>
      <p:sp>
        <p:nvSpPr>
          <p:cNvPr id="25" name="Text 19"/>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6" name="Text 20"/>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600" b="1" dirty="0">
                <a:solidFill>
                  <a:srgbClr val="12355B"/>
                </a:solidFill>
                <a:latin typeface="Cambria" pitchFamily="34" charset="0"/>
                <a:ea typeface="Cambria" pitchFamily="34" charset="-122"/>
                <a:cs typeface="Cambria" pitchFamily="34" charset="-120"/>
              </a:rPr>
              <a:t>What This Proof of Concept Validated</a:t>
            </a:r>
            <a:endParaRPr lang="en-US" sz="2600" dirty="0"/>
          </a:p>
        </p:txBody>
      </p:sp>
      <p:pic>
        <p:nvPicPr>
          <p:cNvPr id="4" name="Image 0" descr="preencoded.png"/>
          <p:cNvPicPr>
            <a:picLocks noChangeAspect="1"/>
          </p:cNvPicPr>
          <p:nvPr/>
        </p:nvPicPr>
        <p:blipFill>
          <a:blip r:embed="rId3"/>
          <a:stretch>
            <a:fillRect/>
          </a:stretch>
        </p:blipFill>
        <p:spPr>
          <a:xfrm>
            <a:off x="548640" y="1746504"/>
            <a:ext cx="274320" cy="274320"/>
          </a:xfrm>
          <a:prstGeom prst="rect">
            <a:avLst/>
          </a:prstGeom>
        </p:spPr>
      </p:pic>
      <p:sp>
        <p:nvSpPr>
          <p:cNvPr id="5" name="Text 2"/>
          <p:cNvSpPr/>
          <p:nvPr/>
        </p:nvSpPr>
        <p:spPr>
          <a:xfrm>
            <a:off x="932688" y="1691640"/>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End-to-end workflow automation, ticket to draft</a:t>
            </a:r>
            <a:endParaRPr lang="en-US" sz="1250" dirty="0"/>
          </a:p>
        </p:txBody>
      </p:sp>
      <p:pic>
        <p:nvPicPr>
          <p:cNvPr id="6" name="Image 1" descr="preencoded.png"/>
          <p:cNvPicPr>
            <a:picLocks noChangeAspect="1"/>
          </p:cNvPicPr>
          <p:nvPr/>
        </p:nvPicPr>
        <p:blipFill>
          <a:blip r:embed="rId3"/>
          <a:stretch>
            <a:fillRect/>
          </a:stretch>
        </p:blipFill>
        <p:spPr>
          <a:xfrm>
            <a:off x="548640" y="2404872"/>
            <a:ext cx="274320" cy="274320"/>
          </a:xfrm>
          <a:prstGeom prst="rect">
            <a:avLst/>
          </a:prstGeom>
        </p:spPr>
      </p:pic>
      <p:sp>
        <p:nvSpPr>
          <p:cNvPr id="7" name="Text 3"/>
          <p:cNvSpPr/>
          <p:nvPr/>
        </p:nvSpPr>
        <p:spPr>
          <a:xfrm>
            <a:off x="932688" y="2350008"/>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AI-assisted information extraction from YouTrack</a:t>
            </a:r>
            <a:endParaRPr lang="en-US" sz="1250" dirty="0"/>
          </a:p>
        </p:txBody>
      </p:sp>
      <p:pic>
        <p:nvPicPr>
          <p:cNvPr id="8" name="Image 2" descr="preencoded.png"/>
          <p:cNvPicPr>
            <a:picLocks noChangeAspect="1"/>
          </p:cNvPicPr>
          <p:nvPr/>
        </p:nvPicPr>
        <p:blipFill>
          <a:blip r:embed="rId3"/>
          <a:stretch>
            <a:fillRect/>
          </a:stretch>
        </p:blipFill>
        <p:spPr>
          <a:xfrm>
            <a:off x="548640" y="3063240"/>
            <a:ext cx="274320" cy="274320"/>
          </a:xfrm>
          <a:prstGeom prst="rect">
            <a:avLst/>
          </a:prstGeom>
        </p:spPr>
      </p:pic>
      <p:sp>
        <p:nvSpPr>
          <p:cNvPr id="9" name="Text 4"/>
          <p:cNvSpPr/>
          <p:nvPr/>
        </p:nvSpPr>
        <p:spPr>
          <a:xfrm>
            <a:off x="932688" y="3008376"/>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Release note generation via Commands and Skills</a:t>
            </a:r>
            <a:endParaRPr lang="en-US" sz="1250" dirty="0"/>
          </a:p>
        </p:txBody>
      </p:sp>
      <p:pic>
        <p:nvPicPr>
          <p:cNvPr id="10" name="Image 3" descr="preencoded.png"/>
          <p:cNvPicPr>
            <a:picLocks noChangeAspect="1"/>
          </p:cNvPicPr>
          <p:nvPr/>
        </p:nvPicPr>
        <p:blipFill>
          <a:blip r:embed="rId3"/>
          <a:stretch>
            <a:fillRect/>
          </a:stretch>
        </p:blipFill>
        <p:spPr>
          <a:xfrm>
            <a:off x="548640" y="3721608"/>
            <a:ext cx="274320" cy="274320"/>
          </a:xfrm>
          <a:prstGeom prst="rect">
            <a:avLst/>
          </a:prstGeom>
        </p:spPr>
      </p:pic>
      <p:sp>
        <p:nvSpPr>
          <p:cNvPr id="11" name="Text 5"/>
          <p:cNvSpPr/>
          <p:nvPr/>
        </p:nvSpPr>
        <p:spPr>
          <a:xfrm>
            <a:off x="932688" y="3666744"/>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AI self-review and quality checks before handoff</a:t>
            </a:r>
            <a:endParaRPr lang="en-US" sz="1250" dirty="0"/>
          </a:p>
        </p:txBody>
      </p:sp>
      <p:pic>
        <p:nvPicPr>
          <p:cNvPr id="12" name="Image 4" descr="preencoded.png"/>
          <p:cNvPicPr>
            <a:picLocks noChangeAspect="1"/>
          </p:cNvPicPr>
          <p:nvPr/>
        </p:nvPicPr>
        <p:blipFill>
          <a:blip r:embed="rId3"/>
          <a:stretch>
            <a:fillRect/>
          </a:stretch>
        </p:blipFill>
        <p:spPr>
          <a:xfrm>
            <a:off x="4846320" y="1746504"/>
            <a:ext cx="274320" cy="274320"/>
          </a:xfrm>
          <a:prstGeom prst="rect">
            <a:avLst/>
          </a:prstGeom>
        </p:spPr>
      </p:pic>
      <p:sp>
        <p:nvSpPr>
          <p:cNvPr id="13" name="Text 6"/>
          <p:cNvSpPr/>
          <p:nvPr/>
        </p:nvSpPr>
        <p:spPr>
          <a:xfrm>
            <a:off x="5230368" y="1691640"/>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Human review checkpoint enforced at every run</a:t>
            </a:r>
            <a:endParaRPr lang="en-US" sz="1250" dirty="0"/>
          </a:p>
        </p:txBody>
      </p:sp>
      <p:pic>
        <p:nvPicPr>
          <p:cNvPr id="14" name="Image 5" descr="preencoded.png"/>
          <p:cNvPicPr>
            <a:picLocks noChangeAspect="1"/>
          </p:cNvPicPr>
          <p:nvPr/>
        </p:nvPicPr>
        <p:blipFill>
          <a:blip r:embed="rId3"/>
          <a:stretch>
            <a:fillRect/>
          </a:stretch>
        </p:blipFill>
        <p:spPr>
          <a:xfrm>
            <a:off x="4846320" y="2404872"/>
            <a:ext cx="274320" cy="274320"/>
          </a:xfrm>
          <a:prstGeom prst="rect">
            <a:avLst/>
          </a:prstGeom>
        </p:spPr>
      </p:pic>
      <p:sp>
        <p:nvSpPr>
          <p:cNvPr id="15" name="Text 7"/>
          <p:cNvSpPr/>
          <p:nvPr/>
        </p:nvSpPr>
        <p:spPr>
          <a:xfrm>
            <a:off x="5230368" y="2350008"/>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Gap-flagging instead of fabrication on incomplete data</a:t>
            </a:r>
            <a:endParaRPr lang="en-US" sz="1250" dirty="0"/>
          </a:p>
        </p:txBody>
      </p:sp>
      <p:pic>
        <p:nvPicPr>
          <p:cNvPr id="16" name="Image 6" descr="preencoded.png"/>
          <p:cNvPicPr>
            <a:picLocks noChangeAspect="1"/>
          </p:cNvPicPr>
          <p:nvPr/>
        </p:nvPicPr>
        <p:blipFill>
          <a:blip r:embed="rId3"/>
          <a:stretch>
            <a:fillRect/>
          </a:stretch>
        </p:blipFill>
        <p:spPr>
          <a:xfrm>
            <a:off x="4846320" y="3063240"/>
            <a:ext cx="274320" cy="274320"/>
          </a:xfrm>
          <a:prstGeom prst="rect">
            <a:avLst/>
          </a:prstGeom>
        </p:spPr>
      </p:pic>
      <p:sp>
        <p:nvSpPr>
          <p:cNvPr id="17" name="Text 8"/>
          <p:cNvSpPr/>
          <p:nvPr/>
        </p:nvSpPr>
        <p:spPr>
          <a:xfrm>
            <a:off x="5230368" y="3008376"/>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Documented known limitations and open questions</a:t>
            </a:r>
            <a:endParaRPr lang="en-US" sz="1250" dirty="0"/>
          </a:p>
        </p:txBody>
      </p:sp>
      <p:pic>
        <p:nvPicPr>
          <p:cNvPr id="18" name="Image 7" descr="preencoded.png"/>
          <p:cNvPicPr>
            <a:picLocks noChangeAspect="1"/>
          </p:cNvPicPr>
          <p:nvPr/>
        </p:nvPicPr>
        <p:blipFill>
          <a:blip r:embed="rId3"/>
          <a:stretch>
            <a:fillRect/>
          </a:stretch>
        </p:blipFill>
        <p:spPr>
          <a:xfrm>
            <a:off x="4846320" y="3721608"/>
            <a:ext cx="274320" cy="274320"/>
          </a:xfrm>
          <a:prstGeom prst="rect">
            <a:avLst/>
          </a:prstGeom>
        </p:spPr>
      </p:pic>
      <p:sp>
        <p:nvSpPr>
          <p:cNvPr id="19" name="Text 9"/>
          <p:cNvSpPr/>
          <p:nvPr/>
        </p:nvSpPr>
        <p:spPr>
          <a:xfrm>
            <a:off x="5230368" y="3666744"/>
            <a:ext cx="3456432" cy="612648"/>
          </a:xfrm>
          <a:prstGeom prst="rect">
            <a:avLst/>
          </a:prstGeom>
          <a:noFill/>
          <a:ln/>
        </p:spPr>
        <p:txBody>
          <a:bodyPr wrap="square" lIns="0" tIns="0" rIns="0" bIns="0" rtlCol="0" anchor="ctr"/>
          <a:lstStyle/>
          <a:p>
            <a:pPr marL="0" indent="0">
              <a:lnSpc>
                <a:spcPct val="110000"/>
              </a:lnSpc>
              <a:buNone/>
            </a:pPr>
            <a:r>
              <a:rPr lang="en-US" sz="1250" dirty="0">
                <a:solidFill>
                  <a:srgbClr val="1C2530"/>
                </a:solidFill>
                <a:latin typeface="Calibri" pitchFamily="34" charset="0"/>
                <a:ea typeface="Calibri" pitchFamily="34" charset="-122"/>
                <a:cs typeface="Calibri" pitchFamily="34" charset="-120"/>
              </a:rPr>
              <a:t>Concept-level MCP integration path identified</a:t>
            </a:r>
            <a:endParaRPr lang="en-US" sz="1250" dirty="0"/>
          </a:p>
        </p:txBody>
      </p:sp>
      <p:sp>
        <p:nvSpPr>
          <p:cNvPr id="20" name="Shape 10"/>
          <p:cNvSpPr/>
          <p:nvPr/>
        </p:nvSpPr>
        <p:spPr>
          <a:xfrm>
            <a:off x="4617720" y="1737360"/>
            <a:ext cx="0" cy="2148840"/>
          </a:xfrm>
          <a:prstGeom prst="line">
            <a:avLst/>
          </a:prstGeom>
          <a:noFill/>
          <a:ln w="19050">
            <a:solidFill>
              <a:srgbClr val="EEF1F3"/>
            </a:solidFill>
            <a:prstDash val="solid"/>
          </a:ln>
        </p:spPr>
        <p:txBody>
          <a:bodyPr/>
          <a:lstStyle/>
          <a:p>
            <a:endParaRPr/>
          </a:p>
        </p:txBody>
      </p:sp>
      <p:sp>
        <p:nvSpPr>
          <p:cNvPr id="21" name="Text 11"/>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2" name="Text 12"/>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6858000" cy="274320"/>
          </a:xfrm>
          <a:prstGeom prst="rect">
            <a:avLst/>
          </a:prstGeom>
          <a:noFill/>
          <a:ln/>
        </p:spPr>
        <p:txBody>
          <a:bodyPr wrap="square" lIns="0" tIns="0" rIns="0" bIns="0" rtlCol="0" anchor="ctr"/>
          <a:lstStyle/>
          <a:p>
            <a:pPr marL="0" indent="0">
              <a:buNone/>
            </a:pPr>
            <a:r>
              <a:rPr lang="en-US" sz="1100" b="1" kern="0" spc="150" dirty="0">
                <a:solidFill>
                  <a:srgbClr val="2A9D8F"/>
                </a:solidFill>
                <a:latin typeface="Calibri" pitchFamily="34" charset="0"/>
                <a:ea typeface="Calibri" pitchFamily="34" charset="-122"/>
                <a:cs typeface="Calibri" pitchFamily="34" charset="-120"/>
              </a:rPr>
              <a:t>SECTION 3  ·  VALIDATION &amp; ROADMAP</a:t>
            </a:r>
            <a:endParaRPr lang="en-US" sz="1100" dirty="0"/>
          </a:p>
        </p:txBody>
      </p:sp>
      <p:sp>
        <p:nvSpPr>
          <p:cNvPr id="3" name="Text 1"/>
          <p:cNvSpPr/>
          <p:nvPr/>
        </p:nvSpPr>
        <p:spPr>
          <a:xfrm>
            <a:off x="548640" y="594360"/>
            <a:ext cx="8046720" cy="594360"/>
          </a:xfrm>
          <a:prstGeom prst="rect">
            <a:avLst/>
          </a:prstGeom>
          <a:noFill/>
          <a:ln/>
        </p:spPr>
        <p:txBody>
          <a:bodyPr wrap="square" lIns="0" tIns="0" rIns="0" bIns="0" rtlCol="0" anchor="ctr"/>
          <a:lstStyle/>
          <a:p>
            <a:pPr marL="0" indent="0">
              <a:buNone/>
            </a:pPr>
            <a:r>
              <a:rPr lang="en-US" sz="2400" b="1" dirty="0">
                <a:solidFill>
                  <a:srgbClr val="12355B"/>
                </a:solidFill>
                <a:latin typeface="Cambria" pitchFamily="34" charset="0"/>
                <a:ea typeface="Cambria" pitchFamily="34" charset="-122"/>
                <a:cs typeface="Cambria" pitchFamily="34" charset="-120"/>
              </a:rPr>
              <a:t>Roadmap: From Proof of Concept to Practice</a:t>
            </a:r>
            <a:endParaRPr lang="en-US" sz="2400" dirty="0"/>
          </a:p>
        </p:txBody>
      </p:sp>
      <p:sp>
        <p:nvSpPr>
          <p:cNvPr id="4" name="Shape 2"/>
          <p:cNvSpPr/>
          <p:nvPr/>
        </p:nvSpPr>
        <p:spPr>
          <a:xfrm>
            <a:off x="548640" y="1691640"/>
            <a:ext cx="2514600" cy="2880360"/>
          </a:xfrm>
          <a:prstGeom prst="roundRect">
            <a:avLst>
              <a:gd name="adj" fmla="val 2909"/>
            </a:avLst>
          </a:prstGeom>
          <a:solidFill>
            <a:srgbClr val="E8F5F3"/>
          </a:solidFill>
          <a:ln/>
          <a:effectLst>
            <a:outerShdw blurRad="101600" dist="38100" dir="5400000" algn="bl" rotWithShape="0">
              <a:srgbClr val="0B2745">
                <a:alpha val="12000"/>
              </a:srgbClr>
            </a:outerShdw>
          </a:effectLst>
        </p:spPr>
        <p:txBody>
          <a:bodyPr/>
          <a:lstStyle/>
          <a:p>
            <a:endParaRPr/>
          </a:p>
        </p:txBody>
      </p:sp>
      <p:sp>
        <p:nvSpPr>
          <p:cNvPr id="5" name="Text 3"/>
          <p:cNvSpPr/>
          <p:nvPr/>
        </p:nvSpPr>
        <p:spPr>
          <a:xfrm>
            <a:off x="7315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NOW</a:t>
            </a:r>
            <a:endParaRPr lang="en-US" sz="1050" dirty="0"/>
          </a:p>
        </p:txBody>
      </p:sp>
      <p:pic>
        <p:nvPicPr>
          <p:cNvPr id="6" name="Image 0" descr="preencoded.png"/>
          <p:cNvPicPr>
            <a:picLocks noChangeAspect="1"/>
          </p:cNvPicPr>
          <p:nvPr/>
        </p:nvPicPr>
        <p:blipFill>
          <a:blip r:embed="rId3"/>
          <a:stretch>
            <a:fillRect/>
          </a:stretch>
        </p:blipFill>
        <p:spPr>
          <a:xfrm>
            <a:off x="731520" y="2240280"/>
            <a:ext cx="457200" cy="457200"/>
          </a:xfrm>
          <a:prstGeom prst="rect">
            <a:avLst/>
          </a:prstGeom>
        </p:spPr>
      </p:pic>
      <p:sp>
        <p:nvSpPr>
          <p:cNvPr id="7" name="Text 4"/>
          <p:cNvSpPr/>
          <p:nvPr/>
        </p:nvSpPr>
        <p:spPr>
          <a:xfrm>
            <a:off x="7315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Proof of Concept</a:t>
            </a:r>
            <a:endParaRPr lang="en-US" sz="1400" dirty="0"/>
          </a:p>
        </p:txBody>
      </p:sp>
      <p:sp>
        <p:nvSpPr>
          <p:cNvPr id="8" name="Text 5"/>
          <p:cNvSpPr/>
          <p:nvPr/>
        </p:nvSpPr>
        <p:spPr>
          <a:xfrm>
            <a:off x="7315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Two validated scenarios; Commands, Skills, and Agent patterns demonstrated in Claude.ai.</a:t>
            </a:r>
            <a:endParaRPr lang="en-US" sz="1100" dirty="0"/>
          </a:p>
        </p:txBody>
      </p:sp>
      <p:sp>
        <p:nvSpPr>
          <p:cNvPr id="9" name="Shape 6"/>
          <p:cNvSpPr/>
          <p:nvPr/>
        </p:nvSpPr>
        <p:spPr>
          <a:xfrm>
            <a:off x="3090672" y="3131820"/>
            <a:ext cx="173736" cy="0"/>
          </a:xfrm>
          <a:prstGeom prst="line">
            <a:avLst/>
          </a:prstGeom>
          <a:noFill/>
          <a:ln w="19050">
            <a:solidFill>
              <a:srgbClr val="5F6B7A"/>
            </a:solidFill>
            <a:prstDash val="solid"/>
            <a:tailEnd type="triangle"/>
          </a:ln>
        </p:spPr>
        <p:txBody>
          <a:bodyPr/>
          <a:lstStyle/>
          <a:p>
            <a:endParaRPr/>
          </a:p>
        </p:txBody>
      </p:sp>
      <p:sp>
        <p:nvSpPr>
          <p:cNvPr id="10" name="Shape 7"/>
          <p:cNvSpPr/>
          <p:nvPr/>
        </p:nvSpPr>
        <p:spPr>
          <a:xfrm>
            <a:off x="3291840" y="1691640"/>
            <a:ext cx="2514600" cy="2880360"/>
          </a:xfrm>
          <a:prstGeom prst="roundRect">
            <a:avLst>
              <a:gd name="adj" fmla="val 2909"/>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1" name="Text 8"/>
          <p:cNvSpPr/>
          <p:nvPr/>
        </p:nvSpPr>
        <p:spPr>
          <a:xfrm>
            <a:off x="34747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NEXT</a:t>
            </a:r>
            <a:endParaRPr lang="en-US" sz="1050" dirty="0"/>
          </a:p>
        </p:txBody>
      </p:sp>
      <p:pic>
        <p:nvPicPr>
          <p:cNvPr id="12" name="Image 1" descr="preencoded.png"/>
          <p:cNvPicPr>
            <a:picLocks noChangeAspect="1"/>
          </p:cNvPicPr>
          <p:nvPr/>
        </p:nvPicPr>
        <p:blipFill>
          <a:blip r:embed="rId4"/>
          <a:stretch>
            <a:fillRect/>
          </a:stretch>
        </p:blipFill>
        <p:spPr>
          <a:xfrm>
            <a:off x="3474720" y="2240280"/>
            <a:ext cx="457200" cy="457200"/>
          </a:xfrm>
          <a:prstGeom prst="rect">
            <a:avLst/>
          </a:prstGeom>
        </p:spPr>
      </p:pic>
      <p:sp>
        <p:nvSpPr>
          <p:cNvPr id="13" name="Text 9"/>
          <p:cNvSpPr/>
          <p:nvPr/>
        </p:nvSpPr>
        <p:spPr>
          <a:xfrm>
            <a:off x="34747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MCP Integration</a:t>
            </a:r>
            <a:endParaRPr lang="en-US" sz="1400" dirty="0"/>
          </a:p>
        </p:txBody>
      </p:sp>
      <p:sp>
        <p:nvSpPr>
          <p:cNvPr id="14" name="Text 10"/>
          <p:cNvSpPr/>
          <p:nvPr/>
        </p:nvSpPr>
        <p:spPr>
          <a:xfrm>
            <a:off x="34747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Direct connectors to YouTrack and GitHub for automated draft retrieval, removing manual data pulls.</a:t>
            </a:r>
            <a:endParaRPr lang="en-US" sz="1100" dirty="0"/>
          </a:p>
        </p:txBody>
      </p:sp>
      <p:sp>
        <p:nvSpPr>
          <p:cNvPr id="15" name="Shape 11"/>
          <p:cNvSpPr/>
          <p:nvPr/>
        </p:nvSpPr>
        <p:spPr>
          <a:xfrm>
            <a:off x="5833872" y="3131820"/>
            <a:ext cx="173736" cy="0"/>
          </a:xfrm>
          <a:prstGeom prst="line">
            <a:avLst/>
          </a:prstGeom>
          <a:noFill/>
          <a:ln w="19050">
            <a:solidFill>
              <a:srgbClr val="5F6B7A"/>
            </a:solidFill>
            <a:prstDash val="solid"/>
            <a:tailEnd type="triangle"/>
          </a:ln>
        </p:spPr>
        <p:txBody>
          <a:bodyPr/>
          <a:lstStyle/>
          <a:p>
            <a:endParaRPr/>
          </a:p>
        </p:txBody>
      </p:sp>
      <p:sp>
        <p:nvSpPr>
          <p:cNvPr id="16" name="Shape 12"/>
          <p:cNvSpPr/>
          <p:nvPr/>
        </p:nvSpPr>
        <p:spPr>
          <a:xfrm>
            <a:off x="6035040" y="1691640"/>
            <a:ext cx="2514600" cy="2880360"/>
          </a:xfrm>
          <a:prstGeom prst="roundRect">
            <a:avLst>
              <a:gd name="adj" fmla="val 2909"/>
            </a:avLst>
          </a:prstGeom>
          <a:solidFill>
            <a:srgbClr val="EEF1F3"/>
          </a:solidFill>
          <a:ln/>
          <a:effectLst>
            <a:outerShdw blurRad="101600" dist="38100" dir="5400000" algn="bl" rotWithShape="0">
              <a:srgbClr val="0B2745">
                <a:alpha val="12000"/>
              </a:srgbClr>
            </a:outerShdw>
          </a:effectLst>
        </p:spPr>
        <p:txBody>
          <a:bodyPr/>
          <a:lstStyle/>
          <a:p>
            <a:endParaRPr/>
          </a:p>
        </p:txBody>
      </p:sp>
      <p:sp>
        <p:nvSpPr>
          <p:cNvPr id="17" name="Text 13"/>
          <p:cNvSpPr/>
          <p:nvPr/>
        </p:nvSpPr>
        <p:spPr>
          <a:xfrm>
            <a:off x="6217920" y="1874520"/>
            <a:ext cx="2148840" cy="274320"/>
          </a:xfrm>
          <a:prstGeom prst="rect">
            <a:avLst/>
          </a:prstGeom>
          <a:noFill/>
          <a:ln/>
        </p:spPr>
        <p:txBody>
          <a:bodyPr wrap="square" lIns="0" tIns="0" rIns="0" bIns="0" rtlCol="0" anchor="ctr"/>
          <a:lstStyle/>
          <a:p>
            <a:pPr marL="0" indent="0">
              <a:buNone/>
            </a:pPr>
            <a:r>
              <a:rPr lang="en-US" sz="1050" b="1" kern="0" spc="150" dirty="0">
                <a:solidFill>
                  <a:srgbClr val="2A9D8F"/>
                </a:solidFill>
                <a:latin typeface="Calibri" pitchFamily="34" charset="0"/>
                <a:ea typeface="Calibri" pitchFamily="34" charset="-122"/>
                <a:cs typeface="Calibri" pitchFamily="34" charset="-120"/>
              </a:rPr>
              <a:t>LATER</a:t>
            </a:r>
            <a:endParaRPr lang="en-US" sz="1050" dirty="0"/>
          </a:p>
        </p:txBody>
      </p:sp>
      <p:pic>
        <p:nvPicPr>
          <p:cNvPr id="18" name="Image 2" descr="preencoded.png"/>
          <p:cNvPicPr>
            <a:picLocks noChangeAspect="1"/>
          </p:cNvPicPr>
          <p:nvPr/>
        </p:nvPicPr>
        <p:blipFill>
          <a:blip r:embed="rId5"/>
          <a:stretch>
            <a:fillRect/>
          </a:stretch>
        </p:blipFill>
        <p:spPr>
          <a:xfrm>
            <a:off x="6217920" y="2240280"/>
            <a:ext cx="457200" cy="457200"/>
          </a:xfrm>
          <a:prstGeom prst="rect">
            <a:avLst/>
          </a:prstGeom>
        </p:spPr>
      </p:pic>
      <p:sp>
        <p:nvSpPr>
          <p:cNvPr id="19" name="Text 14"/>
          <p:cNvSpPr/>
          <p:nvPr/>
        </p:nvSpPr>
        <p:spPr>
          <a:xfrm>
            <a:off x="6217920" y="2834640"/>
            <a:ext cx="2148840" cy="411480"/>
          </a:xfrm>
          <a:prstGeom prst="rect">
            <a:avLst/>
          </a:prstGeom>
          <a:noFill/>
          <a:ln/>
        </p:spPr>
        <p:txBody>
          <a:bodyPr wrap="square" lIns="0" tIns="0" rIns="0" bIns="0" rtlCol="0" anchor="ctr"/>
          <a:lstStyle/>
          <a:p>
            <a:pPr marL="0" indent="0">
              <a:buNone/>
            </a:pPr>
            <a:r>
              <a:rPr lang="en-US" sz="1400" b="1" dirty="0">
                <a:solidFill>
                  <a:srgbClr val="12355B"/>
                </a:solidFill>
                <a:latin typeface="Calibri" pitchFamily="34" charset="0"/>
                <a:ea typeface="Calibri" pitchFamily="34" charset="-122"/>
                <a:cs typeface="Calibri" pitchFamily="34" charset="-120"/>
              </a:rPr>
              <a:t>Scale &amp; Extend</a:t>
            </a:r>
            <a:endParaRPr lang="en-US" sz="1400" dirty="0"/>
          </a:p>
        </p:txBody>
      </p:sp>
      <p:sp>
        <p:nvSpPr>
          <p:cNvPr id="20" name="Text 15"/>
          <p:cNvSpPr/>
          <p:nvPr/>
        </p:nvSpPr>
        <p:spPr>
          <a:xfrm>
            <a:off x="6217920" y="3291840"/>
            <a:ext cx="2148840" cy="1188720"/>
          </a:xfrm>
          <a:prstGeom prst="rect">
            <a:avLst/>
          </a:prstGeom>
          <a:noFill/>
          <a:ln/>
        </p:spPr>
        <p:txBody>
          <a:bodyPr wrap="square" lIns="0" tIns="0" rIns="0" bIns="0" rtlCol="0" anchor="ctr"/>
          <a:lstStyle/>
          <a:p>
            <a:pPr marL="0" indent="0">
              <a:lnSpc>
                <a:spcPct val="125000"/>
              </a:lnSpc>
              <a:buNone/>
            </a:pPr>
            <a:r>
              <a:rPr lang="en-US" sz="1100" dirty="0">
                <a:solidFill>
                  <a:srgbClr val="5F6B7A"/>
                </a:solidFill>
                <a:latin typeface="Calibri" pitchFamily="34" charset="0"/>
                <a:ea typeface="Calibri" pitchFamily="34" charset="-122"/>
                <a:cs typeface="Calibri" pitchFamily="34" charset="-120"/>
              </a:rPr>
              <a:t>Apply the same AI-assisted pattern to other documentation types beyond release notes.</a:t>
            </a:r>
            <a:endParaRPr lang="en-US" sz="1100" dirty="0"/>
          </a:p>
        </p:txBody>
      </p:sp>
      <p:sp>
        <p:nvSpPr>
          <p:cNvPr id="21" name="Text 16"/>
          <p:cNvSpPr/>
          <p:nvPr/>
        </p:nvSpPr>
        <p:spPr>
          <a:xfrm>
            <a:off x="457200" y="4846320"/>
            <a:ext cx="5486400" cy="228600"/>
          </a:xfrm>
          <a:prstGeom prst="rect">
            <a:avLst/>
          </a:prstGeom>
          <a:noFill/>
          <a:ln/>
        </p:spPr>
        <p:txBody>
          <a:bodyPr wrap="square" lIns="0" tIns="0" rIns="0" bIns="0" rtlCol="0" anchor="ctr"/>
          <a:lstStyle/>
          <a:p>
            <a:pPr marL="0" indent="0" algn="l">
              <a:buNone/>
            </a:pPr>
            <a:r>
              <a:rPr lang="en-US" sz="900" dirty="0">
                <a:solidFill>
                  <a:srgbClr val="70798A"/>
                </a:solidFill>
                <a:latin typeface="Calibri" pitchFamily="34" charset="0"/>
                <a:ea typeface="Calibri" pitchFamily="34" charset="-122"/>
                <a:cs typeface="Calibri" pitchFamily="34" charset="-120"/>
              </a:rPr>
              <a:t>AI-Assisted Documentation Workflow Automation</a:t>
            </a:r>
            <a:endParaRPr lang="en-US" sz="900" dirty="0"/>
          </a:p>
        </p:txBody>
      </p:sp>
      <p:sp>
        <p:nvSpPr>
          <p:cNvPr id="22" name="Text 17"/>
          <p:cNvSpPr/>
          <p:nvPr/>
        </p:nvSpPr>
        <p:spPr>
          <a:xfrm>
            <a:off x="8412480" y="4846320"/>
            <a:ext cx="274320" cy="228600"/>
          </a:xfrm>
          <a:prstGeom prst="rect">
            <a:avLst/>
          </a:prstGeom>
          <a:noFill/>
          <a:ln/>
        </p:spPr>
        <p:txBody>
          <a:bodyPr wrap="square" lIns="0" tIns="0" rIns="0" bIns="0" rtlCol="0" anchor="ctr"/>
          <a:lstStyle/>
          <a:p>
            <a:pPr marL="0" indent="0" algn="r">
              <a:buNone/>
            </a:pPr>
            <a:r>
              <a:rPr lang="en-US" sz="900" dirty="0">
                <a:solidFill>
                  <a:srgbClr val="70798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2355B"/>
        </a:solidFill>
        <a:effectLst/>
      </p:bgPr>
    </p:bg>
    <p:spTree>
      <p:nvGrpSpPr>
        <p:cNvPr id="1" name=""/>
        <p:cNvGrpSpPr/>
        <p:nvPr/>
      </p:nvGrpSpPr>
      <p:grpSpPr>
        <a:xfrm>
          <a:off x="0" y="0"/>
          <a:ext cx="0" cy="0"/>
          <a:chOff x="0" y="0"/>
          <a:chExt cx="0" cy="0"/>
        </a:xfrm>
      </p:grpSpPr>
      <p:sp>
        <p:nvSpPr>
          <p:cNvPr id="2" name="Shape 0"/>
          <p:cNvSpPr/>
          <p:nvPr/>
        </p:nvSpPr>
        <p:spPr>
          <a:xfrm>
            <a:off x="-1645920" y="2377440"/>
            <a:ext cx="3840480" cy="3840480"/>
          </a:xfrm>
          <a:prstGeom prst="ellipse">
            <a:avLst/>
          </a:prstGeom>
          <a:solidFill>
            <a:srgbClr val="2A9D8F">
              <a:alpha val="16000"/>
            </a:srgbClr>
          </a:solidFill>
          <a:ln/>
        </p:spPr>
        <p:txBody>
          <a:bodyPr/>
          <a:lstStyle/>
          <a:p>
            <a:endParaRPr/>
          </a:p>
        </p:txBody>
      </p:sp>
      <p:sp>
        <p:nvSpPr>
          <p:cNvPr id="3" name="Shape 1"/>
          <p:cNvSpPr/>
          <p:nvPr/>
        </p:nvSpPr>
        <p:spPr>
          <a:xfrm>
            <a:off x="-914400" y="3017520"/>
            <a:ext cx="2377440" cy="2377440"/>
          </a:xfrm>
          <a:prstGeom prst="ellipse">
            <a:avLst/>
          </a:prstGeom>
          <a:solidFill>
            <a:srgbClr val="2A9D8F">
              <a:alpha val="28000"/>
            </a:srgbClr>
          </a:solidFill>
          <a:ln/>
        </p:spPr>
        <p:txBody>
          <a:bodyPr/>
          <a:lstStyle/>
          <a:p>
            <a:endParaRPr/>
          </a:p>
        </p:txBody>
      </p:sp>
      <p:sp>
        <p:nvSpPr>
          <p:cNvPr id="4" name="Text 2"/>
          <p:cNvSpPr/>
          <p:nvPr/>
        </p:nvSpPr>
        <p:spPr>
          <a:xfrm>
            <a:off x="822960" y="777240"/>
            <a:ext cx="7498080" cy="1554480"/>
          </a:xfrm>
          <a:prstGeom prst="rect">
            <a:avLst/>
          </a:prstGeom>
          <a:noFill/>
          <a:ln/>
        </p:spPr>
        <p:txBody>
          <a:bodyPr wrap="square" lIns="0" tIns="0" rIns="0" bIns="0" rtlCol="0" anchor="ctr"/>
          <a:lstStyle/>
          <a:p>
            <a:pPr marL="0" indent="0">
              <a:lnSpc>
                <a:spcPct val="110000"/>
              </a:lnSpc>
              <a:buNone/>
            </a:pPr>
            <a:r>
              <a:rPr lang="en-US" sz="3200" b="1" i="1" dirty="0">
                <a:solidFill>
                  <a:srgbClr val="FFFFFF"/>
                </a:solidFill>
                <a:latin typeface="Cambria" pitchFamily="34" charset="0"/>
                <a:ea typeface="Cambria" pitchFamily="34" charset="-122"/>
                <a:cs typeface="Cambria" pitchFamily="34" charset="-120"/>
              </a:rPr>
              <a:t>“This makes people faster,</a:t>
            </a:r>
            <a:endParaRPr lang="en-US" sz="3200" dirty="0"/>
          </a:p>
          <a:p>
            <a:pPr marL="0" indent="0">
              <a:lnSpc>
                <a:spcPct val="110000"/>
              </a:lnSpc>
              <a:buNone/>
            </a:pPr>
            <a:r>
              <a:rPr lang="en-US" sz="3200" b="1" i="1" dirty="0">
                <a:solidFill>
                  <a:srgbClr val="FFFFFF"/>
                </a:solidFill>
                <a:latin typeface="Cambria" pitchFamily="34" charset="0"/>
                <a:ea typeface="Cambria" pitchFamily="34" charset="-122"/>
                <a:cs typeface="Cambria" pitchFamily="34" charset="-120"/>
              </a:rPr>
              <a:t>not redundant.”</a:t>
            </a:r>
            <a:endParaRPr lang="en-US" sz="3200" dirty="0"/>
          </a:p>
        </p:txBody>
      </p:sp>
      <p:sp>
        <p:nvSpPr>
          <p:cNvPr id="5" name="Shape 3"/>
          <p:cNvSpPr/>
          <p:nvPr/>
        </p:nvSpPr>
        <p:spPr>
          <a:xfrm>
            <a:off x="841248" y="2331720"/>
            <a:ext cx="1280160" cy="0"/>
          </a:xfrm>
          <a:prstGeom prst="line">
            <a:avLst/>
          </a:prstGeom>
          <a:noFill/>
          <a:ln w="25400">
            <a:solidFill>
              <a:srgbClr val="2A9D8F"/>
            </a:solidFill>
            <a:prstDash val="solid"/>
          </a:ln>
        </p:spPr>
        <p:txBody>
          <a:bodyPr/>
          <a:lstStyle/>
          <a:p>
            <a:endParaRPr/>
          </a:p>
        </p:txBody>
      </p:sp>
      <p:sp>
        <p:nvSpPr>
          <p:cNvPr id="6" name="Text 4"/>
          <p:cNvSpPr/>
          <p:nvPr/>
        </p:nvSpPr>
        <p:spPr>
          <a:xfrm>
            <a:off x="822960" y="2514600"/>
            <a:ext cx="7315200" cy="640080"/>
          </a:xfrm>
          <a:prstGeom prst="rect">
            <a:avLst/>
          </a:prstGeom>
          <a:noFill/>
          <a:ln/>
        </p:spPr>
        <p:txBody>
          <a:bodyPr wrap="square" lIns="0" tIns="0" rIns="0" bIns="0" rtlCol="0" anchor="ctr"/>
          <a:lstStyle/>
          <a:p>
            <a:pPr marL="0" indent="0">
              <a:lnSpc>
                <a:spcPct val="125000"/>
              </a:lnSpc>
              <a:buNone/>
            </a:pPr>
            <a:r>
              <a:rPr lang="en-US" sz="1400" dirty="0">
                <a:solidFill>
                  <a:srgbClr val="CFE3E0"/>
                </a:solidFill>
                <a:latin typeface="Calibri" pitchFamily="34" charset="0"/>
                <a:ea typeface="Calibri" pitchFamily="34" charset="-122"/>
                <a:cs typeface="Calibri" pitchFamily="34" charset="-120"/>
              </a:rPr>
              <a:t>AI extracts, drafts, and reviews. People decide, approve, and publish. That division of labor is the proof of concept.</a:t>
            </a:r>
            <a:endParaRPr lang="en-US" sz="1400" dirty="0"/>
          </a:p>
        </p:txBody>
      </p:sp>
      <p:sp>
        <p:nvSpPr>
          <p:cNvPr id="7" name="Text 5"/>
          <p:cNvSpPr/>
          <p:nvPr/>
        </p:nvSpPr>
        <p:spPr>
          <a:xfrm>
            <a:off x="822960" y="3383280"/>
            <a:ext cx="7315200" cy="274320"/>
          </a:xfrm>
          <a:prstGeom prst="rect">
            <a:avLst/>
          </a:prstGeom>
          <a:noFill/>
          <a:ln/>
        </p:spPr>
        <p:txBody>
          <a:bodyPr wrap="square" lIns="0" tIns="0" rIns="0" bIns="0" rtlCol="0" anchor="ctr"/>
          <a:lstStyle/>
          <a:p>
            <a:pPr marL="0" indent="0">
              <a:buNone/>
            </a:pPr>
            <a:r>
              <a:rPr lang="en-US" sz="1100" b="1" kern="0" spc="100" dirty="0">
                <a:solidFill>
                  <a:srgbClr val="2A9D8F"/>
                </a:solidFill>
                <a:latin typeface="Calibri" pitchFamily="34" charset="0"/>
                <a:ea typeface="Calibri" pitchFamily="34" charset="-122"/>
                <a:cs typeface="Calibri" pitchFamily="34" charset="-120"/>
              </a:rPr>
              <a:t>With thanks to the project team</a:t>
            </a:r>
            <a:endParaRPr lang="en-US" sz="1100" dirty="0"/>
          </a:p>
        </p:txBody>
      </p:sp>
      <p:sp>
        <p:nvSpPr>
          <p:cNvPr id="9" name="Text 7"/>
          <p:cNvSpPr/>
          <p:nvPr/>
        </p:nvSpPr>
        <p:spPr>
          <a:xfrm>
            <a:off x="822960" y="452628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a:t>
            </a:r>
            <a:endParaRPr lang="en-US" sz="1600" dirty="0"/>
          </a:p>
        </p:txBody>
      </p:sp>
      <p:sp>
        <p:nvSpPr>
          <p:cNvPr id="11" name="Text 6">
            <a:extLst>
              <a:ext uri="{FF2B5EF4-FFF2-40B4-BE49-F238E27FC236}">
                <a16:creationId xmlns:a16="http://schemas.microsoft.com/office/drawing/2014/main" id="{1CC49009-00A7-EBB7-AD09-0BDAE84DE052}"/>
              </a:ext>
            </a:extLst>
          </p:cNvPr>
          <p:cNvSpPr/>
          <p:nvPr/>
        </p:nvSpPr>
        <p:spPr>
          <a:xfrm>
            <a:off x="822960" y="3657600"/>
            <a:ext cx="7498080" cy="822960"/>
          </a:xfrm>
          <a:prstGeom prst="rect">
            <a:avLst/>
          </a:prstGeom>
          <a:noFill/>
          <a:ln/>
        </p:spPr>
        <p:txBody>
          <a:bodyPr wrap="square" lIns="0" tIns="0" rIns="0" bIns="0" rtlCol="0" anchor="ctr"/>
          <a:lstStyle/>
          <a:p>
            <a:pPr>
              <a:lnSpc>
                <a:spcPct val="150000"/>
              </a:lnSpc>
            </a:pPr>
            <a:r>
              <a:rPr lang="en-US" sz="1100" dirty="0">
                <a:solidFill>
                  <a:srgbClr val="AFC3D6"/>
                </a:solidFill>
                <a:latin typeface="Calibri" pitchFamily="34" charset="0"/>
                <a:ea typeface="Calibri" pitchFamily="34" charset="-122"/>
                <a:cs typeface="Calibri" pitchFamily="34" charset="-120"/>
              </a:rPr>
              <a:t>Riffat Wyne · Sulekha · Anubhav · Srividya · Bhargavi · Shubh Karman · Divin · Devika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2984</Words>
  <Application>Microsoft Office PowerPoint</Application>
  <PresentationFormat>On-screen Show (16:9)</PresentationFormat>
  <Paragraphs>219</Paragraphs>
  <Slides>16</Slides>
  <Notes>15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Documentation Workflow Automation</dc:title>
  <dc:subject>PptxGenJS Presentation</dc:subject>
  <dc:creator>Devika</dc:creator>
  <cp:lastModifiedBy>Devika Sunitha</cp:lastModifiedBy>
  <cp:revision>3</cp:revision>
  <dcterms:created xsi:type="dcterms:W3CDTF">2026-07-02T12:29:33Z</dcterms:created>
  <dcterms:modified xsi:type="dcterms:W3CDTF">2026-07-02T12:54:57Z</dcterms:modified>
</cp:coreProperties>
</file>