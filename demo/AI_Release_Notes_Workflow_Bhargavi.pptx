
<file path=[Content_Types].xml><?xml version="1.0" encoding="utf-8"?>
<Types xmlns="http://schemas.openxmlformats.org/package/2006/content-types">
  <Default Extension="md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0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87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8752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667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856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7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5.xml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slide" Target="slide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9.png"/><Relationship Id="rId10" Type="http://schemas.openxmlformats.org/officeDocument/2006/relationships/slide" Target="slide6.xml"/><Relationship Id="rId4" Type="http://schemas.openxmlformats.org/officeDocument/2006/relationships/image" Target="../media/image8.png"/><Relationship Id="rId9" Type="http://schemas.openxmlformats.org/officeDocument/2006/relationships/image" Target="../media/image15.png"/><Relationship Id="rId1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md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md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3108960" cy="31089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0"/>
            <a:ext cx="2011680" cy="201168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69164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3291840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0" y="30175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50292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32520" y="13716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57200" y="1051560"/>
            <a:ext cx="1874520" cy="292608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1051560"/>
            <a:ext cx="1874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PROOF OF CONCEPT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457200" y="141732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57200" y="219456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Workflow</a:t>
            </a:r>
            <a:endParaRPr lang="en-US" sz="4400" dirty="0"/>
          </a:p>
        </p:txBody>
      </p:sp>
      <p:sp>
        <p:nvSpPr>
          <p:cNvPr id="13" name="Shape 10"/>
          <p:cNvSpPr/>
          <p:nvPr/>
        </p:nvSpPr>
        <p:spPr>
          <a:xfrm>
            <a:off x="457200" y="331012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2004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YouTrack Data to Publication-Ready Documentation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kern="0" spc="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Concept  |  Documentation Automation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967435" cy="237744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9674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CONTEXT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Challenge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490472"/>
            <a:ext cx="640080" cy="64008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4592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Sources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6304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information is scattered across YouTrack tickets and implementation notes.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23444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92040" y="1490472"/>
            <a:ext cx="640080" cy="64008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164592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4904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&amp; Time-Consuming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566928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release-note authoring drains writer bandwidth every cycle.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5720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85800" y="3044952"/>
            <a:ext cx="640080" cy="64008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32004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6304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Review Loops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146304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review passes multiply the documentation effort per release.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663440" y="2788920"/>
            <a:ext cx="3977640" cy="1371600"/>
          </a:xfrm>
          <a:prstGeom prst="roundRect">
            <a:avLst>
              <a:gd name="adj" fmla="val 5333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92040" y="3044952"/>
            <a:ext cx="640080" cy="64008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47488" y="3200400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Overhead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5669280" y="33832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 manual formatting is needed to make notes publication-ready.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57200" y="4160520"/>
            <a:ext cx="8366760" cy="548640"/>
          </a:xfrm>
          <a:prstGeom prst="roundRect">
            <a:avLst>
              <a:gd name="adj" fmla="val 13333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368" y="4288536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051560" y="4160520"/>
            <a:ext cx="7726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  </a:t>
            </a: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end-to-end release-note workflow while preserving quality, consistency, and publication standards.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038758" cy="237744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03875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APPROACH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Solution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46888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37760" y="1705356"/>
            <a:ext cx="411480" cy="201168"/>
          </a:xfrm>
          <a:prstGeom prst="righ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86600" y="2331720"/>
            <a:ext cx="201168" cy="365760"/>
          </a:xfrm>
          <a:prstGeom prst="down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3107432"/>
            <a:ext cx="411480" cy="201168"/>
          </a:xfrm>
          <a:prstGeom prst="leftArrow">
            <a:avLst/>
          </a:prstGeom>
          <a:solidFill>
            <a:srgbClr val="8B5CF6">
              <a:alpha val="60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43447"/>
          </a:solidFill>
          <a:ln w="15875">
            <a:solidFill>
              <a:srgbClr val="F43F5E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94360" y="1527048"/>
            <a:ext cx="548640" cy="548640"/>
          </a:xfrm>
          <a:prstGeom prst="ellipse">
            <a:avLst/>
          </a:prstGeom>
          <a:solidFill>
            <a:srgbClr val="F43F5E">
              <a:alpha val="20000"/>
            </a:srgbClr>
          </a:solidFill>
          <a:ln w="12700">
            <a:solidFill>
              <a:srgbClr val="F43F5E"/>
            </a:solidFill>
            <a:prstDash val="solid"/>
          </a:ln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664208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3444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YouTrack +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 err="1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</a:t>
            </a: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Notes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063240" y="1527048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0400" y="1664208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70332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Extractor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394960" y="132588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532120" y="1527048"/>
            <a:ext cx="548640" cy="548640"/>
          </a:xfrm>
          <a:prstGeom prst="ellipse">
            <a:avLst/>
          </a:prstGeom>
          <a:solidFill>
            <a:srgbClr val="A78BFA">
              <a:alpha val="20000"/>
            </a:srgbClr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0" y="1664208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146304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Generator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39496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532120" y="2929124"/>
            <a:ext cx="548640" cy="548640"/>
          </a:xfrm>
          <a:prstGeom prst="ellipse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69280" y="3066284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17220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292608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063240" y="2929124"/>
            <a:ext cx="548640" cy="548640"/>
          </a:xfrm>
          <a:prstGeom prst="ellipse">
            <a:avLst/>
          </a:prstGeom>
          <a:solidFill>
            <a:srgbClr val="22D3EE">
              <a:alpha val="20000"/>
            </a:srgbClr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0400" y="3066284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70332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Publisher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57200" y="2727956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243447"/>
          </a:solidFill>
          <a:ln w="15875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594360" y="2929124"/>
            <a:ext cx="548640" cy="548640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1520" y="3066284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34440" y="2865116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457200" y="3825236"/>
            <a:ext cx="8366760" cy="960120"/>
          </a:xfrm>
          <a:prstGeom prst="roundRect">
            <a:avLst>
              <a:gd name="adj" fmla="val 10667"/>
            </a:avLst>
          </a:prstGeom>
          <a:solidFill>
            <a:srgbClr val="0F1A2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621792" y="3977641"/>
            <a:ext cx="1005840" cy="320040"/>
          </a:xfrm>
          <a:prstGeom prst="roundRect">
            <a:avLst>
              <a:gd name="adj" fmla="val 17143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3232" y="4041649"/>
            <a:ext cx="182880" cy="18288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932688" y="3977641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SKILLS</a:t>
            </a:r>
            <a:endParaRPr lang="en-US" sz="900" dirty="0"/>
          </a:p>
        </p:txBody>
      </p:sp>
      <p:sp>
        <p:nvSpPr>
          <p:cNvPr id="38" name="Shape 29"/>
          <p:cNvSpPr/>
          <p:nvPr/>
        </p:nvSpPr>
        <p:spPr>
          <a:xfrm>
            <a:off x="178308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178308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Data Extractor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352044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352044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Generator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525780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3" name="Text 34"/>
          <p:cNvSpPr/>
          <p:nvPr/>
        </p:nvSpPr>
        <p:spPr>
          <a:xfrm>
            <a:off x="525780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Reviewer</a:t>
            </a:r>
            <a:endParaRPr lang="en-US" sz="1000" dirty="0"/>
          </a:p>
        </p:txBody>
      </p:sp>
      <p:sp>
        <p:nvSpPr>
          <p:cNvPr id="44" name="Shape 35"/>
          <p:cNvSpPr/>
          <p:nvPr/>
        </p:nvSpPr>
        <p:spPr>
          <a:xfrm>
            <a:off x="6995160" y="3977641"/>
            <a:ext cx="1691640" cy="320040"/>
          </a:xfrm>
          <a:prstGeom prst="roundRect">
            <a:avLst>
              <a:gd name="adj" fmla="val 17143"/>
            </a:avLst>
          </a:prstGeom>
          <a:solidFill>
            <a:srgbClr val="1A2332"/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</p:sp>
      <p:sp>
        <p:nvSpPr>
          <p:cNvPr id="45" name="Text 36"/>
          <p:cNvSpPr/>
          <p:nvPr/>
        </p:nvSpPr>
        <p:spPr>
          <a:xfrm>
            <a:off x="6995160" y="3977641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 Publisher</a:t>
            </a:r>
            <a:endParaRPr lang="en-US" sz="1000" dirty="0"/>
          </a:p>
        </p:txBody>
      </p:sp>
      <p:sp>
        <p:nvSpPr>
          <p:cNvPr id="49" name="Text 40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52" name="Shape 35">
            <a:extLst>
              <a:ext uri="{FF2B5EF4-FFF2-40B4-BE49-F238E27FC236}">
                <a16:creationId xmlns:a16="http://schemas.microsoft.com/office/drawing/2014/main" id="{C6DD4E93-8059-4823-8B24-B02A002A85E3}"/>
              </a:ext>
            </a:extLst>
          </p:cNvPr>
          <p:cNvSpPr/>
          <p:nvPr/>
        </p:nvSpPr>
        <p:spPr>
          <a:xfrm>
            <a:off x="3422469" y="4413168"/>
            <a:ext cx="1874520" cy="263229"/>
          </a:xfrm>
          <a:prstGeom prst="roundRect">
            <a:avLst>
              <a:gd name="adj" fmla="val 17143"/>
            </a:avLst>
          </a:prstGeom>
          <a:solidFill>
            <a:schemeClr val="accent6">
              <a:lumMod val="75000"/>
            </a:schemeClr>
          </a:solidFill>
          <a:ln w="9525">
            <a:solidFill>
              <a:srgbClr val="8B5CF6">
                <a:alpha val="50000"/>
              </a:srgbClr>
            </a:solidFill>
            <a:prstDash val="solid"/>
          </a:ln>
        </p:spPr>
        <p:txBody>
          <a:bodyPr/>
          <a:lstStyle/>
          <a:p>
            <a:pPr algn="ctr"/>
            <a:r>
              <a:rPr lang="en-US" sz="1000" b="1" dirty="0">
                <a:solidFill>
                  <a:srgbClr val="F1F5F9"/>
                </a:solidFill>
                <a:latin typeface="Calibri" pitchFamily="34" charset="0"/>
                <a:cs typeface="Calibri" pitchFamily="34" charset="-120"/>
              </a:rPr>
              <a:t>Human Review and Approval</a:t>
            </a:r>
          </a:p>
          <a:p>
            <a:pPr algn="ctr"/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1395374" cy="237744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139537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DEMONSTRATION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22D3EE">
              <a:alpha val="22000"/>
            </a:srgbClr>
          </a:solidFill>
          <a:ln w="6350">
            <a:solidFill>
              <a:srgbClr val="22D3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9192" y="1353312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Release Data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205740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264408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47288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A78BFA">
              <a:alpha val="2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47288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353312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47288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Release Notes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6071616" y="1188720"/>
            <a:ext cx="2724912" cy="1874520"/>
          </a:xfrm>
          <a:prstGeom prst="roundRect">
            <a:avLst>
              <a:gd name="adj" fmla="val 3902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254496" y="1371600"/>
            <a:ext cx="384048" cy="256032"/>
          </a:xfrm>
          <a:prstGeom prst="roundRect">
            <a:avLst>
              <a:gd name="adj" fmla="val 21429"/>
            </a:avLst>
          </a:prstGeom>
          <a:solidFill>
            <a:srgbClr val="F59E0B">
              <a:alpha val="22000"/>
            </a:srgbClr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254496" y="1371600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3608" y="1353312"/>
            <a:ext cx="292608" cy="29260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254496" y="1691640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Release Notes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457200" y="3200400"/>
            <a:ext cx="8366760" cy="1417320"/>
          </a:xfrm>
          <a:prstGeom prst="roundRect">
            <a:avLst>
              <a:gd name="adj" fmla="val 6452"/>
            </a:avLst>
          </a:prstGeom>
          <a:solidFill>
            <a:srgbClr val="243447"/>
          </a:solidFill>
          <a:ln w="15875">
            <a:solidFill>
              <a:srgbClr val="10B981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731520" y="3429000"/>
            <a:ext cx="457200" cy="292608"/>
          </a:xfrm>
          <a:prstGeom prst="roundRect">
            <a:avLst>
              <a:gd name="adj" fmla="val 18750"/>
            </a:avLst>
          </a:prstGeom>
          <a:solidFill>
            <a:srgbClr val="10B981">
              <a:alpha val="25000"/>
            </a:srgbClr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731520" y="3429000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1325880" y="3401568"/>
            <a:ext cx="384048" cy="384048"/>
          </a:xfrm>
          <a:prstGeom prst="ellipse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7320" y="3493008"/>
            <a:ext cx="201168" cy="20116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" y="37947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and Publish Release Notes</a:t>
            </a:r>
            <a:endParaRPr lang="en-US" sz="1700" dirty="0"/>
          </a:p>
        </p:txBody>
      </p:sp>
      <p:sp>
        <p:nvSpPr>
          <p:cNvPr id="32" name="Text 26"/>
          <p:cNvSpPr/>
          <p:nvPr/>
        </p:nvSpPr>
        <p:spPr>
          <a:xfrm>
            <a:off x="731520" y="413308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Validation -&gt; Approval -&gt; Publication</a:t>
            </a:r>
            <a:endParaRPr lang="en-US" sz="1000" dirty="0"/>
          </a:p>
        </p:txBody>
      </p:sp>
      <p:sp>
        <p:nvSpPr>
          <p:cNvPr id="40" name="Text 33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2" name="Slide Zoom 41"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2673185"/>
                  </p:ext>
                </p:extLst>
              </p:nvPr>
            </p:nvGraphicFramePr>
            <p:xfrm>
              <a:off x="640079" y="2057399"/>
              <a:ext cx="1831267" cy="929613"/>
            </p:xfrm>
            <a:graphic>
              <a:graphicData uri="http://schemas.microsoft.com/office/powerpoint/2016/slidezoom">
                <pslz:sldZm>
                  <pslz:sldZmObj sldId="262" cId="238642846">
                    <pslz:zmPr id="{7529E5C8-B9AB-47D4-9209-C348B921A4B7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31267" cy="929613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2" name="Slide Zoom 41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24D156E9-16B3-4D67-BF4A-277A727F14E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0079" y="2057399"/>
                <a:ext cx="1831267" cy="929613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4" name="Slide Zoom 43"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56660317"/>
                  </p:ext>
                </p:extLst>
              </p:nvPr>
            </p:nvGraphicFramePr>
            <p:xfrm>
              <a:off x="3474720" y="2020824"/>
              <a:ext cx="1763486" cy="961862"/>
            </p:xfrm>
            <a:graphic>
              <a:graphicData uri="http://schemas.microsoft.com/office/powerpoint/2016/slidezoom">
                <pslz:sldZm>
                  <pslz:sldZmObj sldId="263" cId="636061836">
                    <pslz:zmPr id="{236B2021-C4B8-45B5-8A29-717C44C1F6D4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3486" cy="9618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4" name="Slide Zoom 43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D6D1C9B8-6BD6-4611-AEB7-7CC68216D952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474720" y="2020824"/>
                <a:ext cx="1763486" cy="9618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6" name="Slide Zoom 45"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688777349"/>
                  </p:ext>
                </p:extLst>
              </p:nvPr>
            </p:nvGraphicFramePr>
            <p:xfrm>
              <a:off x="6239691" y="2048256"/>
              <a:ext cx="1761309" cy="937532"/>
            </p:xfrm>
            <a:graphic>
              <a:graphicData uri="http://schemas.microsoft.com/office/powerpoint/2016/slidezoom">
                <pslz:sldZm>
                  <pslz:sldZmObj sldId="264" cId="3399947531">
                    <pslz:zmPr id="{247751EA-8D89-4621-ADD2-DC73BB8D188D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761309" cy="93753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6" name="Slide Zoom 45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4A6FFE5B-4593-4DCF-BA69-9A6295BC077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239691" y="2048256"/>
                <a:ext cx="1761309" cy="93753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48" name="Slide Zoom 47">
                <a:extLst>
                  <a:ext uri="{FF2B5EF4-FFF2-40B4-BE49-F238E27FC236}">
                    <a16:creationId xmlns:a16="http://schemas.microsoft.com/office/drawing/2014/main" id="{B011D2E3-3668-4B62-860C-B7AE74AD58E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96630818"/>
                  </p:ext>
                </p:extLst>
              </p:nvPr>
            </p:nvGraphicFramePr>
            <p:xfrm>
              <a:off x="3785616" y="3263836"/>
              <a:ext cx="2203704" cy="1239584"/>
            </p:xfrm>
            <a:graphic>
              <a:graphicData uri="http://schemas.microsoft.com/office/powerpoint/2016/slidezoom">
                <pslz:sldZm>
                  <pslz:sldZmObj sldId="265" cId="288928094">
                    <pslz:zmPr id="{3D08C4F1-A073-4D32-9149-A621580A2409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203704" cy="1239584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48" name="Slide Zoom 47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B011D2E3-3668-4B62-860C-B7AE74AD58E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785616" y="3263836"/>
                <a:ext cx="2203704" cy="1239584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Picture 37">
            <a:extLst>
              <a:ext uri="{FF2B5EF4-FFF2-40B4-BE49-F238E27FC236}">
                <a16:creationId xmlns:a16="http://schemas.microsoft.com/office/drawing/2014/main" id="{C4970E69-02BF-4A0F-A5F8-593AAE1E04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42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D3E0B4-5DC0-4249-B6C9-55D5B4E6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30148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061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EFC32F-9DB0-41E9-8402-249D0784CA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9475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B0CF756-4ED0-45DD-B133-DE9B83F4E2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280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8B5CF6">
              <a:alpha val="22000"/>
            </a:srgbClr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IMPACT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313687"/>
            <a:ext cx="5787935" cy="3429000"/>
          </a:xfrm>
          <a:prstGeom prst="roundRect">
            <a:avLst>
              <a:gd name="adj" fmla="val 2667"/>
            </a:avLst>
          </a:prstGeom>
          <a:solidFill>
            <a:srgbClr val="1A2332"/>
          </a:solidFill>
          <a:ln w="9525">
            <a:solidFill>
              <a:srgbClr val="334155"/>
            </a:solidFill>
            <a:prstDash val="solid"/>
          </a:ln>
          <a:effectLst>
            <a:outerShdw blurRad="1524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6" name="Shape 4"/>
          <p:cNvSpPr/>
          <p:nvPr/>
        </p:nvSpPr>
        <p:spPr>
          <a:xfrm>
            <a:off x="731522" y="1542287"/>
            <a:ext cx="457200" cy="457200"/>
          </a:xfrm>
          <a:prstGeom prst="ellipse">
            <a:avLst/>
          </a:prstGeom>
          <a:solidFill>
            <a:srgbClr val="10B981">
              <a:alpha val="22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50" y="1652015"/>
            <a:ext cx="237744" cy="2377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2" y="1542287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Benefits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731522" y="2255519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4" y="2328671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2" y="2182367"/>
            <a:ext cx="40462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documentation effort in release note creation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31522" y="2740151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4" y="2813303"/>
            <a:ext cx="146304" cy="14630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1" y="2666999"/>
            <a:ext cx="3643449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and standardized release note generation 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2" y="3224783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4" y="3297935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2" y="3151631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documentation turnaround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731522" y="3709415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674" y="3782567"/>
            <a:ext cx="146304" cy="14630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43002" y="3636263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Publication-ready outputs</a:t>
            </a:r>
            <a:endParaRPr lang="en-US" sz="1200" dirty="0"/>
          </a:p>
        </p:txBody>
      </p:sp>
      <p:sp>
        <p:nvSpPr>
          <p:cNvPr id="21" name="Shape 14"/>
          <p:cNvSpPr/>
          <p:nvPr/>
        </p:nvSpPr>
        <p:spPr>
          <a:xfrm>
            <a:off x="731522" y="4194047"/>
            <a:ext cx="292608" cy="292608"/>
          </a:xfrm>
          <a:prstGeom prst="ellipse">
            <a:avLst/>
          </a:prstGeom>
          <a:solidFill>
            <a:srgbClr val="10B981">
              <a:alpha val="18000"/>
            </a:srgbClr>
          </a:solidFill>
          <a:ln w="9525">
            <a:solidFill>
              <a:srgbClr val="10B981">
                <a:alpha val="50000"/>
              </a:srgbClr>
            </a:solidFill>
            <a:prstDash val="solid"/>
          </a:ln>
        </p:spPr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4" y="4267199"/>
            <a:ext cx="146304" cy="146304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1143002" y="4120895"/>
            <a:ext cx="3246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content quality through AI review</a:t>
            </a:r>
            <a:endParaRPr lang="en-US" sz="1200" dirty="0"/>
          </a:p>
        </p:txBody>
      </p:sp>
      <p:sp>
        <p:nvSpPr>
          <p:cNvPr id="46" name="Text 32"/>
          <p:cNvSpPr/>
          <p:nvPr/>
        </p:nvSpPr>
        <p:spPr>
          <a:xfrm>
            <a:off x="8001000" y="477316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548640"/>
            <a:ext cx="3108960" cy="3108960"/>
          </a:xfrm>
          <a:prstGeom prst="ellipse">
            <a:avLst/>
          </a:prstGeom>
          <a:solidFill>
            <a:srgbClr val="8B5CF6">
              <a:alpha val="22000"/>
            </a:srgbClr>
          </a:solidFill>
          <a:ln w="12700">
            <a:solidFill>
              <a:srgbClr val="8B5CF6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1097280"/>
            <a:ext cx="2011680" cy="2011680"/>
          </a:xfrm>
          <a:prstGeom prst="ellipse">
            <a:avLst/>
          </a:prstGeom>
          <a:solidFill>
            <a:srgbClr val="0B1220"/>
          </a:solidFill>
          <a:ln w="19050">
            <a:solidFill>
              <a:srgbClr val="22D3EE">
                <a:alpha val="7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8040" y="169164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3291840"/>
            <a:ext cx="128016" cy="128016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549640" y="3017520"/>
            <a:ext cx="128016" cy="128016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452360" y="502920"/>
            <a:ext cx="128016" cy="12801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732520" y="1371600"/>
            <a:ext cx="128016" cy="12801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02377" y="1750967"/>
            <a:ext cx="3884023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15931148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337</TotalTime>
  <Words>203</Words>
  <Application>Microsoft Office PowerPoint</Application>
  <PresentationFormat>On-screen Show (16:9)</PresentationFormat>
  <Paragraphs>67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Release Notes Workflow</dc:title>
  <dc:subject>PptxGenJS Presentation</dc:subject>
  <dc:creator>Jocata Technical Documentation</dc:creator>
  <cp:lastModifiedBy>bhargavi chary</cp:lastModifiedBy>
  <cp:revision>12</cp:revision>
  <dcterms:created xsi:type="dcterms:W3CDTF">2026-07-03T11:21:06Z</dcterms:created>
  <dcterms:modified xsi:type="dcterms:W3CDTF">2026-07-03T17:08:47Z</dcterms:modified>
</cp:coreProperties>
</file>