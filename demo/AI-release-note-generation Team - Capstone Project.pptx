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9" r:id="rId14"/>
    <p:sldId id="268" r:id="rId15"/>
    <p:sldId id="269" r:id="rId16"/>
    <p:sldId id="270" r:id="rId17"/>
    <p:sldId id="271" r:id="rId18"/>
    <p:sldId id="272" r:id="rId19"/>
    <p:sldId id="273" r:id="rId20"/>
    <p:sldId id="274" r:id="rId21"/>
    <p:sldId id="275" r:id="rId22"/>
    <p:sldId id="276" r:id="rId23"/>
    <p:sldId id="277" r:id="rId24"/>
    <p:sldId id="278" r:id="rId25"/>
    <p:sldId id="281" r:id="rId26"/>
    <p:sldId id="28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2C818E-3A55-45B8-B55C-AC86BCA53E10}" v="12" dt="2026-07-03T09:52:44.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3" d="100"/>
          <a:sy n="143" d="100"/>
        </p:scale>
        <p:origin x="102" y="8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fat Wyne" userId="82277f4b-c31d-4fec-a6d6-3ce7675122ea" providerId="ADAL" clId="{5B78895E-BE3C-4690-8DAC-444A06AF8E9E}"/>
    <pc:docChg chg="custSel addSld delSld modSld">
      <pc:chgData name="Riffat Wyne" userId="82277f4b-c31d-4fec-a6d6-3ce7675122ea" providerId="ADAL" clId="{5B78895E-BE3C-4690-8DAC-444A06AF8E9E}" dt="2026-07-03T09:55:56.087" v="56" actId="20577"/>
      <pc:docMkLst>
        <pc:docMk/>
      </pc:docMkLst>
      <pc:sldChg chg="modSp mod">
        <pc:chgData name="Riffat Wyne" userId="82277f4b-c31d-4fec-a6d6-3ce7675122ea" providerId="ADAL" clId="{5B78895E-BE3C-4690-8DAC-444A06AF8E9E}" dt="2026-07-03T09:55:56.087" v="56" actId="20577"/>
        <pc:sldMkLst>
          <pc:docMk/>
          <pc:sldMk cId="0" sldId="256"/>
        </pc:sldMkLst>
        <pc:spChg chg="mod">
          <ac:chgData name="Riffat Wyne" userId="82277f4b-c31d-4fec-a6d6-3ce7675122ea" providerId="ADAL" clId="{5B78895E-BE3C-4690-8DAC-444A06AF8E9E}" dt="2026-07-03T09:55:56.087" v="56" actId="20577"/>
          <ac:spMkLst>
            <pc:docMk/>
            <pc:sldMk cId="0" sldId="256"/>
            <ac:spMk id="5" creationId="{00000000-0000-0000-0000-000000000000}"/>
          </ac:spMkLst>
        </pc:spChg>
      </pc:sldChg>
      <pc:sldChg chg="addSp">
        <pc:chgData name="Riffat Wyne" userId="82277f4b-c31d-4fec-a6d6-3ce7675122ea" providerId="ADAL" clId="{5B78895E-BE3C-4690-8DAC-444A06AF8E9E}" dt="2026-07-03T09:49:18.338" v="2"/>
        <pc:sldMkLst>
          <pc:docMk/>
          <pc:sldMk cId="0" sldId="267"/>
        </pc:sldMkLst>
        <pc:picChg chg="add">
          <ac:chgData name="Riffat Wyne" userId="82277f4b-c31d-4fec-a6d6-3ce7675122ea" providerId="ADAL" clId="{5B78895E-BE3C-4690-8DAC-444A06AF8E9E}" dt="2026-07-03T09:49:18.338" v="2"/>
          <ac:picMkLst>
            <pc:docMk/>
            <pc:sldMk cId="0" sldId="267"/>
            <ac:picMk id="10" creationId="{01BFFA2E-F29D-5490-3407-6EE2A0972992}"/>
          </ac:picMkLst>
        </pc:picChg>
      </pc:sldChg>
      <pc:sldChg chg="add setBg">
        <pc:chgData name="Riffat Wyne" userId="82277f4b-c31d-4fec-a6d6-3ce7675122ea" providerId="ADAL" clId="{5B78895E-BE3C-4690-8DAC-444A06AF8E9E}" dt="2026-07-03T09:48:18.533" v="0"/>
        <pc:sldMkLst>
          <pc:docMk/>
          <pc:sldMk cId="0" sldId="268"/>
        </pc:sldMkLst>
      </pc:sldChg>
      <pc:sldChg chg="add setBg">
        <pc:chgData name="Riffat Wyne" userId="82277f4b-c31d-4fec-a6d6-3ce7675122ea" providerId="ADAL" clId="{5B78895E-BE3C-4690-8DAC-444A06AF8E9E}" dt="2026-07-03T09:48:18.533" v="0"/>
        <pc:sldMkLst>
          <pc:docMk/>
          <pc:sldMk cId="0" sldId="269"/>
        </pc:sldMkLst>
      </pc:sldChg>
      <pc:sldChg chg="add setBg">
        <pc:chgData name="Riffat Wyne" userId="82277f4b-c31d-4fec-a6d6-3ce7675122ea" providerId="ADAL" clId="{5B78895E-BE3C-4690-8DAC-444A06AF8E9E}" dt="2026-07-03T09:48:18.533" v="0"/>
        <pc:sldMkLst>
          <pc:docMk/>
          <pc:sldMk cId="0" sldId="270"/>
        </pc:sldMkLst>
      </pc:sldChg>
      <pc:sldChg chg="add setBg">
        <pc:chgData name="Riffat Wyne" userId="82277f4b-c31d-4fec-a6d6-3ce7675122ea" providerId="ADAL" clId="{5B78895E-BE3C-4690-8DAC-444A06AF8E9E}" dt="2026-07-03T09:48:18.533" v="0"/>
        <pc:sldMkLst>
          <pc:docMk/>
          <pc:sldMk cId="0" sldId="271"/>
        </pc:sldMkLst>
      </pc:sldChg>
      <pc:sldChg chg="add setBg">
        <pc:chgData name="Riffat Wyne" userId="82277f4b-c31d-4fec-a6d6-3ce7675122ea" providerId="ADAL" clId="{5B78895E-BE3C-4690-8DAC-444A06AF8E9E}" dt="2026-07-03T09:48:18.533" v="0"/>
        <pc:sldMkLst>
          <pc:docMk/>
          <pc:sldMk cId="0" sldId="272"/>
        </pc:sldMkLst>
      </pc:sldChg>
      <pc:sldChg chg="add setBg">
        <pc:chgData name="Riffat Wyne" userId="82277f4b-c31d-4fec-a6d6-3ce7675122ea" providerId="ADAL" clId="{5B78895E-BE3C-4690-8DAC-444A06AF8E9E}" dt="2026-07-03T09:48:18.533" v="0"/>
        <pc:sldMkLst>
          <pc:docMk/>
          <pc:sldMk cId="0" sldId="273"/>
        </pc:sldMkLst>
      </pc:sldChg>
      <pc:sldChg chg="add setBg">
        <pc:chgData name="Riffat Wyne" userId="82277f4b-c31d-4fec-a6d6-3ce7675122ea" providerId="ADAL" clId="{5B78895E-BE3C-4690-8DAC-444A06AF8E9E}" dt="2026-07-03T09:48:18.533" v="0"/>
        <pc:sldMkLst>
          <pc:docMk/>
          <pc:sldMk cId="0" sldId="274"/>
        </pc:sldMkLst>
      </pc:sldChg>
      <pc:sldChg chg="add setBg">
        <pc:chgData name="Riffat Wyne" userId="82277f4b-c31d-4fec-a6d6-3ce7675122ea" providerId="ADAL" clId="{5B78895E-BE3C-4690-8DAC-444A06AF8E9E}" dt="2026-07-03T09:48:18.533" v="0"/>
        <pc:sldMkLst>
          <pc:docMk/>
          <pc:sldMk cId="0" sldId="275"/>
        </pc:sldMkLst>
      </pc:sldChg>
      <pc:sldChg chg="add setBg">
        <pc:chgData name="Riffat Wyne" userId="82277f4b-c31d-4fec-a6d6-3ce7675122ea" providerId="ADAL" clId="{5B78895E-BE3C-4690-8DAC-444A06AF8E9E}" dt="2026-07-03T09:48:18.533" v="0"/>
        <pc:sldMkLst>
          <pc:docMk/>
          <pc:sldMk cId="0" sldId="276"/>
        </pc:sldMkLst>
      </pc:sldChg>
      <pc:sldChg chg="add setBg">
        <pc:chgData name="Riffat Wyne" userId="82277f4b-c31d-4fec-a6d6-3ce7675122ea" providerId="ADAL" clId="{5B78895E-BE3C-4690-8DAC-444A06AF8E9E}" dt="2026-07-03T09:48:18.533" v="0"/>
        <pc:sldMkLst>
          <pc:docMk/>
          <pc:sldMk cId="0" sldId="277"/>
        </pc:sldMkLst>
      </pc:sldChg>
      <pc:sldChg chg="addSp add setBg">
        <pc:chgData name="Riffat Wyne" userId="82277f4b-c31d-4fec-a6d6-3ce7675122ea" providerId="ADAL" clId="{5B78895E-BE3C-4690-8DAC-444A06AF8E9E}" dt="2026-07-03T09:50:21.906" v="7"/>
        <pc:sldMkLst>
          <pc:docMk/>
          <pc:sldMk cId="0" sldId="278"/>
        </pc:sldMkLst>
        <pc:picChg chg="add">
          <ac:chgData name="Riffat Wyne" userId="82277f4b-c31d-4fec-a6d6-3ce7675122ea" providerId="ADAL" clId="{5B78895E-BE3C-4690-8DAC-444A06AF8E9E}" dt="2026-07-03T09:50:21.906" v="7"/>
          <ac:picMkLst>
            <pc:docMk/>
            <pc:sldMk cId="0" sldId="278"/>
            <ac:picMk id="23" creationId="{3946855F-A7C5-FF75-DA01-214F72A6DA63}"/>
          </ac:picMkLst>
        </pc:picChg>
      </pc:sldChg>
      <pc:sldChg chg="addSp modSp add del mod setBg">
        <pc:chgData name="Riffat Wyne" userId="82277f4b-c31d-4fec-a6d6-3ce7675122ea" providerId="ADAL" clId="{5B78895E-BE3C-4690-8DAC-444A06AF8E9E}" dt="2026-07-03T09:49:45.874" v="6" actId="14100"/>
        <pc:sldMkLst>
          <pc:docMk/>
          <pc:sldMk cId="0" sldId="279"/>
        </pc:sldMkLst>
        <pc:picChg chg="add mod">
          <ac:chgData name="Riffat Wyne" userId="82277f4b-c31d-4fec-a6d6-3ce7675122ea" providerId="ADAL" clId="{5B78895E-BE3C-4690-8DAC-444A06AF8E9E}" dt="2026-07-03T09:49:45.874" v="6" actId="14100"/>
          <ac:picMkLst>
            <pc:docMk/>
            <pc:sldMk cId="0" sldId="279"/>
            <ac:picMk id="9" creationId="{561494EC-2280-4518-F086-4BAF2C05A152}"/>
          </ac:picMkLst>
        </pc:picChg>
      </pc:sldChg>
      <pc:sldChg chg="addSp modSp new mod">
        <pc:chgData name="Riffat Wyne" userId="82277f4b-c31d-4fec-a6d6-3ce7675122ea" providerId="ADAL" clId="{5B78895E-BE3C-4690-8DAC-444A06AF8E9E}" dt="2026-07-03T09:50:43.846" v="11" actId="14100"/>
        <pc:sldMkLst>
          <pc:docMk/>
          <pc:sldMk cId="1804580497" sldId="280"/>
        </pc:sldMkLst>
        <pc:picChg chg="add mod">
          <ac:chgData name="Riffat Wyne" userId="82277f4b-c31d-4fec-a6d6-3ce7675122ea" providerId="ADAL" clId="{5B78895E-BE3C-4690-8DAC-444A06AF8E9E}" dt="2026-07-03T09:50:43.846" v="11" actId="14100"/>
          <ac:picMkLst>
            <pc:docMk/>
            <pc:sldMk cId="1804580497" sldId="280"/>
            <ac:picMk id="2" creationId="{06C2BBE6-9C5A-CEA4-89F4-6E268142DE69}"/>
          </ac:picMkLst>
        </pc:picChg>
      </pc:sldChg>
      <pc:sldChg chg="addSp delSp modSp add mod setBg">
        <pc:chgData name="Riffat Wyne" userId="82277f4b-c31d-4fec-a6d6-3ce7675122ea" providerId="ADAL" clId="{5B78895E-BE3C-4690-8DAC-444A06AF8E9E}" dt="2026-07-03T09:52:53.206" v="19" actId="14100"/>
        <pc:sldMkLst>
          <pc:docMk/>
          <pc:sldMk cId="0" sldId="281"/>
        </pc:sldMkLst>
        <pc:picChg chg="add del">
          <ac:chgData name="Riffat Wyne" userId="82277f4b-c31d-4fec-a6d6-3ce7675122ea" providerId="ADAL" clId="{5B78895E-BE3C-4690-8DAC-444A06AF8E9E}" dt="2026-07-03T09:52:18.914" v="16" actId="478"/>
          <ac:picMkLst>
            <pc:docMk/>
            <pc:sldMk cId="0" sldId="281"/>
            <ac:picMk id="8" creationId="{D72B49EA-C269-4B45-19C4-AC37D91A00D2}"/>
          </ac:picMkLst>
        </pc:picChg>
        <pc:picChg chg="add mod">
          <ac:chgData name="Riffat Wyne" userId="82277f4b-c31d-4fec-a6d6-3ce7675122ea" providerId="ADAL" clId="{5B78895E-BE3C-4690-8DAC-444A06AF8E9E}" dt="2026-07-03T09:52:53.206" v="19" actId="14100"/>
          <ac:picMkLst>
            <pc:docMk/>
            <pc:sldMk cId="0" sldId="281"/>
            <ac:picMk id="10" creationId="{72429A9B-C033-5380-D4CB-D638C152D901}"/>
          </ac:picMkLst>
        </pc:picChg>
      </pc:sldChg>
      <pc:sldChg chg="add del setBg">
        <pc:chgData name="Riffat Wyne" userId="82277f4b-c31d-4fec-a6d6-3ce7675122ea" providerId="ADAL" clId="{5B78895E-BE3C-4690-8DAC-444A06AF8E9E}" dt="2026-07-03T09:52:10.149" v="14" actId="47"/>
        <pc:sldMkLst>
          <pc:docMk/>
          <pc:sldMk cId="0" sldId="2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781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the session: this is the certification demo for the Release Note Workflow Automation proof of concept, built as part of the TWT AI Mastery program. Open by naming the team briefly and thanking the trainer and the course. Set expectations: this is a proof of concept, not a production system, and the goal today is to show how AI capabilities — Commands, Skills, Agents, and MCP integrations — can meaningfully improve release note creation while keeping a human in control at every step. Preview the three parts of the walkthrough: the problem and design, a live demonstration of two scenarios, and the responsible-AI validation and roadmap. Keep this slide brief — under 30 seconds — energy and clarity matter more than detail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AI capabilities this PoC demonstrates, left to right. Commands are the reusable prompts the writer triggers — think of them as on-demand actions. Skills package expertise, like the release-note style guide, so drafts come out consistent regardless of who runs the command. Agents are the multi-step workers: they extract from tickets, draft, and run a self-review pass before anything reaches a human. MCP integrations are the forward-looking piece — direct connectors into YouTrack and GitHub — and we'll flag that this is a roadmap item today, demonstrated conceptually rather than fully wired end-to-end. Bridge: 'Here's how those four pieces combine into a full future-state workflow.'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same five-stage shape as the current-state slide, but color-code who does each step: teal for AI-performed steps, navy for human-performed steps. AI retrieves and reads issues, extracts and drafts the note, and runs a self-review pass — three consecutive AI steps. Then the flow deliberately hands off: a human approves, and only a human publishes. That handoff is not incidental, it is the design. Cite the estimated 80-90% cycle time reduction from the future-state workflow document as directional, not audited — call it an estimate, not a guarantee. Bridge: 'Let's stop talking about the design and actually see it work — two scenarios.'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live demo before running it. We'll show two scenarios using the same underlying agent workflow. Scenario 1, Feature Release, has complete engineering detail in YouTrack, so the AI produces a full, publish-ready draft — this shows the raw automation gain. Scenario 2, Mixed Release, deliberately has incomplete information, so the AI flags the specific gaps rather than guessing or fabricating — this shows the safeguard that makes the workflow trustworthy. Tell the audience which one you'll run live and which one you'll walk through as a pre-built artifact, per your demo plan, so expectations are set before you switch screens.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live as you run this scenario: the agent extracts directly from the YouTrack issue — title, description, resolution notes — then a skill applies the release-note style guide to draft it in the house voice. Before handing off, the agent runs a self-review pass, checking its own draft against the source ticket for accuracy. Then stop and hand control to the human reviewer step explicitly: the writer reads the draft, makes any edits, and gives the final sign-off. Reinforce: 'Notice the AI did not publish anything — it produced a draft for a human to approve.'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transformation concretely. On the left is what a writer starts with today — raw ticket fragments, technical shorthand, no customer framing. This example is illustrative, built to represent a typical ticket, not a real customer issue. On the right is the AI-produced draft after the writer's review: customer-facing language, a clear headline, and plain-English impact. Note that every fact in the 'after' text traces back to something in the 'before' — nothing was invented. That traceability is exactly what the AI-assisted framing promises. This is the automation win: minutes instead of days for the first draft, with a human still finishing the job.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scenario that carries the responsible-AI message, so narrate it deliberately. The agent extracts from a ticket that is missing a customer impact statement — a required field per the style guide. Instead of inferring or inventing that detail, the agent stops at the gap-check step and surfaces precisely what's missing. Say the key phrase here explicitly: 'AI only uses provided information.' It does not guess to fill the silence. The workflow then routes back to the human, who supplies the missing detail before drafting resumes — the human is a required input, not an optional check.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flagged message on screen and read it aloud — it's specific about which ticket and exactly which field is missing, not a vague error. Walk the three outcomes underneath: nothing is invented to fill the silence, the draft pauses and routes back to the human, and it only resumes once the missing fact is supplied. This is the moment to land the second key phrase: 'humans make final approval' pairs with this gap-flag behavior — the human isn't just approving at the end, they're a required input whenever information is genuinely missing. Bridge: 'That behavior isn't incidental — it's a deliberate governance principle. Let's look at how we validated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the live demo to how we govern this pattern more broadly. Four principles, all downstream of the same idea. Final approval is always human — nothing ships without a person's sign-off. No fabrication — you just watched this in scenario 2, where the AI flagged rather than guessed. Transparent reasoning means every line in an AI draft can be traced to a specific ticket, which is what makes the traceability problem from slide 2 actually solved, not just hidden. Auditable trail means every draft, edit, and approval is logged, so if something goes wrong after publish, the review path is reconstructable. These four principles are what the validation work in the next slide was designed to test.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checklist against the project charter's success criteria — read it as evidence, not aspiration, since everything here was actually demonstrated today. Call out that the MCP integration path is validated at the concept level only; full automated retrieval from YouTrack and GitHub is future work, addressed on the roadmap slide next. If asked by evaluators, be ready to point to the specific validation findings and known-limitations documentation Anubhav's team maintained, since this slide summarizes rather than replaces that record. Bridge: 'With validation covered, here's where the next iteration goes.'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horizons, deliberately scoped so nobody thinks this PoC claims more than it delivers. Now: what you saw today — two validated scenarios using Commands, Skills, and Agents inside Claude.ai. Next: MCP integration with YouTrack and GitHub, so draft retrieval becomes automated rather than manually pasted in — this is the most requested next step from the team. Later: once the pattern is proven for release notes, the same AI-assisted approach could extend to other documentation types, though that is explicitly out of scope for this proof of concept. Keep this slide honest about sequencing — avoid implying MCP integration is already built.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human-effectiveness message, not a technology flex. Read the quote and let it land: this makes people faster, not redundant. Restate the division of labor in one breath — AI extracts, drafts, and reviews; people decide, approve, and publish — that's the entire proof of concept in a sentence. Thank the team by name, since this was a group effort across workflow design, validation, and prototyping. Open the floor for questions, and if evaluators probe on production-readiness, be direct that this is explicitly a proof of concept: the MCP integration, broader document types, and full audit tooling are roadmap items, not built today.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7.png"/><Relationship Id="rId7" Type="http://schemas.openxmlformats.org/officeDocument/2006/relationships/hyperlink" Target="https://getingegroup-my.sharepoint.com/:v:/g/personal/riffat_wyne_getinge_com/IQCtgGEqApL1Q4vFpE7_6ifXAevd-MngQ2bSH6vrmEaRZwE?e=Wa1cKn"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4.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39.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7.jp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5B"/>
        </a:solidFill>
        <a:effectLst/>
      </p:bgPr>
    </p:bg>
    <p:spTree>
      <p:nvGrpSpPr>
        <p:cNvPr id="1" name=""/>
        <p:cNvGrpSpPr/>
        <p:nvPr/>
      </p:nvGrpSpPr>
      <p:grpSpPr>
        <a:xfrm>
          <a:off x="0" y="0"/>
          <a:ext cx="0" cy="0"/>
          <a:chOff x="0" y="0"/>
          <a:chExt cx="0" cy="0"/>
        </a:xfrm>
      </p:grpSpPr>
      <p:sp>
        <p:nvSpPr>
          <p:cNvPr id="2" name="Shape 0"/>
          <p:cNvSpPr/>
          <p:nvPr/>
        </p:nvSpPr>
        <p:spPr>
          <a:xfrm>
            <a:off x="7040880" y="-1554480"/>
            <a:ext cx="3566160" cy="3566160"/>
          </a:xfrm>
          <a:prstGeom prst="ellipse">
            <a:avLst/>
          </a:prstGeom>
          <a:solidFill>
            <a:srgbClr val="2A9D8F">
              <a:alpha val="22000"/>
            </a:srgbClr>
          </a:solidFill>
          <a:ln/>
        </p:spPr>
        <p:txBody>
          <a:bodyPr/>
          <a:lstStyle/>
          <a:p>
            <a:endParaRPr lang="en-US"/>
          </a:p>
        </p:txBody>
      </p:sp>
      <p:sp>
        <p:nvSpPr>
          <p:cNvPr id="3" name="Shape 1"/>
          <p:cNvSpPr/>
          <p:nvPr/>
        </p:nvSpPr>
        <p:spPr>
          <a:xfrm>
            <a:off x="7635240" y="-960120"/>
            <a:ext cx="2377440" cy="2377440"/>
          </a:xfrm>
          <a:prstGeom prst="ellipse">
            <a:avLst/>
          </a:prstGeom>
          <a:solidFill>
            <a:srgbClr val="2A9D8F">
              <a:alpha val="45000"/>
            </a:srgbClr>
          </a:solidFill>
          <a:ln/>
        </p:spPr>
        <p:txBody>
          <a:bodyPr/>
          <a:lstStyle/>
          <a:p>
            <a:endParaRPr lang="en-US"/>
          </a:p>
        </p:txBody>
      </p:sp>
      <p:sp>
        <p:nvSpPr>
          <p:cNvPr id="4" name="Shape 2"/>
          <p:cNvSpPr/>
          <p:nvPr/>
        </p:nvSpPr>
        <p:spPr>
          <a:xfrm>
            <a:off x="-1280160" y="3840480"/>
            <a:ext cx="2743200" cy="2743200"/>
          </a:xfrm>
          <a:prstGeom prst="ellipse">
            <a:avLst/>
          </a:prstGeom>
          <a:solidFill>
            <a:srgbClr val="2A9D8F">
              <a:alpha val="15000"/>
            </a:srgbClr>
          </a:solidFill>
          <a:ln/>
        </p:spPr>
        <p:txBody>
          <a:bodyPr/>
          <a:lstStyle/>
          <a:p>
            <a:endParaRPr lang="en-US"/>
          </a:p>
        </p:txBody>
      </p:sp>
      <p:sp>
        <p:nvSpPr>
          <p:cNvPr id="5" name="Text 3"/>
          <p:cNvSpPr/>
          <p:nvPr/>
        </p:nvSpPr>
        <p:spPr>
          <a:xfrm>
            <a:off x="566928" y="1170432"/>
            <a:ext cx="7772400" cy="274320"/>
          </a:xfrm>
          <a:prstGeom prst="rect">
            <a:avLst/>
          </a:prstGeom>
          <a:noFill/>
          <a:ln/>
        </p:spPr>
        <p:txBody>
          <a:bodyPr wrap="square" lIns="0" tIns="0" rIns="0" bIns="0" rtlCol="0" anchor="ctr"/>
          <a:lstStyle/>
          <a:p>
            <a:pPr marL="0" indent="0">
              <a:buNone/>
            </a:pPr>
            <a:r>
              <a:rPr lang="en-US" sz="1250" b="1" kern="0" spc="300" dirty="0">
                <a:solidFill>
                  <a:srgbClr val="2A9D8F"/>
                </a:solidFill>
                <a:latin typeface="Calibri" pitchFamily="34" charset="0"/>
                <a:ea typeface="Calibri" pitchFamily="34" charset="-122"/>
                <a:cs typeface="Calibri" pitchFamily="34" charset="-120"/>
              </a:rPr>
              <a:t>TWT AI MASTERY PROGRAM . CAPSTONE PROJECT  ·  PROOF OF CONCEPT</a:t>
            </a:r>
            <a:endParaRPr lang="en-US" sz="1250" dirty="0"/>
          </a:p>
        </p:txBody>
      </p:sp>
      <p:sp>
        <p:nvSpPr>
          <p:cNvPr id="6" name="Text 4"/>
          <p:cNvSpPr/>
          <p:nvPr/>
        </p:nvSpPr>
        <p:spPr>
          <a:xfrm>
            <a:off x="566928" y="1627632"/>
            <a:ext cx="7680960" cy="1371600"/>
          </a:xfrm>
          <a:prstGeom prst="rect">
            <a:avLst/>
          </a:prstGeom>
          <a:noFill/>
          <a:ln/>
        </p:spPr>
        <p:txBody>
          <a:bodyPr wrap="square" lIns="0" tIns="0" rIns="0" bIns="0" rtlCol="0" anchor="t"/>
          <a:lstStyle/>
          <a:p>
            <a:pPr marL="0" indent="0">
              <a:lnSpc>
                <a:spcPct val="98000"/>
              </a:lnSpc>
              <a:buNone/>
            </a:pPr>
            <a:r>
              <a:rPr lang="en-US" sz="4800" b="1" dirty="0">
                <a:solidFill>
                  <a:srgbClr val="FFFFFF"/>
                </a:solidFill>
                <a:latin typeface="Cambria" pitchFamily="34" charset="0"/>
                <a:ea typeface="Cambria" pitchFamily="34" charset="-122"/>
                <a:cs typeface="Cambria" pitchFamily="34" charset="-120"/>
              </a:rPr>
              <a:t>AI Release Note Generation</a:t>
            </a:r>
            <a:endParaRPr lang="en-US" sz="4800" dirty="0"/>
          </a:p>
        </p:txBody>
      </p:sp>
      <p:sp>
        <p:nvSpPr>
          <p:cNvPr id="7" name="Text 5"/>
          <p:cNvSpPr/>
          <p:nvPr/>
        </p:nvSpPr>
        <p:spPr>
          <a:xfrm>
            <a:off x="566928" y="2926080"/>
            <a:ext cx="6949440" cy="548640"/>
          </a:xfrm>
          <a:prstGeom prst="rect">
            <a:avLst/>
          </a:prstGeom>
          <a:noFill/>
          <a:ln/>
        </p:spPr>
        <p:txBody>
          <a:bodyPr wrap="square" lIns="0" tIns="0" rIns="0" bIns="0" rtlCol="0" anchor="ctr"/>
          <a:lstStyle/>
          <a:p>
            <a:pPr marL="0" indent="0">
              <a:buNone/>
            </a:pPr>
            <a:r>
              <a:rPr lang="en-US" sz="1700" i="1" dirty="0">
                <a:solidFill>
                  <a:srgbClr val="AFC3D6"/>
                </a:solidFill>
                <a:latin typeface="Calibri" pitchFamily="34" charset="0"/>
                <a:ea typeface="Calibri" pitchFamily="34" charset="-122"/>
                <a:cs typeface="Calibri" pitchFamily="34" charset="-120"/>
              </a:rPr>
              <a:t>Automating release notes with AI agents — while people stay in control</a:t>
            </a:r>
            <a:endParaRPr lang="en-US" sz="1700" dirty="0"/>
          </a:p>
        </p:txBody>
      </p:sp>
      <p:sp>
        <p:nvSpPr>
          <p:cNvPr id="8" name="Shape 6"/>
          <p:cNvSpPr/>
          <p:nvPr/>
        </p:nvSpPr>
        <p:spPr>
          <a:xfrm>
            <a:off x="585216" y="3675888"/>
            <a:ext cx="1371600" cy="0"/>
          </a:xfrm>
          <a:prstGeom prst="line">
            <a:avLst/>
          </a:prstGeom>
          <a:noFill/>
          <a:ln w="31750">
            <a:solidFill>
              <a:srgbClr val="2A9D8F"/>
            </a:solidFill>
            <a:prstDash val="solid"/>
          </a:ln>
        </p:spPr>
        <p:txBody>
          <a:bodyPr/>
          <a:lstStyle/>
          <a:p>
            <a:endParaRPr lang="en-US"/>
          </a:p>
        </p:txBody>
      </p:sp>
      <p:sp>
        <p:nvSpPr>
          <p:cNvPr id="9" name="Text 7"/>
          <p:cNvSpPr/>
          <p:nvPr/>
        </p:nvSpPr>
        <p:spPr>
          <a:xfrm>
            <a:off x="566928" y="3977640"/>
            <a:ext cx="3657600" cy="274320"/>
          </a:xfrm>
          <a:prstGeom prst="rect">
            <a:avLst/>
          </a:prstGeom>
          <a:noFill/>
          <a:ln/>
        </p:spPr>
        <p:txBody>
          <a:bodyPr wrap="square" lIns="0" tIns="0" rIns="0" bIns="0" rtlCol="0" anchor="ctr"/>
          <a:lstStyle/>
          <a:p>
            <a:pPr marL="0" indent="0">
              <a:buNone/>
            </a:pPr>
            <a:r>
              <a:rPr lang="en-US" sz="1300" dirty="0">
                <a:solidFill>
                  <a:srgbClr val="AFC3D6"/>
                </a:solidFill>
                <a:latin typeface="Calibri" pitchFamily="34" charset="0"/>
                <a:ea typeface="Calibri" pitchFamily="34" charset="-122"/>
                <a:cs typeface="Calibri" pitchFamily="34" charset="-120"/>
              </a:rPr>
              <a:t>02 July 2026</a:t>
            </a:r>
            <a:endParaRPr lang="en-US" sz="1300" dirty="0"/>
          </a:p>
        </p:txBody>
      </p:sp>
      <p:sp>
        <p:nvSpPr>
          <p:cNvPr id="10" name="Text 8"/>
          <p:cNvSpPr/>
          <p:nvPr/>
        </p:nvSpPr>
        <p:spPr>
          <a:xfrm>
            <a:off x="566928" y="431596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Riffat Wyne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THE CHALLENGE</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Why Release Notes Are Hard Today</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Writers assemble release notes by hand from scattered engineering detail — it is slow, repetitive, and uneven in quality.</a:t>
            </a:r>
            <a:endParaRPr lang="en-US" sz="1450" dirty="0"/>
          </a:p>
        </p:txBody>
      </p:sp>
      <p:sp>
        <p:nvSpPr>
          <p:cNvPr id="5" name="Shape 3"/>
          <p:cNvSpPr/>
          <p:nvPr/>
        </p:nvSpPr>
        <p:spPr>
          <a:xfrm>
            <a:off x="566928" y="2084832"/>
            <a:ext cx="1810512" cy="2395728"/>
          </a:xfrm>
          <a:prstGeom prst="roundRect">
            <a:avLst>
              <a:gd name="adj" fmla="val 404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1097280" y="2350008"/>
            <a:ext cx="749808" cy="749808"/>
          </a:xfrm>
          <a:prstGeom prst="ellipse">
            <a:avLst/>
          </a:prstGeom>
          <a:solidFill>
            <a:srgbClr val="12355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99728" y="2552456"/>
            <a:ext cx="344912" cy="344912"/>
          </a:xfrm>
          <a:prstGeom prst="rect">
            <a:avLst/>
          </a:prstGeom>
        </p:spPr>
      </p:pic>
      <p:sp>
        <p:nvSpPr>
          <p:cNvPr id="8" name="Text 5"/>
          <p:cNvSpPr/>
          <p:nvPr/>
        </p:nvSpPr>
        <p:spPr>
          <a:xfrm>
            <a:off x="676656" y="3227832"/>
            <a:ext cx="1591056" cy="457200"/>
          </a:xfrm>
          <a:prstGeom prst="rect">
            <a:avLst/>
          </a:prstGeom>
          <a:noFill/>
          <a:ln/>
        </p:spPr>
        <p:txBody>
          <a:bodyPr wrap="square" lIns="0" tIns="0" rIns="0" bIns="0" rtlCol="0" anchor="t"/>
          <a:lstStyle/>
          <a:p>
            <a:pPr marL="0" indent="0" algn="ctr">
              <a:buNone/>
            </a:pPr>
            <a:r>
              <a:rPr lang="en-US" sz="1450" b="1" dirty="0">
                <a:solidFill>
                  <a:srgbClr val="12355B"/>
                </a:solidFill>
                <a:latin typeface="Calibri" pitchFamily="34" charset="0"/>
                <a:ea typeface="Calibri" pitchFamily="34" charset="-122"/>
                <a:cs typeface="Calibri" pitchFamily="34" charset="-120"/>
              </a:rPr>
              <a:t>Manual Extraction</a:t>
            </a:r>
            <a:endParaRPr lang="en-US" sz="1450" dirty="0"/>
          </a:p>
        </p:txBody>
      </p:sp>
      <p:sp>
        <p:nvSpPr>
          <p:cNvPr id="9" name="Text 6"/>
          <p:cNvSpPr/>
          <p:nvPr/>
        </p:nvSpPr>
        <p:spPr>
          <a:xfrm>
            <a:off x="731520" y="3657600"/>
            <a:ext cx="1481328" cy="731520"/>
          </a:xfrm>
          <a:prstGeom prst="rect">
            <a:avLst/>
          </a:prstGeom>
          <a:noFill/>
          <a:ln/>
        </p:spPr>
        <p:txBody>
          <a:bodyPr wrap="square" lIns="0" tIns="0" rIns="0" bIns="0" rtlCol="0" anchor="t"/>
          <a:lstStyle/>
          <a:p>
            <a:pPr marL="0" indent="0" algn="ctr">
              <a:lnSpc>
                <a:spcPct val="102000"/>
              </a:lnSpc>
              <a:buNone/>
            </a:pPr>
            <a:r>
              <a:rPr lang="en-US" sz="1100" dirty="0">
                <a:solidFill>
                  <a:srgbClr val="5F6B7A"/>
                </a:solidFill>
                <a:latin typeface="Calibri" pitchFamily="34" charset="0"/>
                <a:ea typeface="Calibri" pitchFamily="34" charset="-122"/>
                <a:cs typeface="Calibri" pitchFamily="34" charset="-120"/>
              </a:rPr>
              <a:t>Work items and case numbers are pulled by hand from Azure DevOps and ServiceNow.</a:t>
            </a:r>
            <a:endParaRPr lang="en-US" sz="1100" dirty="0"/>
          </a:p>
        </p:txBody>
      </p:sp>
      <p:sp>
        <p:nvSpPr>
          <p:cNvPr id="10" name="Shape 7"/>
          <p:cNvSpPr/>
          <p:nvPr/>
        </p:nvSpPr>
        <p:spPr>
          <a:xfrm>
            <a:off x="2633472" y="2084832"/>
            <a:ext cx="1810512" cy="2395728"/>
          </a:xfrm>
          <a:prstGeom prst="roundRect">
            <a:avLst>
              <a:gd name="adj" fmla="val 404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1" name="Shape 8"/>
          <p:cNvSpPr/>
          <p:nvPr/>
        </p:nvSpPr>
        <p:spPr>
          <a:xfrm>
            <a:off x="3163824" y="2350008"/>
            <a:ext cx="749808" cy="749808"/>
          </a:xfrm>
          <a:prstGeom prst="ellipse">
            <a:avLst/>
          </a:prstGeom>
          <a:solidFill>
            <a:srgbClr val="12355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366272" y="2552456"/>
            <a:ext cx="344912" cy="344912"/>
          </a:xfrm>
          <a:prstGeom prst="rect">
            <a:avLst/>
          </a:prstGeom>
        </p:spPr>
      </p:pic>
      <p:sp>
        <p:nvSpPr>
          <p:cNvPr id="13" name="Text 9"/>
          <p:cNvSpPr/>
          <p:nvPr/>
        </p:nvSpPr>
        <p:spPr>
          <a:xfrm>
            <a:off x="2743200" y="3227832"/>
            <a:ext cx="1591056" cy="457200"/>
          </a:xfrm>
          <a:prstGeom prst="rect">
            <a:avLst/>
          </a:prstGeom>
          <a:noFill/>
          <a:ln/>
        </p:spPr>
        <p:txBody>
          <a:bodyPr wrap="square" lIns="0" tIns="0" rIns="0" bIns="0" rtlCol="0" anchor="t"/>
          <a:lstStyle/>
          <a:p>
            <a:pPr marL="0" indent="0" algn="ctr">
              <a:buNone/>
            </a:pPr>
            <a:r>
              <a:rPr lang="en-US" sz="1450" b="1" dirty="0">
                <a:solidFill>
                  <a:srgbClr val="12355B"/>
                </a:solidFill>
                <a:latin typeface="Calibri" pitchFamily="34" charset="0"/>
                <a:ea typeface="Calibri" pitchFamily="34" charset="-122"/>
                <a:cs typeface="Calibri" pitchFamily="34" charset="-120"/>
              </a:rPr>
              <a:t>Repetitive Work</a:t>
            </a:r>
            <a:endParaRPr lang="en-US" sz="1450" dirty="0"/>
          </a:p>
        </p:txBody>
      </p:sp>
      <p:sp>
        <p:nvSpPr>
          <p:cNvPr id="14" name="Text 10"/>
          <p:cNvSpPr/>
          <p:nvPr/>
        </p:nvSpPr>
        <p:spPr>
          <a:xfrm>
            <a:off x="2798064" y="3657600"/>
            <a:ext cx="1481328" cy="731520"/>
          </a:xfrm>
          <a:prstGeom prst="rect">
            <a:avLst/>
          </a:prstGeom>
          <a:noFill/>
          <a:ln/>
        </p:spPr>
        <p:txBody>
          <a:bodyPr wrap="square" lIns="0" tIns="0" rIns="0" bIns="0" rtlCol="0" anchor="t"/>
          <a:lstStyle/>
          <a:p>
            <a:pPr marL="0" indent="0" algn="ctr">
              <a:lnSpc>
                <a:spcPct val="102000"/>
              </a:lnSpc>
              <a:buNone/>
            </a:pPr>
            <a:r>
              <a:rPr lang="en-US" sz="1100" dirty="0">
                <a:solidFill>
                  <a:srgbClr val="5F6B7A"/>
                </a:solidFill>
                <a:latin typeface="Calibri" pitchFamily="34" charset="0"/>
                <a:ea typeface="Calibri" pitchFamily="34" charset="-122"/>
                <a:cs typeface="Calibri" pitchFamily="34" charset="-120"/>
              </a:rPr>
              <a:t>The same drafting and rewriting happens with every release, over and over.</a:t>
            </a:r>
            <a:endParaRPr lang="en-US" sz="1100" dirty="0"/>
          </a:p>
        </p:txBody>
      </p:sp>
      <p:sp>
        <p:nvSpPr>
          <p:cNvPr id="15" name="Shape 11"/>
          <p:cNvSpPr/>
          <p:nvPr/>
        </p:nvSpPr>
        <p:spPr>
          <a:xfrm>
            <a:off x="4700016" y="2084832"/>
            <a:ext cx="1810512" cy="2395728"/>
          </a:xfrm>
          <a:prstGeom prst="roundRect">
            <a:avLst>
              <a:gd name="adj" fmla="val 404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6" name="Shape 12"/>
          <p:cNvSpPr/>
          <p:nvPr/>
        </p:nvSpPr>
        <p:spPr>
          <a:xfrm>
            <a:off x="5230368" y="2350008"/>
            <a:ext cx="749808" cy="749808"/>
          </a:xfrm>
          <a:prstGeom prst="ellipse">
            <a:avLst/>
          </a:prstGeom>
          <a:solidFill>
            <a:srgbClr val="12355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5432816" y="2552456"/>
            <a:ext cx="344912" cy="344912"/>
          </a:xfrm>
          <a:prstGeom prst="rect">
            <a:avLst/>
          </a:prstGeom>
        </p:spPr>
      </p:pic>
      <p:sp>
        <p:nvSpPr>
          <p:cNvPr id="18" name="Text 13"/>
          <p:cNvSpPr/>
          <p:nvPr/>
        </p:nvSpPr>
        <p:spPr>
          <a:xfrm>
            <a:off x="4809744" y="3227832"/>
            <a:ext cx="1591056" cy="457200"/>
          </a:xfrm>
          <a:prstGeom prst="rect">
            <a:avLst/>
          </a:prstGeom>
          <a:noFill/>
          <a:ln/>
        </p:spPr>
        <p:txBody>
          <a:bodyPr wrap="square" lIns="0" tIns="0" rIns="0" bIns="0" rtlCol="0" anchor="t"/>
          <a:lstStyle/>
          <a:p>
            <a:pPr marL="0" indent="0" algn="ctr">
              <a:buNone/>
            </a:pPr>
            <a:r>
              <a:rPr lang="en-US" sz="1450" b="1" dirty="0">
                <a:solidFill>
                  <a:srgbClr val="12355B"/>
                </a:solidFill>
                <a:latin typeface="Calibri" pitchFamily="34" charset="0"/>
                <a:ea typeface="Calibri" pitchFamily="34" charset="-122"/>
                <a:cs typeface="Calibri" pitchFamily="34" charset="-120"/>
              </a:rPr>
              <a:t>Slow Gathering</a:t>
            </a:r>
            <a:endParaRPr lang="en-US" sz="1450" dirty="0"/>
          </a:p>
        </p:txBody>
      </p:sp>
      <p:sp>
        <p:nvSpPr>
          <p:cNvPr id="19" name="Text 14"/>
          <p:cNvSpPr/>
          <p:nvPr/>
        </p:nvSpPr>
        <p:spPr>
          <a:xfrm>
            <a:off x="4864608" y="3657600"/>
            <a:ext cx="1481328" cy="731520"/>
          </a:xfrm>
          <a:prstGeom prst="rect">
            <a:avLst/>
          </a:prstGeom>
          <a:noFill/>
          <a:ln/>
        </p:spPr>
        <p:txBody>
          <a:bodyPr wrap="square" lIns="0" tIns="0" rIns="0" bIns="0" rtlCol="0" anchor="t"/>
          <a:lstStyle/>
          <a:p>
            <a:pPr marL="0" indent="0" algn="ctr">
              <a:lnSpc>
                <a:spcPct val="102000"/>
              </a:lnSpc>
              <a:buNone/>
            </a:pPr>
            <a:r>
              <a:rPr lang="en-US" sz="1100" dirty="0">
                <a:solidFill>
                  <a:srgbClr val="5F6B7A"/>
                </a:solidFill>
                <a:latin typeface="Calibri" pitchFamily="34" charset="0"/>
                <a:ea typeface="Calibri" pitchFamily="34" charset="-122"/>
                <a:cs typeface="Calibri" pitchFamily="34" charset="-120"/>
              </a:rPr>
              <a:t>Tracking down the right technical detail eats up a large share of each cycle.</a:t>
            </a:r>
            <a:endParaRPr lang="en-US" sz="1100" dirty="0"/>
          </a:p>
        </p:txBody>
      </p:sp>
      <p:sp>
        <p:nvSpPr>
          <p:cNvPr id="20" name="Shape 15"/>
          <p:cNvSpPr/>
          <p:nvPr/>
        </p:nvSpPr>
        <p:spPr>
          <a:xfrm>
            <a:off x="6766560" y="2084832"/>
            <a:ext cx="1810512" cy="2395728"/>
          </a:xfrm>
          <a:prstGeom prst="roundRect">
            <a:avLst>
              <a:gd name="adj" fmla="val 404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21" name="Shape 16"/>
          <p:cNvSpPr/>
          <p:nvPr/>
        </p:nvSpPr>
        <p:spPr>
          <a:xfrm>
            <a:off x="7296912" y="2350008"/>
            <a:ext cx="749808" cy="749808"/>
          </a:xfrm>
          <a:prstGeom prst="ellipse">
            <a:avLst/>
          </a:prstGeom>
          <a:solidFill>
            <a:srgbClr val="12355B"/>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7499360" y="2552456"/>
            <a:ext cx="344912" cy="344912"/>
          </a:xfrm>
          <a:prstGeom prst="rect">
            <a:avLst/>
          </a:prstGeom>
        </p:spPr>
      </p:pic>
      <p:sp>
        <p:nvSpPr>
          <p:cNvPr id="23" name="Text 17"/>
          <p:cNvSpPr/>
          <p:nvPr/>
        </p:nvSpPr>
        <p:spPr>
          <a:xfrm>
            <a:off x="6876288" y="3227832"/>
            <a:ext cx="1591056" cy="457200"/>
          </a:xfrm>
          <a:prstGeom prst="rect">
            <a:avLst/>
          </a:prstGeom>
          <a:noFill/>
          <a:ln/>
        </p:spPr>
        <p:txBody>
          <a:bodyPr wrap="square" lIns="0" tIns="0" rIns="0" bIns="0" rtlCol="0" anchor="t"/>
          <a:lstStyle/>
          <a:p>
            <a:pPr marL="0" indent="0" algn="ctr">
              <a:buNone/>
            </a:pPr>
            <a:r>
              <a:rPr lang="en-US" sz="1450" b="1" dirty="0">
                <a:solidFill>
                  <a:srgbClr val="12355B"/>
                </a:solidFill>
                <a:latin typeface="Calibri" pitchFamily="34" charset="0"/>
                <a:ea typeface="Calibri" pitchFamily="34" charset="-122"/>
                <a:cs typeface="Calibri" pitchFamily="34" charset="-120"/>
              </a:rPr>
              <a:t>Uneven Quality</a:t>
            </a:r>
            <a:endParaRPr lang="en-US" sz="1450" dirty="0"/>
          </a:p>
        </p:txBody>
      </p:sp>
      <p:sp>
        <p:nvSpPr>
          <p:cNvPr id="24" name="Text 18"/>
          <p:cNvSpPr/>
          <p:nvPr/>
        </p:nvSpPr>
        <p:spPr>
          <a:xfrm>
            <a:off x="6931152" y="3657600"/>
            <a:ext cx="1481328" cy="731520"/>
          </a:xfrm>
          <a:prstGeom prst="rect">
            <a:avLst/>
          </a:prstGeom>
          <a:noFill/>
          <a:ln/>
        </p:spPr>
        <p:txBody>
          <a:bodyPr wrap="square" lIns="0" tIns="0" rIns="0" bIns="0" rtlCol="0" anchor="t"/>
          <a:lstStyle/>
          <a:p>
            <a:pPr marL="0" indent="0" algn="ctr">
              <a:lnSpc>
                <a:spcPct val="102000"/>
              </a:lnSpc>
              <a:buNone/>
            </a:pPr>
            <a:r>
              <a:rPr lang="en-US" sz="1100" dirty="0">
                <a:solidFill>
                  <a:srgbClr val="5F6B7A"/>
                </a:solidFill>
                <a:latin typeface="Calibri" pitchFamily="34" charset="0"/>
                <a:ea typeface="Calibri" pitchFamily="34" charset="-122"/>
                <a:cs typeface="Calibri" pitchFamily="34" charset="-120"/>
              </a:rPr>
              <a:t>Notes vary from release to release, and important technical detail often goes missing.</a:t>
            </a:r>
            <a:endParaRPr lang="en-US" sz="1100" dirty="0"/>
          </a:p>
        </p:txBody>
      </p:sp>
      <p:sp>
        <p:nvSpPr>
          <p:cNvPr id="25" name="Text 19"/>
          <p:cNvSpPr/>
          <p:nvPr/>
        </p:nvSpPr>
        <p:spPr>
          <a:xfrm>
            <a:off x="566928" y="4759452"/>
            <a:ext cx="7900416" cy="274320"/>
          </a:xfrm>
          <a:prstGeom prst="rect">
            <a:avLst/>
          </a:prstGeom>
          <a:noFill/>
          <a:ln/>
        </p:spPr>
        <p:txBody>
          <a:bodyPr wrap="square" lIns="0" tIns="0" rIns="0" bIns="0" rtlCol="0" anchor="ctr"/>
          <a:lstStyle/>
          <a:p>
            <a:pPr marL="0" indent="0">
              <a:buNone/>
            </a:pPr>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26" name="Text 20"/>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THE APPROACH</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A Human-in-the-Loop Proof of Concept</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The goal is not to replace technical writers. It is to take the repetitive work off their plate while people stay responsible for review and publication.</a:t>
            </a:r>
            <a:endParaRPr lang="en-US" sz="1450" dirty="0"/>
          </a:p>
        </p:txBody>
      </p:sp>
      <p:sp>
        <p:nvSpPr>
          <p:cNvPr id="5" name="Shape 3"/>
          <p:cNvSpPr/>
          <p:nvPr/>
        </p:nvSpPr>
        <p:spPr>
          <a:xfrm>
            <a:off x="566928" y="2121408"/>
            <a:ext cx="3867912" cy="1481328"/>
          </a:xfrm>
          <a:prstGeom prst="roundRect">
            <a:avLst>
              <a:gd name="adj" fmla="val 4938"/>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Text 4"/>
          <p:cNvSpPr/>
          <p:nvPr/>
        </p:nvSpPr>
        <p:spPr>
          <a:xfrm>
            <a:off x="841248" y="2340864"/>
            <a:ext cx="3319272" cy="310896"/>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What the AI does</a:t>
            </a:r>
            <a:endParaRPr lang="en-US" sz="1500" dirty="0"/>
          </a:p>
        </p:txBody>
      </p:sp>
      <p:sp>
        <p:nvSpPr>
          <p:cNvPr id="7" name="Text 5"/>
          <p:cNvSpPr/>
          <p:nvPr/>
        </p:nvSpPr>
        <p:spPr>
          <a:xfrm>
            <a:off x="859536" y="2724912"/>
            <a:ext cx="3319272" cy="822960"/>
          </a:xfrm>
          <a:prstGeom prst="rect">
            <a:avLst/>
          </a:prstGeom>
          <a:noFill/>
          <a:ln/>
        </p:spPr>
        <p:txBody>
          <a:bodyPr wrap="square" lIns="0" tIns="0" rIns="0" bIns="0" rtlCol="0" anchor="ctr"/>
          <a:lstStyle/>
          <a:p>
            <a:pPr marL="177800" indent="-177800">
              <a:lnSpc>
                <a:spcPct val="100000"/>
              </a:lnSpc>
              <a:spcAft>
                <a:spcPts val="600"/>
              </a:spcAft>
              <a:buSzPct val="100000"/>
              <a:buChar char="•"/>
            </a:pPr>
            <a:r>
              <a:rPr lang="en-US" sz="1250" dirty="0">
                <a:solidFill>
                  <a:srgbClr val="5F6B7A"/>
                </a:solidFill>
                <a:latin typeface="Calibri" pitchFamily="34" charset="0"/>
                <a:ea typeface="Calibri" pitchFamily="34" charset="-122"/>
                <a:cs typeface="Calibri" pitchFamily="34" charset="-120"/>
              </a:rPr>
              <a:t>Collects and normalizes release data</a:t>
            </a:r>
            <a:endParaRPr lang="en-US" sz="1250" dirty="0"/>
          </a:p>
          <a:p>
            <a:pPr marL="177800" indent="-177800">
              <a:lnSpc>
                <a:spcPct val="100000"/>
              </a:lnSpc>
              <a:spcAft>
                <a:spcPts val="600"/>
              </a:spcAft>
              <a:buSzPct val="100000"/>
              <a:buChar char="•"/>
            </a:pPr>
            <a:r>
              <a:rPr lang="en-US" sz="1250" dirty="0">
                <a:solidFill>
                  <a:srgbClr val="5F6B7A"/>
                </a:solidFill>
                <a:latin typeface="Calibri" pitchFamily="34" charset="0"/>
                <a:ea typeface="Calibri" pitchFamily="34" charset="-122"/>
                <a:cs typeface="Calibri" pitchFamily="34" charset="-120"/>
              </a:rPr>
              <a:t>Drafts clear, customer-friendly notes</a:t>
            </a:r>
            <a:endParaRPr lang="en-US" sz="1250" dirty="0"/>
          </a:p>
          <a:p>
            <a:pPr marL="177800" indent="-177800">
              <a:lnSpc>
                <a:spcPct val="100000"/>
              </a:lnSpc>
              <a:spcAft>
                <a:spcPts val="600"/>
              </a:spcAft>
              <a:buSzPct val="100000"/>
              <a:buChar char="•"/>
            </a:pPr>
            <a:r>
              <a:rPr lang="en-US" sz="1250" dirty="0">
                <a:solidFill>
                  <a:srgbClr val="5F6B7A"/>
                </a:solidFill>
                <a:latin typeface="Calibri" pitchFamily="34" charset="0"/>
                <a:ea typeface="Calibri" pitchFamily="34" charset="-122"/>
                <a:cs typeface="Calibri" pitchFamily="34" charset="-120"/>
              </a:rPr>
              <a:t>Reviews its own draft for quality</a:t>
            </a:r>
            <a:endParaRPr lang="en-US" sz="1250" dirty="0"/>
          </a:p>
        </p:txBody>
      </p:sp>
      <p:sp>
        <p:nvSpPr>
          <p:cNvPr id="8" name="Shape 6"/>
          <p:cNvSpPr/>
          <p:nvPr/>
        </p:nvSpPr>
        <p:spPr>
          <a:xfrm>
            <a:off x="4709160" y="2121408"/>
            <a:ext cx="3867912" cy="1481328"/>
          </a:xfrm>
          <a:prstGeom prst="roundRect">
            <a:avLst>
              <a:gd name="adj" fmla="val 4938"/>
            </a:avLst>
          </a:prstGeom>
          <a:solidFill>
            <a:srgbClr val="E8F5F3"/>
          </a:solidFill>
          <a:ln/>
          <a:effectLst>
            <a:outerShdw blurRad="88900" dist="38100" dir="5400000" algn="bl" rotWithShape="0">
              <a:srgbClr val="000000">
                <a:alpha val="10000"/>
              </a:srgbClr>
            </a:outerShdw>
          </a:effectLst>
        </p:spPr>
        <p:txBody>
          <a:bodyPr/>
          <a:lstStyle/>
          <a:p>
            <a:endParaRPr lang="en-US"/>
          </a:p>
        </p:txBody>
      </p:sp>
      <p:sp>
        <p:nvSpPr>
          <p:cNvPr id="9" name="Text 7"/>
          <p:cNvSpPr/>
          <p:nvPr/>
        </p:nvSpPr>
        <p:spPr>
          <a:xfrm>
            <a:off x="4983480" y="2340864"/>
            <a:ext cx="3319272" cy="310896"/>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What people keep</a:t>
            </a:r>
            <a:endParaRPr lang="en-US" sz="1500" dirty="0"/>
          </a:p>
        </p:txBody>
      </p:sp>
      <p:sp>
        <p:nvSpPr>
          <p:cNvPr id="10" name="Text 8"/>
          <p:cNvSpPr/>
          <p:nvPr/>
        </p:nvSpPr>
        <p:spPr>
          <a:xfrm>
            <a:off x="5001768" y="2724912"/>
            <a:ext cx="3319272" cy="822960"/>
          </a:xfrm>
          <a:prstGeom prst="rect">
            <a:avLst/>
          </a:prstGeom>
          <a:noFill/>
          <a:ln/>
        </p:spPr>
        <p:txBody>
          <a:bodyPr wrap="square" lIns="0" tIns="0" rIns="0" bIns="0" rtlCol="0" anchor="ctr"/>
          <a:lstStyle/>
          <a:p>
            <a:pPr marL="177800" indent="-177800">
              <a:lnSpc>
                <a:spcPct val="100000"/>
              </a:lnSpc>
              <a:spcAft>
                <a:spcPts val="600"/>
              </a:spcAft>
              <a:buSzPct val="100000"/>
              <a:buChar char="•"/>
            </a:pPr>
            <a:r>
              <a:rPr lang="en-US" sz="1250" dirty="0">
                <a:solidFill>
                  <a:srgbClr val="5F6B7A"/>
                </a:solidFill>
                <a:latin typeface="Calibri" pitchFamily="34" charset="0"/>
                <a:ea typeface="Calibri" pitchFamily="34" charset="-122"/>
                <a:cs typeface="Calibri" pitchFamily="34" charset="-120"/>
              </a:rPr>
              <a:t>Final review of every draft</a:t>
            </a:r>
            <a:endParaRPr lang="en-US" sz="1250" dirty="0"/>
          </a:p>
          <a:p>
            <a:pPr marL="177800" indent="-177800">
              <a:lnSpc>
                <a:spcPct val="100000"/>
              </a:lnSpc>
              <a:spcAft>
                <a:spcPts val="600"/>
              </a:spcAft>
              <a:buSzPct val="100000"/>
              <a:buChar char="•"/>
            </a:pPr>
            <a:r>
              <a:rPr lang="en-US" sz="1250" dirty="0">
                <a:solidFill>
                  <a:srgbClr val="5F6B7A"/>
                </a:solidFill>
                <a:latin typeface="Calibri" pitchFamily="34" charset="0"/>
                <a:ea typeface="Calibri" pitchFamily="34" charset="-122"/>
                <a:cs typeface="Calibri" pitchFamily="34" charset="-120"/>
              </a:rPr>
              <a:t>Approval authority before publishing</a:t>
            </a:r>
            <a:endParaRPr lang="en-US" sz="1250" dirty="0"/>
          </a:p>
          <a:p>
            <a:pPr marL="177800" indent="-177800">
              <a:lnSpc>
                <a:spcPct val="100000"/>
              </a:lnSpc>
              <a:spcAft>
                <a:spcPts val="600"/>
              </a:spcAft>
              <a:buSzPct val="100000"/>
              <a:buChar char="•"/>
            </a:pPr>
            <a:r>
              <a:rPr lang="en-US" sz="1250" dirty="0">
                <a:solidFill>
                  <a:srgbClr val="5F6B7A"/>
                </a:solidFill>
                <a:latin typeface="Calibri" pitchFamily="34" charset="0"/>
                <a:ea typeface="Calibri" pitchFamily="34" charset="-122"/>
                <a:cs typeface="Calibri" pitchFamily="34" charset="-120"/>
              </a:rPr>
              <a:t>Accountability for accuracy and tone</a:t>
            </a:r>
            <a:endParaRPr lang="en-US" sz="1250" dirty="0"/>
          </a:p>
        </p:txBody>
      </p:sp>
      <p:sp>
        <p:nvSpPr>
          <p:cNvPr id="11" name="Text 9"/>
          <p:cNvSpPr/>
          <p:nvPr/>
        </p:nvSpPr>
        <p:spPr>
          <a:xfrm>
            <a:off x="566928" y="3840480"/>
            <a:ext cx="1828800" cy="256032"/>
          </a:xfrm>
          <a:prstGeom prst="rect">
            <a:avLst/>
          </a:prstGeom>
          <a:noFill/>
          <a:ln/>
        </p:spPr>
        <p:txBody>
          <a:bodyPr wrap="square" lIns="0" tIns="0" rIns="0" bIns="0" rtlCol="0" anchor="ctr"/>
          <a:lstStyle/>
          <a:p>
            <a:pPr marL="0" indent="0">
              <a:buNone/>
            </a:pPr>
            <a:r>
              <a:rPr lang="en-US" sz="1050" b="1" kern="0" spc="200" dirty="0">
                <a:solidFill>
                  <a:srgbClr val="2A9D8F"/>
                </a:solidFill>
                <a:latin typeface="Calibri" pitchFamily="34" charset="0"/>
                <a:ea typeface="Calibri" pitchFamily="34" charset="-122"/>
                <a:cs typeface="Calibri" pitchFamily="34" charset="-120"/>
              </a:rPr>
              <a:t>BUILT WITH</a:t>
            </a:r>
            <a:endParaRPr lang="en-US" sz="1050" dirty="0"/>
          </a:p>
        </p:txBody>
      </p:sp>
      <p:sp>
        <p:nvSpPr>
          <p:cNvPr id="12" name="Shape 10"/>
          <p:cNvSpPr/>
          <p:nvPr/>
        </p:nvSpPr>
        <p:spPr>
          <a:xfrm>
            <a:off x="566928" y="4114800"/>
            <a:ext cx="1141171" cy="384048"/>
          </a:xfrm>
          <a:prstGeom prst="roundRect">
            <a:avLst>
              <a:gd name="adj" fmla="val 50000"/>
            </a:avLst>
          </a:prstGeom>
          <a:solidFill>
            <a:srgbClr val="12355B"/>
          </a:solidFill>
          <a:ln/>
        </p:spPr>
        <p:txBody>
          <a:bodyPr/>
          <a:lstStyle/>
          <a:p>
            <a:endParaRPr lang="en-US"/>
          </a:p>
        </p:txBody>
      </p:sp>
      <p:sp>
        <p:nvSpPr>
          <p:cNvPr id="13" name="Text 11"/>
          <p:cNvSpPr/>
          <p:nvPr/>
        </p:nvSpPr>
        <p:spPr>
          <a:xfrm>
            <a:off x="566928" y="4114800"/>
            <a:ext cx="1141171"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Claude Code</a:t>
            </a:r>
            <a:endParaRPr lang="en-US" sz="1100" dirty="0"/>
          </a:p>
        </p:txBody>
      </p:sp>
      <p:sp>
        <p:nvSpPr>
          <p:cNvPr id="14" name="Shape 12"/>
          <p:cNvSpPr/>
          <p:nvPr/>
        </p:nvSpPr>
        <p:spPr>
          <a:xfrm>
            <a:off x="1854403" y="4114800"/>
            <a:ext cx="738835" cy="384048"/>
          </a:xfrm>
          <a:prstGeom prst="roundRect">
            <a:avLst>
              <a:gd name="adj" fmla="val 50000"/>
            </a:avLst>
          </a:prstGeom>
          <a:solidFill>
            <a:srgbClr val="12355B"/>
          </a:solidFill>
          <a:ln/>
        </p:spPr>
        <p:txBody>
          <a:bodyPr/>
          <a:lstStyle/>
          <a:p>
            <a:endParaRPr lang="en-US"/>
          </a:p>
        </p:txBody>
      </p:sp>
      <p:sp>
        <p:nvSpPr>
          <p:cNvPr id="15" name="Text 13"/>
          <p:cNvSpPr/>
          <p:nvPr/>
        </p:nvSpPr>
        <p:spPr>
          <a:xfrm>
            <a:off x="1854403" y="4114800"/>
            <a:ext cx="738835"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Cursor</a:t>
            </a:r>
            <a:endParaRPr lang="en-US" sz="1100" dirty="0"/>
          </a:p>
        </p:txBody>
      </p:sp>
      <p:sp>
        <p:nvSpPr>
          <p:cNvPr id="16" name="Shape 14"/>
          <p:cNvSpPr/>
          <p:nvPr/>
        </p:nvSpPr>
        <p:spPr>
          <a:xfrm>
            <a:off x="2739542" y="4114800"/>
            <a:ext cx="738835" cy="384048"/>
          </a:xfrm>
          <a:prstGeom prst="roundRect">
            <a:avLst>
              <a:gd name="adj" fmla="val 50000"/>
            </a:avLst>
          </a:prstGeom>
          <a:solidFill>
            <a:srgbClr val="12355B"/>
          </a:solidFill>
          <a:ln/>
        </p:spPr>
        <p:txBody>
          <a:bodyPr/>
          <a:lstStyle/>
          <a:p>
            <a:endParaRPr lang="en-US"/>
          </a:p>
        </p:txBody>
      </p:sp>
      <p:sp>
        <p:nvSpPr>
          <p:cNvPr id="17" name="Text 15"/>
          <p:cNvSpPr/>
          <p:nvPr/>
        </p:nvSpPr>
        <p:spPr>
          <a:xfrm>
            <a:off x="2739542" y="4114800"/>
            <a:ext cx="738835"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GitHub</a:t>
            </a:r>
            <a:endParaRPr lang="en-US" sz="1100" dirty="0"/>
          </a:p>
        </p:txBody>
      </p:sp>
      <p:sp>
        <p:nvSpPr>
          <p:cNvPr id="18" name="Shape 16"/>
          <p:cNvSpPr/>
          <p:nvPr/>
        </p:nvSpPr>
        <p:spPr>
          <a:xfrm>
            <a:off x="3624682" y="4114800"/>
            <a:ext cx="980237" cy="384048"/>
          </a:xfrm>
          <a:prstGeom prst="roundRect">
            <a:avLst>
              <a:gd name="adj" fmla="val 50000"/>
            </a:avLst>
          </a:prstGeom>
          <a:solidFill>
            <a:srgbClr val="12355B"/>
          </a:solidFill>
          <a:ln/>
        </p:spPr>
        <p:txBody>
          <a:bodyPr/>
          <a:lstStyle/>
          <a:p>
            <a:endParaRPr lang="en-US"/>
          </a:p>
        </p:txBody>
      </p:sp>
      <p:sp>
        <p:nvSpPr>
          <p:cNvPr id="19" name="Text 17"/>
          <p:cNvSpPr/>
          <p:nvPr/>
        </p:nvSpPr>
        <p:spPr>
          <a:xfrm>
            <a:off x="3624682" y="4114800"/>
            <a:ext cx="980237"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AI Agents</a:t>
            </a:r>
            <a:endParaRPr lang="en-US" sz="1100" dirty="0"/>
          </a:p>
        </p:txBody>
      </p:sp>
      <p:sp>
        <p:nvSpPr>
          <p:cNvPr id="20" name="Shape 18"/>
          <p:cNvSpPr/>
          <p:nvPr/>
        </p:nvSpPr>
        <p:spPr>
          <a:xfrm>
            <a:off x="4751222" y="4114800"/>
            <a:ext cx="738835" cy="384048"/>
          </a:xfrm>
          <a:prstGeom prst="roundRect">
            <a:avLst>
              <a:gd name="adj" fmla="val 50000"/>
            </a:avLst>
          </a:prstGeom>
          <a:solidFill>
            <a:srgbClr val="12355B"/>
          </a:solidFill>
          <a:ln/>
        </p:spPr>
        <p:txBody>
          <a:bodyPr/>
          <a:lstStyle/>
          <a:p>
            <a:endParaRPr lang="en-US"/>
          </a:p>
        </p:txBody>
      </p:sp>
      <p:sp>
        <p:nvSpPr>
          <p:cNvPr id="21" name="Text 19"/>
          <p:cNvSpPr/>
          <p:nvPr/>
        </p:nvSpPr>
        <p:spPr>
          <a:xfrm>
            <a:off x="4751222" y="4114800"/>
            <a:ext cx="738835"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Skills</a:t>
            </a:r>
            <a:endParaRPr lang="en-US" sz="1100" dirty="0"/>
          </a:p>
        </p:txBody>
      </p:sp>
      <p:sp>
        <p:nvSpPr>
          <p:cNvPr id="22" name="Shape 20"/>
          <p:cNvSpPr/>
          <p:nvPr/>
        </p:nvSpPr>
        <p:spPr>
          <a:xfrm>
            <a:off x="5636362" y="4114800"/>
            <a:ext cx="819302" cy="384048"/>
          </a:xfrm>
          <a:prstGeom prst="roundRect">
            <a:avLst>
              <a:gd name="adj" fmla="val 50000"/>
            </a:avLst>
          </a:prstGeom>
          <a:solidFill>
            <a:srgbClr val="12355B"/>
          </a:solidFill>
          <a:ln/>
        </p:spPr>
        <p:txBody>
          <a:bodyPr/>
          <a:lstStyle/>
          <a:p>
            <a:endParaRPr lang="en-US"/>
          </a:p>
        </p:txBody>
      </p:sp>
      <p:sp>
        <p:nvSpPr>
          <p:cNvPr id="23" name="Text 21"/>
          <p:cNvSpPr/>
          <p:nvPr/>
        </p:nvSpPr>
        <p:spPr>
          <a:xfrm>
            <a:off x="5636362" y="4114800"/>
            <a:ext cx="819302"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Prompts</a:t>
            </a:r>
            <a:endParaRPr lang="en-US" sz="1100" dirty="0"/>
          </a:p>
        </p:txBody>
      </p:sp>
      <p:sp>
        <p:nvSpPr>
          <p:cNvPr id="24" name="Shape 22"/>
          <p:cNvSpPr/>
          <p:nvPr/>
        </p:nvSpPr>
        <p:spPr>
          <a:xfrm>
            <a:off x="6601968" y="4114800"/>
            <a:ext cx="899770" cy="384048"/>
          </a:xfrm>
          <a:prstGeom prst="roundRect">
            <a:avLst>
              <a:gd name="adj" fmla="val 50000"/>
            </a:avLst>
          </a:prstGeom>
          <a:solidFill>
            <a:srgbClr val="12355B"/>
          </a:solidFill>
          <a:ln/>
        </p:spPr>
        <p:txBody>
          <a:bodyPr/>
          <a:lstStyle/>
          <a:p>
            <a:endParaRPr lang="en-US"/>
          </a:p>
        </p:txBody>
      </p:sp>
      <p:sp>
        <p:nvSpPr>
          <p:cNvPr id="25" name="Text 23"/>
          <p:cNvSpPr/>
          <p:nvPr/>
        </p:nvSpPr>
        <p:spPr>
          <a:xfrm>
            <a:off x="6601968" y="4114800"/>
            <a:ext cx="89977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Commands</a:t>
            </a:r>
            <a:endParaRPr lang="en-US" sz="1100" dirty="0"/>
          </a:p>
        </p:txBody>
      </p:sp>
      <p:sp>
        <p:nvSpPr>
          <p:cNvPr id="26" name="Text 24"/>
          <p:cNvSpPr/>
          <p:nvPr/>
        </p:nvSpPr>
        <p:spPr>
          <a:xfrm>
            <a:off x="566928" y="4759452"/>
            <a:ext cx="7936992"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27" name="Text 25"/>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From Raw Tickets to a Published Note</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Five stages move a release from scattered source data to a human-approved, published note.</a:t>
            </a:r>
            <a:endParaRPr lang="en-US" sz="1450" dirty="0"/>
          </a:p>
        </p:txBody>
      </p:sp>
      <p:sp>
        <p:nvSpPr>
          <p:cNvPr id="5" name="Shape 3"/>
          <p:cNvSpPr/>
          <p:nvPr/>
        </p:nvSpPr>
        <p:spPr>
          <a:xfrm>
            <a:off x="947318" y="2093976"/>
            <a:ext cx="841248" cy="841248"/>
          </a:xfrm>
          <a:prstGeom prst="ellipse">
            <a:avLst/>
          </a:prstGeom>
          <a:solidFill>
            <a:srgbClr val="12355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74455" y="2321113"/>
            <a:ext cx="386974" cy="386974"/>
          </a:xfrm>
          <a:prstGeom prst="rect">
            <a:avLst/>
          </a:prstGeom>
        </p:spPr>
      </p:pic>
      <p:sp>
        <p:nvSpPr>
          <p:cNvPr id="7" name="Text 4"/>
          <p:cNvSpPr/>
          <p:nvPr/>
        </p:nvSpPr>
        <p:spPr>
          <a:xfrm>
            <a:off x="566928" y="3081528"/>
            <a:ext cx="1602029" cy="310896"/>
          </a:xfrm>
          <a:prstGeom prst="rect">
            <a:avLst/>
          </a:prstGeom>
          <a:noFill/>
          <a:ln/>
        </p:spPr>
        <p:txBody>
          <a:bodyPr wrap="square" lIns="0" tIns="0" rIns="0" bIns="0" rtlCol="0" anchor="ctr"/>
          <a:lstStyle/>
          <a:p>
            <a:pPr marL="0" indent="0" algn="ctr">
              <a:buNone/>
            </a:pPr>
            <a:r>
              <a:rPr lang="en-US" sz="1350" b="1" dirty="0">
                <a:solidFill>
                  <a:srgbClr val="12355B"/>
                </a:solidFill>
                <a:latin typeface="Calibri" pitchFamily="34" charset="0"/>
                <a:ea typeface="Calibri" pitchFamily="34" charset="-122"/>
                <a:cs typeface="Calibri" pitchFamily="34" charset="-120"/>
              </a:rPr>
              <a:t>Data Sources</a:t>
            </a:r>
            <a:endParaRPr lang="en-US" sz="1350" dirty="0"/>
          </a:p>
        </p:txBody>
      </p:sp>
      <p:sp>
        <p:nvSpPr>
          <p:cNvPr id="8" name="Text 5"/>
          <p:cNvSpPr/>
          <p:nvPr/>
        </p:nvSpPr>
        <p:spPr>
          <a:xfrm>
            <a:off x="612648" y="3392424"/>
            <a:ext cx="1510589" cy="548640"/>
          </a:xfrm>
          <a:prstGeom prst="rect">
            <a:avLst/>
          </a:prstGeom>
          <a:noFill/>
          <a:ln/>
        </p:spPr>
        <p:txBody>
          <a:bodyPr wrap="square" lIns="0" tIns="0" rIns="0" bIns="0" rtlCol="0" anchor="t"/>
          <a:lstStyle/>
          <a:p>
            <a:pPr marL="0" indent="0" algn="ctr">
              <a:lnSpc>
                <a:spcPct val="100000"/>
              </a:lnSpc>
              <a:buNone/>
            </a:pPr>
            <a:r>
              <a:rPr lang="en-US" sz="1050" dirty="0">
                <a:solidFill>
                  <a:srgbClr val="5F6B7A"/>
                </a:solidFill>
                <a:latin typeface="Calibri" pitchFamily="34" charset="0"/>
                <a:ea typeface="Calibri" pitchFamily="34" charset="-122"/>
                <a:cs typeface="Calibri" pitchFamily="34" charset="-120"/>
              </a:rPr>
              <a:t>Azure DevOps &amp; ServiceNow</a:t>
            </a:r>
            <a:endParaRPr lang="en-US" sz="1050" dirty="0"/>
          </a:p>
        </p:txBody>
      </p:sp>
      <p:pic>
        <p:nvPicPr>
          <p:cNvPr id="9" name="Image 1" descr="preencoded.png"/>
          <p:cNvPicPr>
            <a:picLocks noChangeAspect="1"/>
          </p:cNvPicPr>
          <p:nvPr/>
        </p:nvPicPr>
        <p:blipFill>
          <a:blip r:embed="rId4"/>
          <a:stretch>
            <a:fillRect/>
          </a:stretch>
        </p:blipFill>
        <p:spPr>
          <a:xfrm>
            <a:off x="2022653" y="2395728"/>
            <a:ext cx="237744" cy="237744"/>
          </a:xfrm>
          <a:prstGeom prst="rect">
            <a:avLst/>
          </a:prstGeom>
        </p:spPr>
      </p:pic>
      <p:sp>
        <p:nvSpPr>
          <p:cNvPr id="10" name="Shape 6"/>
          <p:cNvSpPr/>
          <p:nvPr/>
        </p:nvSpPr>
        <p:spPr>
          <a:xfrm>
            <a:off x="2549347" y="2093976"/>
            <a:ext cx="841248" cy="841248"/>
          </a:xfrm>
          <a:prstGeom prst="ellipse">
            <a:avLst/>
          </a:prstGeom>
          <a:solidFill>
            <a:srgbClr val="12355B"/>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2776484" y="2321113"/>
            <a:ext cx="386974" cy="386974"/>
          </a:xfrm>
          <a:prstGeom prst="rect">
            <a:avLst/>
          </a:prstGeom>
        </p:spPr>
      </p:pic>
      <p:sp>
        <p:nvSpPr>
          <p:cNvPr id="12" name="Text 7"/>
          <p:cNvSpPr/>
          <p:nvPr/>
        </p:nvSpPr>
        <p:spPr>
          <a:xfrm>
            <a:off x="2168957" y="3081528"/>
            <a:ext cx="1602029" cy="310896"/>
          </a:xfrm>
          <a:prstGeom prst="rect">
            <a:avLst/>
          </a:prstGeom>
          <a:noFill/>
          <a:ln/>
        </p:spPr>
        <p:txBody>
          <a:bodyPr wrap="square" lIns="0" tIns="0" rIns="0" bIns="0" rtlCol="0" anchor="ctr"/>
          <a:lstStyle/>
          <a:p>
            <a:pPr marL="0" indent="0" algn="ctr">
              <a:buNone/>
            </a:pPr>
            <a:r>
              <a:rPr lang="en-US" sz="1350" b="1" dirty="0">
                <a:solidFill>
                  <a:srgbClr val="12355B"/>
                </a:solidFill>
                <a:latin typeface="Calibri" pitchFamily="34" charset="0"/>
                <a:ea typeface="Calibri" pitchFamily="34" charset="-122"/>
                <a:cs typeface="Calibri" pitchFamily="34" charset="-120"/>
              </a:rPr>
              <a:t>AI Agents</a:t>
            </a:r>
            <a:endParaRPr lang="en-US" sz="1350" dirty="0"/>
          </a:p>
        </p:txBody>
      </p:sp>
      <p:sp>
        <p:nvSpPr>
          <p:cNvPr id="13" name="Text 8"/>
          <p:cNvSpPr/>
          <p:nvPr/>
        </p:nvSpPr>
        <p:spPr>
          <a:xfrm>
            <a:off x="2214677" y="3392424"/>
            <a:ext cx="1510589" cy="548640"/>
          </a:xfrm>
          <a:prstGeom prst="rect">
            <a:avLst/>
          </a:prstGeom>
          <a:noFill/>
          <a:ln/>
        </p:spPr>
        <p:txBody>
          <a:bodyPr wrap="square" lIns="0" tIns="0" rIns="0" bIns="0" rtlCol="0" anchor="t"/>
          <a:lstStyle/>
          <a:p>
            <a:pPr marL="0" indent="0" algn="ctr">
              <a:lnSpc>
                <a:spcPct val="100000"/>
              </a:lnSpc>
              <a:buNone/>
            </a:pPr>
            <a:r>
              <a:rPr lang="en-US" sz="1050" dirty="0">
                <a:solidFill>
                  <a:srgbClr val="5F6B7A"/>
                </a:solidFill>
                <a:latin typeface="Calibri" pitchFamily="34" charset="0"/>
                <a:ea typeface="Calibri" pitchFamily="34" charset="-122"/>
                <a:cs typeface="Calibri" pitchFamily="34" charset="-120"/>
              </a:rPr>
              <a:t>Collect, analyze, write, review</a:t>
            </a:r>
            <a:endParaRPr lang="en-US" sz="1050" dirty="0"/>
          </a:p>
        </p:txBody>
      </p:sp>
      <p:pic>
        <p:nvPicPr>
          <p:cNvPr id="14" name="Image 3" descr="preencoded.png"/>
          <p:cNvPicPr>
            <a:picLocks noChangeAspect="1"/>
          </p:cNvPicPr>
          <p:nvPr/>
        </p:nvPicPr>
        <p:blipFill>
          <a:blip r:embed="rId4"/>
          <a:stretch>
            <a:fillRect/>
          </a:stretch>
        </p:blipFill>
        <p:spPr>
          <a:xfrm>
            <a:off x="3624682" y="2395728"/>
            <a:ext cx="237744" cy="237744"/>
          </a:xfrm>
          <a:prstGeom prst="rect">
            <a:avLst/>
          </a:prstGeom>
        </p:spPr>
      </p:pic>
      <p:sp>
        <p:nvSpPr>
          <p:cNvPr id="15" name="Shape 9"/>
          <p:cNvSpPr/>
          <p:nvPr/>
        </p:nvSpPr>
        <p:spPr>
          <a:xfrm>
            <a:off x="4151376" y="2093976"/>
            <a:ext cx="841248" cy="841248"/>
          </a:xfrm>
          <a:prstGeom prst="ellipse">
            <a:avLst/>
          </a:prstGeom>
          <a:solidFill>
            <a:srgbClr val="12355B"/>
          </a:solidFill>
          <a:ln/>
        </p:spPr>
        <p:txBody>
          <a:bodyPr/>
          <a:lstStyle/>
          <a:p>
            <a:endParaRPr lang="en-US"/>
          </a:p>
        </p:txBody>
      </p:sp>
      <p:pic>
        <p:nvPicPr>
          <p:cNvPr id="16" name="Image 4" descr="preencoded.png"/>
          <p:cNvPicPr>
            <a:picLocks noChangeAspect="1"/>
          </p:cNvPicPr>
          <p:nvPr/>
        </p:nvPicPr>
        <p:blipFill>
          <a:blip r:embed="rId6"/>
          <a:stretch>
            <a:fillRect/>
          </a:stretch>
        </p:blipFill>
        <p:spPr>
          <a:xfrm>
            <a:off x="4378513" y="2321113"/>
            <a:ext cx="386974" cy="386974"/>
          </a:xfrm>
          <a:prstGeom prst="rect">
            <a:avLst/>
          </a:prstGeom>
        </p:spPr>
      </p:pic>
      <p:sp>
        <p:nvSpPr>
          <p:cNvPr id="17" name="Text 10"/>
          <p:cNvSpPr/>
          <p:nvPr/>
        </p:nvSpPr>
        <p:spPr>
          <a:xfrm>
            <a:off x="3770986" y="3081528"/>
            <a:ext cx="1602029" cy="310896"/>
          </a:xfrm>
          <a:prstGeom prst="rect">
            <a:avLst/>
          </a:prstGeom>
          <a:noFill/>
          <a:ln/>
        </p:spPr>
        <p:txBody>
          <a:bodyPr wrap="square" lIns="0" tIns="0" rIns="0" bIns="0" rtlCol="0" anchor="ctr"/>
          <a:lstStyle/>
          <a:p>
            <a:pPr marL="0" indent="0" algn="ctr">
              <a:buNone/>
            </a:pPr>
            <a:r>
              <a:rPr lang="en-US" sz="1350" b="1" dirty="0">
                <a:solidFill>
                  <a:srgbClr val="12355B"/>
                </a:solidFill>
                <a:latin typeface="Calibri" pitchFamily="34" charset="0"/>
                <a:ea typeface="Calibri" pitchFamily="34" charset="-122"/>
                <a:cs typeface="Calibri" pitchFamily="34" charset="-120"/>
              </a:rPr>
              <a:t>Artifacts</a:t>
            </a:r>
            <a:endParaRPr lang="en-US" sz="1350" dirty="0"/>
          </a:p>
        </p:txBody>
      </p:sp>
      <p:sp>
        <p:nvSpPr>
          <p:cNvPr id="18" name="Text 11"/>
          <p:cNvSpPr/>
          <p:nvPr/>
        </p:nvSpPr>
        <p:spPr>
          <a:xfrm>
            <a:off x="3816706" y="3392424"/>
            <a:ext cx="1510589" cy="548640"/>
          </a:xfrm>
          <a:prstGeom prst="rect">
            <a:avLst/>
          </a:prstGeom>
          <a:noFill/>
          <a:ln/>
        </p:spPr>
        <p:txBody>
          <a:bodyPr wrap="square" lIns="0" tIns="0" rIns="0" bIns="0" rtlCol="0" anchor="t"/>
          <a:lstStyle/>
          <a:p>
            <a:pPr marL="0" indent="0" algn="ctr">
              <a:lnSpc>
                <a:spcPct val="100000"/>
              </a:lnSpc>
              <a:buNone/>
            </a:pPr>
            <a:r>
              <a:rPr lang="en-US" sz="1050" dirty="0">
                <a:solidFill>
                  <a:srgbClr val="5F6B7A"/>
                </a:solidFill>
                <a:latin typeface="Calibri" pitchFamily="34" charset="0"/>
                <a:ea typeface="Calibri" pitchFamily="34" charset="-122"/>
                <a:cs typeface="Calibri" pitchFamily="34" charset="-120"/>
              </a:rPr>
              <a:t>JSON &amp; Markdown outputs</a:t>
            </a:r>
            <a:endParaRPr lang="en-US" sz="1050" dirty="0"/>
          </a:p>
        </p:txBody>
      </p:sp>
      <p:pic>
        <p:nvPicPr>
          <p:cNvPr id="19" name="Image 5" descr="preencoded.png"/>
          <p:cNvPicPr>
            <a:picLocks noChangeAspect="1"/>
          </p:cNvPicPr>
          <p:nvPr/>
        </p:nvPicPr>
        <p:blipFill>
          <a:blip r:embed="rId4"/>
          <a:stretch>
            <a:fillRect/>
          </a:stretch>
        </p:blipFill>
        <p:spPr>
          <a:xfrm>
            <a:off x="5226710" y="2395728"/>
            <a:ext cx="237744" cy="237744"/>
          </a:xfrm>
          <a:prstGeom prst="rect">
            <a:avLst/>
          </a:prstGeom>
        </p:spPr>
      </p:pic>
      <p:sp>
        <p:nvSpPr>
          <p:cNvPr id="20" name="Shape 12"/>
          <p:cNvSpPr/>
          <p:nvPr/>
        </p:nvSpPr>
        <p:spPr>
          <a:xfrm>
            <a:off x="5753405" y="2093976"/>
            <a:ext cx="841248" cy="841248"/>
          </a:xfrm>
          <a:prstGeom prst="ellipse">
            <a:avLst/>
          </a:prstGeom>
          <a:solidFill>
            <a:srgbClr val="2A9D8F"/>
          </a:solidFill>
          <a:ln/>
        </p:spPr>
        <p:txBody>
          <a:bodyPr/>
          <a:lstStyle/>
          <a:p>
            <a:endParaRPr lang="en-US"/>
          </a:p>
        </p:txBody>
      </p:sp>
      <p:pic>
        <p:nvPicPr>
          <p:cNvPr id="21" name="Image 6" descr="preencoded.png"/>
          <p:cNvPicPr>
            <a:picLocks noChangeAspect="1"/>
          </p:cNvPicPr>
          <p:nvPr/>
        </p:nvPicPr>
        <p:blipFill>
          <a:blip r:embed="rId7"/>
          <a:stretch>
            <a:fillRect/>
          </a:stretch>
        </p:blipFill>
        <p:spPr>
          <a:xfrm>
            <a:off x="5980542" y="2321113"/>
            <a:ext cx="386974" cy="386974"/>
          </a:xfrm>
          <a:prstGeom prst="rect">
            <a:avLst/>
          </a:prstGeom>
        </p:spPr>
      </p:pic>
      <p:sp>
        <p:nvSpPr>
          <p:cNvPr id="22" name="Text 13"/>
          <p:cNvSpPr/>
          <p:nvPr/>
        </p:nvSpPr>
        <p:spPr>
          <a:xfrm>
            <a:off x="5373014" y="3081528"/>
            <a:ext cx="1602029" cy="310896"/>
          </a:xfrm>
          <a:prstGeom prst="rect">
            <a:avLst/>
          </a:prstGeom>
          <a:noFill/>
          <a:ln/>
        </p:spPr>
        <p:txBody>
          <a:bodyPr wrap="square" lIns="0" tIns="0" rIns="0" bIns="0" rtlCol="0" anchor="ctr"/>
          <a:lstStyle/>
          <a:p>
            <a:pPr marL="0" indent="0" algn="ctr">
              <a:buNone/>
            </a:pPr>
            <a:r>
              <a:rPr lang="en-US" sz="1350" b="1" dirty="0">
                <a:solidFill>
                  <a:srgbClr val="12355B"/>
                </a:solidFill>
                <a:latin typeface="Calibri" pitchFamily="34" charset="0"/>
                <a:ea typeface="Calibri" pitchFamily="34" charset="-122"/>
                <a:cs typeface="Calibri" pitchFamily="34" charset="-120"/>
              </a:rPr>
              <a:t>Human Review</a:t>
            </a:r>
            <a:endParaRPr lang="en-US" sz="1350" dirty="0"/>
          </a:p>
        </p:txBody>
      </p:sp>
      <p:sp>
        <p:nvSpPr>
          <p:cNvPr id="23" name="Text 14"/>
          <p:cNvSpPr/>
          <p:nvPr/>
        </p:nvSpPr>
        <p:spPr>
          <a:xfrm>
            <a:off x="5418734" y="3392424"/>
            <a:ext cx="1510589" cy="548640"/>
          </a:xfrm>
          <a:prstGeom prst="rect">
            <a:avLst/>
          </a:prstGeom>
          <a:noFill/>
          <a:ln/>
        </p:spPr>
        <p:txBody>
          <a:bodyPr wrap="square" lIns="0" tIns="0" rIns="0" bIns="0" rtlCol="0" anchor="t"/>
          <a:lstStyle/>
          <a:p>
            <a:pPr marL="0" indent="0" algn="ctr">
              <a:lnSpc>
                <a:spcPct val="100000"/>
              </a:lnSpc>
              <a:buNone/>
            </a:pPr>
            <a:r>
              <a:rPr lang="en-US" sz="1050" dirty="0">
                <a:solidFill>
                  <a:srgbClr val="5F6B7A"/>
                </a:solidFill>
                <a:latin typeface="Calibri" pitchFamily="34" charset="0"/>
                <a:ea typeface="Calibri" pitchFamily="34" charset="-122"/>
                <a:cs typeface="Calibri" pitchFamily="34" charset="-120"/>
              </a:rPr>
              <a:t>Writer, SME, approval</a:t>
            </a:r>
            <a:endParaRPr lang="en-US" sz="1050" dirty="0"/>
          </a:p>
        </p:txBody>
      </p:sp>
      <p:pic>
        <p:nvPicPr>
          <p:cNvPr id="24" name="Image 7" descr="preencoded.png"/>
          <p:cNvPicPr>
            <a:picLocks noChangeAspect="1"/>
          </p:cNvPicPr>
          <p:nvPr/>
        </p:nvPicPr>
        <p:blipFill>
          <a:blip r:embed="rId4"/>
          <a:stretch>
            <a:fillRect/>
          </a:stretch>
        </p:blipFill>
        <p:spPr>
          <a:xfrm>
            <a:off x="6828739" y="2395728"/>
            <a:ext cx="237744" cy="237744"/>
          </a:xfrm>
          <a:prstGeom prst="rect">
            <a:avLst/>
          </a:prstGeom>
        </p:spPr>
      </p:pic>
      <p:sp>
        <p:nvSpPr>
          <p:cNvPr id="25" name="Shape 15"/>
          <p:cNvSpPr/>
          <p:nvPr/>
        </p:nvSpPr>
        <p:spPr>
          <a:xfrm>
            <a:off x="7355434" y="2093976"/>
            <a:ext cx="841248" cy="841248"/>
          </a:xfrm>
          <a:prstGeom prst="ellipse">
            <a:avLst/>
          </a:prstGeom>
          <a:solidFill>
            <a:srgbClr val="12355B"/>
          </a:solidFill>
          <a:ln/>
        </p:spPr>
        <p:txBody>
          <a:bodyPr/>
          <a:lstStyle/>
          <a:p>
            <a:endParaRPr lang="en-US"/>
          </a:p>
        </p:txBody>
      </p:sp>
      <p:pic>
        <p:nvPicPr>
          <p:cNvPr id="26" name="Image 8" descr="preencoded.png"/>
          <p:cNvPicPr>
            <a:picLocks noChangeAspect="1"/>
          </p:cNvPicPr>
          <p:nvPr/>
        </p:nvPicPr>
        <p:blipFill>
          <a:blip r:embed="rId8"/>
          <a:stretch>
            <a:fillRect/>
          </a:stretch>
        </p:blipFill>
        <p:spPr>
          <a:xfrm>
            <a:off x="7582571" y="2321113"/>
            <a:ext cx="386974" cy="386974"/>
          </a:xfrm>
          <a:prstGeom prst="rect">
            <a:avLst/>
          </a:prstGeom>
        </p:spPr>
      </p:pic>
      <p:sp>
        <p:nvSpPr>
          <p:cNvPr id="27" name="Text 16"/>
          <p:cNvSpPr/>
          <p:nvPr/>
        </p:nvSpPr>
        <p:spPr>
          <a:xfrm>
            <a:off x="6975043" y="3081528"/>
            <a:ext cx="1602029" cy="310896"/>
          </a:xfrm>
          <a:prstGeom prst="rect">
            <a:avLst/>
          </a:prstGeom>
          <a:noFill/>
          <a:ln/>
        </p:spPr>
        <p:txBody>
          <a:bodyPr wrap="square" lIns="0" tIns="0" rIns="0" bIns="0" rtlCol="0" anchor="ctr"/>
          <a:lstStyle/>
          <a:p>
            <a:pPr marL="0" indent="0" algn="ctr">
              <a:buNone/>
            </a:pPr>
            <a:r>
              <a:rPr lang="en-US" sz="1350" b="1" dirty="0">
                <a:solidFill>
                  <a:srgbClr val="12355B"/>
                </a:solidFill>
                <a:latin typeface="Calibri" pitchFamily="34" charset="0"/>
                <a:ea typeface="Calibri" pitchFamily="34" charset="-122"/>
                <a:cs typeface="Calibri" pitchFamily="34" charset="-120"/>
              </a:rPr>
              <a:t>Publish</a:t>
            </a:r>
            <a:endParaRPr lang="en-US" sz="1350" dirty="0"/>
          </a:p>
        </p:txBody>
      </p:sp>
      <p:sp>
        <p:nvSpPr>
          <p:cNvPr id="28" name="Text 17"/>
          <p:cNvSpPr/>
          <p:nvPr/>
        </p:nvSpPr>
        <p:spPr>
          <a:xfrm>
            <a:off x="7020763" y="3392424"/>
            <a:ext cx="1510589" cy="548640"/>
          </a:xfrm>
          <a:prstGeom prst="rect">
            <a:avLst/>
          </a:prstGeom>
          <a:noFill/>
          <a:ln/>
        </p:spPr>
        <p:txBody>
          <a:bodyPr wrap="square" lIns="0" tIns="0" rIns="0" bIns="0" rtlCol="0" anchor="t"/>
          <a:lstStyle/>
          <a:p>
            <a:pPr marL="0" indent="0" algn="ctr">
              <a:lnSpc>
                <a:spcPct val="100000"/>
              </a:lnSpc>
              <a:buNone/>
            </a:pPr>
            <a:r>
              <a:rPr lang="en-US" sz="1050" dirty="0">
                <a:solidFill>
                  <a:srgbClr val="5F6B7A"/>
                </a:solidFill>
                <a:latin typeface="Calibri" pitchFamily="34" charset="0"/>
                <a:ea typeface="Calibri" pitchFamily="34" charset="-122"/>
                <a:cs typeface="Calibri" pitchFamily="34" charset="-120"/>
              </a:rPr>
              <a:t>Live in Document360</a:t>
            </a:r>
            <a:endParaRPr lang="en-US" sz="1050" dirty="0"/>
          </a:p>
        </p:txBody>
      </p:sp>
      <p:sp>
        <p:nvSpPr>
          <p:cNvPr id="29" name="Shape 18"/>
          <p:cNvSpPr/>
          <p:nvPr/>
        </p:nvSpPr>
        <p:spPr>
          <a:xfrm>
            <a:off x="1024128" y="4224528"/>
            <a:ext cx="146304" cy="146304"/>
          </a:xfrm>
          <a:prstGeom prst="ellipse">
            <a:avLst/>
          </a:prstGeom>
          <a:solidFill>
            <a:srgbClr val="12355B"/>
          </a:solidFill>
          <a:ln/>
        </p:spPr>
        <p:txBody>
          <a:bodyPr/>
          <a:lstStyle/>
          <a:p>
            <a:endParaRPr lang="en-US"/>
          </a:p>
        </p:txBody>
      </p:sp>
      <p:sp>
        <p:nvSpPr>
          <p:cNvPr id="30" name="Text 19"/>
          <p:cNvSpPr/>
          <p:nvPr/>
        </p:nvSpPr>
        <p:spPr>
          <a:xfrm>
            <a:off x="1225296" y="4160520"/>
            <a:ext cx="2011680" cy="274320"/>
          </a:xfrm>
          <a:prstGeom prst="rect">
            <a:avLst/>
          </a:prstGeom>
          <a:noFill/>
          <a:ln/>
        </p:spPr>
        <p:txBody>
          <a:bodyPr wrap="square" lIns="0" tIns="0" rIns="0" bIns="0" rtlCol="0" anchor="ctr"/>
          <a:lstStyle/>
          <a:p>
            <a:pPr marL="0" indent="0">
              <a:buNone/>
            </a:pPr>
            <a:r>
              <a:rPr lang="en-US" sz="1050" dirty="0">
                <a:solidFill>
                  <a:srgbClr val="5F6B7A"/>
                </a:solidFill>
                <a:latin typeface="Calibri" pitchFamily="34" charset="0"/>
                <a:ea typeface="Calibri" pitchFamily="34" charset="-122"/>
                <a:cs typeface="Calibri" pitchFamily="34" charset="-120"/>
              </a:rPr>
              <a:t>AI-performed step</a:t>
            </a:r>
            <a:endParaRPr lang="en-US" sz="1050" dirty="0"/>
          </a:p>
        </p:txBody>
      </p:sp>
      <p:sp>
        <p:nvSpPr>
          <p:cNvPr id="31" name="Shape 20"/>
          <p:cNvSpPr/>
          <p:nvPr/>
        </p:nvSpPr>
        <p:spPr>
          <a:xfrm>
            <a:off x="3493008" y="4224528"/>
            <a:ext cx="146304" cy="146304"/>
          </a:xfrm>
          <a:prstGeom prst="ellipse">
            <a:avLst/>
          </a:prstGeom>
          <a:solidFill>
            <a:srgbClr val="2A9D8F"/>
          </a:solidFill>
          <a:ln/>
        </p:spPr>
        <p:txBody>
          <a:bodyPr/>
          <a:lstStyle/>
          <a:p>
            <a:endParaRPr lang="en-US"/>
          </a:p>
        </p:txBody>
      </p:sp>
      <p:sp>
        <p:nvSpPr>
          <p:cNvPr id="32" name="Text 21"/>
          <p:cNvSpPr/>
          <p:nvPr/>
        </p:nvSpPr>
        <p:spPr>
          <a:xfrm>
            <a:off x="3694176" y="4160520"/>
            <a:ext cx="2194560" cy="274320"/>
          </a:xfrm>
          <a:prstGeom prst="rect">
            <a:avLst/>
          </a:prstGeom>
          <a:noFill/>
          <a:ln/>
        </p:spPr>
        <p:txBody>
          <a:bodyPr wrap="square" lIns="0" tIns="0" rIns="0" bIns="0" rtlCol="0" anchor="ctr"/>
          <a:lstStyle/>
          <a:p>
            <a:pPr marL="0" indent="0">
              <a:buNone/>
            </a:pPr>
            <a:r>
              <a:rPr lang="en-US" sz="1050" dirty="0">
                <a:solidFill>
                  <a:srgbClr val="5F6B7A"/>
                </a:solidFill>
                <a:latin typeface="Calibri" pitchFamily="34" charset="0"/>
                <a:ea typeface="Calibri" pitchFamily="34" charset="-122"/>
                <a:cs typeface="Calibri" pitchFamily="34" charset="-120"/>
              </a:rPr>
              <a:t>Human-performed step</a:t>
            </a:r>
            <a:endParaRPr lang="en-US" sz="1050" dirty="0"/>
          </a:p>
        </p:txBody>
      </p:sp>
      <p:sp>
        <p:nvSpPr>
          <p:cNvPr id="33" name="Text 22"/>
          <p:cNvSpPr/>
          <p:nvPr/>
        </p:nvSpPr>
        <p:spPr>
          <a:xfrm>
            <a:off x="566928" y="4759452"/>
            <a:ext cx="7964424"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 				</a:t>
            </a:r>
            <a:endParaRPr lang="en-US" sz="900" dirty="0"/>
          </a:p>
        </p:txBody>
      </p:sp>
      <p:sp>
        <p:nvSpPr>
          <p:cNvPr id="34" name="Text 23"/>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THE BUILDING BLOCKS</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Five Agents, One Job Each</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Every agent does a single task. That keeps the workflow modular, easy to test, and simple to swap for live integrations later.</a:t>
            </a:r>
            <a:endParaRPr lang="en-US" sz="1450" dirty="0"/>
          </a:p>
        </p:txBody>
      </p:sp>
      <p:sp>
        <p:nvSpPr>
          <p:cNvPr id="5" name="Shape 3"/>
          <p:cNvSpPr/>
          <p:nvPr/>
        </p:nvSpPr>
        <p:spPr>
          <a:xfrm>
            <a:off x="566928" y="2084832"/>
            <a:ext cx="1441094" cy="237744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940003" y="2340864"/>
            <a:ext cx="694944" cy="694944"/>
          </a:xfrm>
          <a:prstGeom prst="ellipse">
            <a:avLst/>
          </a:prstGeom>
          <a:solidFill>
            <a:srgbClr val="12355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27638" y="2528499"/>
            <a:ext cx="319674" cy="319674"/>
          </a:xfrm>
          <a:prstGeom prst="rect">
            <a:avLst/>
          </a:prstGeom>
        </p:spPr>
      </p:pic>
      <p:sp>
        <p:nvSpPr>
          <p:cNvPr id="8" name="Text 5"/>
          <p:cNvSpPr/>
          <p:nvPr/>
        </p:nvSpPr>
        <p:spPr>
          <a:xfrm>
            <a:off x="694944" y="2231136"/>
            <a:ext cx="365760" cy="274320"/>
          </a:xfrm>
          <a:prstGeom prst="rect">
            <a:avLst/>
          </a:prstGeom>
          <a:noFill/>
          <a:ln/>
        </p:spPr>
        <p:txBody>
          <a:bodyPr wrap="square" lIns="0" tIns="0" rIns="0" bIns="0" rtlCol="0" anchor="ctr"/>
          <a:lstStyle/>
          <a:p>
            <a:pPr marL="0" indent="0">
              <a:buNone/>
            </a:pPr>
            <a:r>
              <a:rPr lang="en-US" sz="1700" b="1" dirty="0">
                <a:solidFill>
                  <a:srgbClr val="2A9D8F"/>
                </a:solidFill>
                <a:latin typeface="Cambria" pitchFamily="34" charset="0"/>
                <a:ea typeface="Cambria" pitchFamily="34" charset="-122"/>
                <a:cs typeface="Cambria" pitchFamily="34" charset="-120"/>
              </a:rPr>
              <a:t>1</a:t>
            </a:r>
            <a:endParaRPr lang="en-US" sz="1700" dirty="0"/>
          </a:p>
        </p:txBody>
      </p:sp>
      <p:sp>
        <p:nvSpPr>
          <p:cNvPr id="9" name="Text 6"/>
          <p:cNvSpPr/>
          <p:nvPr/>
        </p:nvSpPr>
        <p:spPr>
          <a:xfrm>
            <a:off x="658368" y="3182112"/>
            <a:ext cx="1258214" cy="457200"/>
          </a:xfrm>
          <a:prstGeom prst="rect">
            <a:avLst/>
          </a:prstGeom>
          <a:noFill/>
          <a:ln/>
        </p:spPr>
        <p:txBody>
          <a:bodyPr wrap="square" lIns="0" tIns="0" rIns="0" bIns="0" rtlCol="0" anchor="t"/>
          <a:lstStyle/>
          <a:p>
            <a:pPr marL="0" indent="0" algn="ctr">
              <a:buNone/>
            </a:pPr>
            <a:r>
              <a:rPr lang="en-US" sz="1300" b="1" dirty="0">
                <a:solidFill>
                  <a:srgbClr val="12355B"/>
                </a:solidFill>
                <a:latin typeface="Calibri" pitchFamily="34" charset="0"/>
                <a:ea typeface="Calibri" pitchFamily="34" charset="-122"/>
                <a:cs typeface="Calibri" pitchFamily="34" charset="-120"/>
              </a:rPr>
              <a:t>Collector</a:t>
            </a:r>
            <a:endParaRPr lang="en-US" sz="1300" dirty="0"/>
          </a:p>
        </p:txBody>
      </p:sp>
      <p:sp>
        <p:nvSpPr>
          <p:cNvPr id="10" name="Text 7"/>
          <p:cNvSpPr/>
          <p:nvPr/>
        </p:nvSpPr>
        <p:spPr>
          <a:xfrm>
            <a:off x="694944" y="3566160"/>
            <a:ext cx="1185062" cy="82296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Gathers the raw work items, bugs, and metadata for the release.</a:t>
            </a:r>
            <a:endParaRPr lang="en-US" sz="1000" dirty="0"/>
          </a:p>
        </p:txBody>
      </p:sp>
      <p:sp>
        <p:nvSpPr>
          <p:cNvPr id="11" name="Shape 8"/>
          <p:cNvSpPr/>
          <p:nvPr/>
        </p:nvSpPr>
        <p:spPr>
          <a:xfrm>
            <a:off x="2209190" y="2084832"/>
            <a:ext cx="1441094" cy="237744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2" name="Shape 9"/>
          <p:cNvSpPr/>
          <p:nvPr/>
        </p:nvSpPr>
        <p:spPr>
          <a:xfrm>
            <a:off x="2582266" y="2340864"/>
            <a:ext cx="694944" cy="694944"/>
          </a:xfrm>
          <a:prstGeom prst="ellipse">
            <a:avLst/>
          </a:prstGeom>
          <a:solidFill>
            <a:srgbClr val="12355B"/>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2769900" y="2528499"/>
            <a:ext cx="319674" cy="319674"/>
          </a:xfrm>
          <a:prstGeom prst="rect">
            <a:avLst/>
          </a:prstGeom>
        </p:spPr>
      </p:pic>
      <p:sp>
        <p:nvSpPr>
          <p:cNvPr id="14" name="Text 10"/>
          <p:cNvSpPr/>
          <p:nvPr/>
        </p:nvSpPr>
        <p:spPr>
          <a:xfrm>
            <a:off x="2337206" y="2231136"/>
            <a:ext cx="365760" cy="274320"/>
          </a:xfrm>
          <a:prstGeom prst="rect">
            <a:avLst/>
          </a:prstGeom>
          <a:noFill/>
          <a:ln/>
        </p:spPr>
        <p:txBody>
          <a:bodyPr wrap="square" lIns="0" tIns="0" rIns="0" bIns="0" rtlCol="0" anchor="ctr"/>
          <a:lstStyle/>
          <a:p>
            <a:pPr marL="0" indent="0">
              <a:buNone/>
            </a:pPr>
            <a:r>
              <a:rPr lang="en-US" sz="1700" b="1" dirty="0">
                <a:solidFill>
                  <a:srgbClr val="2A9D8F"/>
                </a:solidFill>
                <a:latin typeface="Cambria" pitchFamily="34" charset="0"/>
                <a:ea typeface="Cambria" pitchFamily="34" charset="-122"/>
                <a:cs typeface="Cambria" pitchFamily="34" charset="-120"/>
              </a:rPr>
              <a:t>2</a:t>
            </a:r>
            <a:endParaRPr lang="en-US" sz="1700" dirty="0"/>
          </a:p>
        </p:txBody>
      </p:sp>
      <p:sp>
        <p:nvSpPr>
          <p:cNvPr id="15" name="Text 11"/>
          <p:cNvSpPr/>
          <p:nvPr/>
        </p:nvSpPr>
        <p:spPr>
          <a:xfrm>
            <a:off x="2300630" y="3182112"/>
            <a:ext cx="1258214" cy="457200"/>
          </a:xfrm>
          <a:prstGeom prst="rect">
            <a:avLst/>
          </a:prstGeom>
          <a:noFill/>
          <a:ln/>
        </p:spPr>
        <p:txBody>
          <a:bodyPr wrap="square" lIns="0" tIns="0" rIns="0" bIns="0" rtlCol="0" anchor="t"/>
          <a:lstStyle/>
          <a:p>
            <a:pPr marL="0" indent="0" algn="ctr">
              <a:buNone/>
            </a:pPr>
            <a:r>
              <a:rPr lang="en-US" sz="1300" b="1" dirty="0">
                <a:solidFill>
                  <a:srgbClr val="12355B"/>
                </a:solidFill>
                <a:latin typeface="Calibri" pitchFamily="34" charset="0"/>
                <a:ea typeface="Calibri" pitchFamily="34" charset="-122"/>
                <a:cs typeface="Calibri" pitchFamily="34" charset="-120"/>
              </a:rPr>
              <a:t>Analyzer</a:t>
            </a:r>
            <a:endParaRPr lang="en-US" sz="1300" dirty="0"/>
          </a:p>
        </p:txBody>
      </p:sp>
      <p:sp>
        <p:nvSpPr>
          <p:cNvPr id="16" name="Text 12"/>
          <p:cNvSpPr/>
          <p:nvPr/>
        </p:nvSpPr>
        <p:spPr>
          <a:xfrm>
            <a:off x="2337206" y="3566160"/>
            <a:ext cx="1185062" cy="82296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Sorts the changes, judges customer impact, and sets priority.</a:t>
            </a:r>
            <a:endParaRPr lang="en-US" sz="1000" dirty="0"/>
          </a:p>
        </p:txBody>
      </p:sp>
      <p:sp>
        <p:nvSpPr>
          <p:cNvPr id="17" name="Shape 13"/>
          <p:cNvSpPr/>
          <p:nvPr/>
        </p:nvSpPr>
        <p:spPr>
          <a:xfrm>
            <a:off x="3851453" y="2084832"/>
            <a:ext cx="1441094" cy="237744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8" name="Shape 14"/>
          <p:cNvSpPr/>
          <p:nvPr/>
        </p:nvSpPr>
        <p:spPr>
          <a:xfrm>
            <a:off x="4224528" y="2340864"/>
            <a:ext cx="694944" cy="694944"/>
          </a:xfrm>
          <a:prstGeom prst="ellipse">
            <a:avLst/>
          </a:prstGeom>
          <a:solidFill>
            <a:srgbClr val="12355B"/>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4412163" y="2528499"/>
            <a:ext cx="319674" cy="319674"/>
          </a:xfrm>
          <a:prstGeom prst="rect">
            <a:avLst/>
          </a:prstGeom>
        </p:spPr>
      </p:pic>
      <p:sp>
        <p:nvSpPr>
          <p:cNvPr id="20" name="Text 15"/>
          <p:cNvSpPr/>
          <p:nvPr/>
        </p:nvSpPr>
        <p:spPr>
          <a:xfrm>
            <a:off x="3979469" y="2231136"/>
            <a:ext cx="365760" cy="274320"/>
          </a:xfrm>
          <a:prstGeom prst="rect">
            <a:avLst/>
          </a:prstGeom>
          <a:noFill/>
          <a:ln/>
        </p:spPr>
        <p:txBody>
          <a:bodyPr wrap="square" lIns="0" tIns="0" rIns="0" bIns="0" rtlCol="0" anchor="ctr"/>
          <a:lstStyle/>
          <a:p>
            <a:pPr marL="0" indent="0">
              <a:buNone/>
            </a:pPr>
            <a:r>
              <a:rPr lang="en-US" sz="1700" b="1" dirty="0">
                <a:solidFill>
                  <a:srgbClr val="2A9D8F"/>
                </a:solidFill>
                <a:latin typeface="Cambria" pitchFamily="34" charset="0"/>
                <a:ea typeface="Cambria" pitchFamily="34" charset="-122"/>
                <a:cs typeface="Cambria" pitchFamily="34" charset="-120"/>
              </a:rPr>
              <a:t>3</a:t>
            </a:r>
            <a:endParaRPr lang="en-US" sz="1700" dirty="0"/>
          </a:p>
        </p:txBody>
      </p:sp>
      <p:sp>
        <p:nvSpPr>
          <p:cNvPr id="21" name="Text 16"/>
          <p:cNvSpPr/>
          <p:nvPr/>
        </p:nvSpPr>
        <p:spPr>
          <a:xfrm>
            <a:off x="3942893" y="3182112"/>
            <a:ext cx="1258214" cy="457200"/>
          </a:xfrm>
          <a:prstGeom prst="rect">
            <a:avLst/>
          </a:prstGeom>
          <a:noFill/>
          <a:ln/>
        </p:spPr>
        <p:txBody>
          <a:bodyPr wrap="square" lIns="0" tIns="0" rIns="0" bIns="0" rtlCol="0" anchor="t"/>
          <a:lstStyle/>
          <a:p>
            <a:pPr marL="0" indent="0" algn="ctr">
              <a:buNone/>
            </a:pPr>
            <a:r>
              <a:rPr lang="en-US" sz="1300" b="1" dirty="0">
                <a:solidFill>
                  <a:srgbClr val="12355B"/>
                </a:solidFill>
                <a:latin typeface="Calibri" pitchFamily="34" charset="0"/>
                <a:ea typeface="Calibri" pitchFamily="34" charset="-122"/>
                <a:cs typeface="Calibri" pitchFamily="34" charset="-120"/>
              </a:rPr>
              <a:t>Writer</a:t>
            </a:r>
            <a:endParaRPr lang="en-US" sz="1300" dirty="0"/>
          </a:p>
        </p:txBody>
      </p:sp>
      <p:sp>
        <p:nvSpPr>
          <p:cNvPr id="22" name="Text 17"/>
          <p:cNvSpPr/>
          <p:nvPr/>
        </p:nvSpPr>
        <p:spPr>
          <a:xfrm>
            <a:off x="3979469" y="3566160"/>
            <a:ext cx="1185062" cy="82296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Turns the analysis into clear, customer-friendly release notes.</a:t>
            </a:r>
            <a:endParaRPr lang="en-US" sz="1000" dirty="0"/>
          </a:p>
        </p:txBody>
      </p:sp>
      <p:sp>
        <p:nvSpPr>
          <p:cNvPr id="23" name="Shape 18"/>
          <p:cNvSpPr/>
          <p:nvPr/>
        </p:nvSpPr>
        <p:spPr>
          <a:xfrm>
            <a:off x="5493715" y="2084832"/>
            <a:ext cx="1441094" cy="237744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24" name="Shape 19"/>
          <p:cNvSpPr/>
          <p:nvPr/>
        </p:nvSpPr>
        <p:spPr>
          <a:xfrm>
            <a:off x="5866790" y="2340864"/>
            <a:ext cx="694944" cy="694944"/>
          </a:xfrm>
          <a:prstGeom prst="ellipse">
            <a:avLst/>
          </a:prstGeom>
          <a:solidFill>
            <a:srgbClr val="12355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6054425" y="2528499"/>
            <a:ext cx="319674" cy="319674"/>
          </a:xfrm>
          <a:prstGeom prst="rect">
            <a:avLst/>
          </a:prstGeom>
        </p:spPr>
      </p:pic>
      <p:sp>
        <p:nvSpPr>
          <p:cNvPr id="26" name="Text 20"/>
          <p:cNvSpPr/>
          <p:nvPr/>
        </p:nvSpPr>
        <p:spPr>
          <a:xfrm>
            <a:off x="5621731" y="2231136"/>
            <a:ext cx="365760" cy="274320"/>
          </a:xfrm>
          <a:prstGeom prst="rect">
            <a:avLst/>
          </a:prstGeom>
          <a:noFill/>
          <a:ln/>
        </p:spPr>
        <p:txBody>
          <a:bodyPr wrap="square" lIns="0" tIns="0" rIns="0" bIns="0" rtlCol="0" anchor="ctr"/>
          <a:lstStyle/>
          <a:p>
            <a:pPr marL="0" indent="0">
              <a:buNone/>
            </a:pPr>
            <a:r>
              <a:rPr lang="en-US" sz="1700" b="1" dirty="0">
                <a:solidFill>
                  <a:srgbClr val="2A9D8F"/>
                </a:solidFill>
                <a:latin typeface="Cambria" pitchFamily="34" charset="0"/>
                <a:ea typeface="Cambria" pitchFamily="34" charset="-122"/>
                <a:cs typeface="Cambria" pitchFamily="34" charset="-120"/>
              </a:rPr>
              <a:t>4</a:t>
            </a:r>
            <a:endParaRPr lang="en-US" sz="1700" dirty="0"/>
          </a:p>
        </p:txBody>
      </p:sp>
      <p:sp>
        <p:nvSpPr>
          <p:cNvPr id="27" name="Text 21"/>
          <p:cNvSpPr/>
          <p:nvPr/>
        </p:nvSpPr>
        <p:spPr>
          <a:xfrm>
            <a:off x="5585155" y="3182112"/>
            <a:ext cx="1258214" cy="457200"/>
          </a:xfrm>
          <a:prstGeom prst="rect">
            <a:avLst/>
          </a:prstGeom>
          <a:noFill/>
          <a:ln/>
        </p:spPr>
        <p:txBody>
          <a:bodyPr wrap="square" lIns="0" tIns="0" rIns="0" bIns="0" rtlCol="0" anchor="t"/>
          <a:lstStyle/>
          <a:p>
            <a:pPr marL="0" indent="0" algn="ctr">
              <a:buNone/>
            </a:pPr>
            <a:r>
              <a:rPr lang="en-US" sz="1300" b="1" dirty="0">
                <a:solidFill>
                  <a:srgbClr val="12355B"/>
                </a:solidFill>
                <a:latin typeface="Calibri" pitchFamily="34" charset="0"/>
                <a:ea typeface="Calibri" pitchFamily="34" charset="-122"/>
                <a:cs typeface="Calibri" pitchFamily="34" charset="-120"/>
              </a:rPr>
              <a:t>Reviewer</a:t>
            </a:r>
            <a:endParaRPr lang="en-US" sz="1300" dirty="0"/>
          </a:p>
        </p:txBody>
      </p:sp>
      <p:sp>
        <p:nvSpPr>
          <p:cNvPr id="28" name="Text 22"/>
          <p:cNvSpPr/>
          <p:nvPr/>
        </p:nvSpPr>
        <p:spPr>
          <a:xfrm>
            <a:off x="5621731" y="3566160"/>
            <a:ext cx="1185062" cy="82296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Checks the draft for quality, consistency, and completeness.</a:t>
            </a:r>
            <a:endParaRPr lang="en-US" sz="1000" dirty="0"/>
          </a:p>
        </p:txBody>
      </p:sp>
      <p:sp>
        <p:nvSpPr>
          <p:cNvPr id="29" name="Shape 23"/>
          <p:cNvSpPr/>
          <p:nvPr/>
        </p:nvSpPr>
        <p:spPr>
          <a:xfrm>
            <a:off x="7135978" y="2084832"/>
            <a:ext cx="1441094" cy="2377440"/>
          </a:xfrm>
          <a:prstGeom prst="roundRect">
            <a:avLst>
              <a:gd name="adj" fmla="val 5711"/>
            </a:avLst>
          </a:prstGeom>
          <a:solidFill>
            <a:srgbClr val="E8F5F3"/>
          </a:solidFill>
          <a:ln/>
          <a:effectLst>
            <a:outerShdw blurRad="88900" dist="38100" dir="5400000" algn="bl" rotWithShape="0">
              <a:srgbClr val="000000">
                <a:alpha val="10000"/>
              </a:srgbClr>
            </a:outerShdw>
          </a:effectLst>
        </p:spPr>
        <p:txBody>
          <a:bodyPr/>
          <a:lstStyle/>
          <a:p>
            <a:endParaRPr lang="en-US"/>
          </a:p>
        </p:txBody>
      </p:sp>
      <p:sp>
        <p:nvSpPr>
          <p:cNvPr id="30" name="Shape 24"/>
          <p:cNvSpPr/>
          <p:nvPr/>
        </p:nvSpPr>
        <p:spPr>
          <a:xfrm>
            <a:off x="7509053" y="2340864"/>
            <a:ext cx="694944" cy="694944"/>
          </a:xfrm>
          <a:prstGeom prst="ellipse">
            <a:avLst/>
          </a:prstGeom>
          <a:solidFill>
            <a:srgbClr val="2A9D8F"/>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7696688" y="2528499"/>
            <a:ext cx="319674" cy="319674"/>
          </a:xfrm>
          <a:prstGeom prst="rect">
            <a:avLst/>
          </a:prstGeom>
        </p:spPr>
      </p:pic>
      <p:sp>
        <p:nvSpPr>
          <p:cNvPr id="32" name="Text 25"/>
          <p:cNvSpPr/>
          <p:nvPr/>
        </p:nvSpPr>
        <p:spPr>
          <a:xfrm>
            <a:off x="7263994" y="2231136"/>
            <a:ext cx="365760" cy="274320"/>
          </a:xfrm>
          <a:prstGeom prst="rect">
            <a:avLst/>
          </a:prstGeom>
          <a:noFill/>
          <a:ln/>
        </p:spPr>
        <p:txBody>
          <a:bodyPr wrap="square" lIns="0" tIns="0" rIns="0" bIns="0" rtlCol="0" anchor="ctr"/>
          <a:lstStyle/>
          <a:p>
            <a:pPr marL="0" indent="0">
              <a:buNone/>
            </a:pPr>
            <a:r>
              <a:rPr lang="en-US" sz="1700" b="1" dirty="0">
                <a:solidFill>
                  <a:srgbClr val="2A9D8F"/>
                </a:solidFill>
                <a:latin typeface="Cambria" pitchFamily="34" charset="0"/>
                <a:ea typeface="Cambria" pitchFamily="34" charset="-122"/>
                <a:cs typeface="Cambria" pitchFamily="34" charset="-120"/>
              </a:rPr>
              <a:t>5</a:t>
            </a:r>
            <a:endParaRPr lang="en-US" sz="1700" dirty="0"/>
          </a:p>
        </p:txBody>
      </p:sp>
      <p:sp>
        <p:nvSpPr>
          <p:cNvPr id="33" name="Text 26"/>
          <p:cNvSpPr/>
          <p:nvPr/>
        </p:nvSpPr>
        <p:spPr>
          <a:xfrm>
            <a:off x="7227418" y="3182112"/>
            <a:ext cx="1258214" cy="457200"/>
          </a:xfrm>
          <a:prstGeom prst="rect">
            <a:avLst/>
          </a:prstGeom>
          <a:noFill/>
          <a:ln/>
        </p:spPr>
        <p:txBody>
          <a:bodyPr wrap="square" lIns="0" tIns="0" rIns="0" bIns="0" rtlCol="0" anchor="t"/>
          <a:lstStyle/>
          <a:p>
            <a:pPr marL="0" indent="0" algn="ctr">
              <a:buNone/>
            </a:pPr>
            <a:r>
              <a:rPr lang="en-US" sz="1300" b="1" dirty="0">
                <a:solidFill>
                  <a:srgbClr val="12355B"/>
                </a:solidFill>
                <a:latin typeface="Calibri" pitchFamily="34" charset="0"/>
                <a:ea typeface="Calibri" pitchFamily="34" charset="-122"/>
                <a:cs typeface="Calibri" pitchFamily="34" charset="-120"/>
              </a:rPr>
              <a:t>Draft Generator</a:t>
            </a:r>
            <a:endParaRPr lang="en-US" sz="1300" dirty="0"/>
          </a:p>
        </p:txBody>
      </p:sp>
      <p:sp>
        <p:nvSpPr>
          <p:cNvPr id="34" name="Text 27"/>
          <p:cNvSpPr/>
          <p:nvPr/>
        </p:nvSpPr>
        <p:spPr>
          <a:xfrm>
            <a:off x="7263994" y="3566160"/>
            <a:ext cx="1185062" cy="82296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Applies the template and metadata to prepare the Document360 draft.</a:t>
            </a:r>
            <a:endParaRPr lang="en-US" sz="1000" dirty="0"/>
          </a:p>
        </p:txBody>
      </p:sp>
      <p:sp>
        <p:nvSpPr>
          <p:cNvPr id="35" name="Text 28"/>
          <p:cNvSpPr/>
          <p:nvPr/>
        </p:nvSpPr>
        <p:spPr>
          <a:xfrm>
            <a:off x="566928" y="4759452"/>
            <a:ext cx="7918704"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36" name="Text 29"/>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ARTIFACT FLOW</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Each Agent Leaves a Traceable Output</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Every step writes a file the next step reads — so any note can be traced back to the data it came from.</a:t>
            </a:r>
            <a:endParaRPr lang="en-US" sz="1450" dirty="0"/>
          </a:p>
        </p:txBody>
      </p:sp>
      <p:sp>
        <p:nvSpPr>
          <p:cNvPr id="5" name="Shape 3"/>
          <p:cNvSpPr/>
          <p:nvPr/>
        </p:nvSpPr>
        <p:spPr>
          <a:xfrm>
            <a:off x="566928" y="2011680"/>
            <a:ext cx="1484986" cy="1371600"/>
          </a:xfrm>
          <a:prstGeom prst="roundRect">
            <a:avLst>
              <a:gd name="adj" fmla="val 5333"/>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Text 4"/>
          <p:cNvSpPr/>
          <p:nvPr/>
        </p:nvSpPr>
        <p:spPr>
          <a:xfrm>
            <a:off x="658368" y="2157984"/>
            <a:ext cx="1302106" cy="274320"/>
          </a:xfrm>
          <a:prstGeom prst="rect">
            <a:avLst/>
          </a:prstGeom>
          <a:noFill/>
          <a:ln/>
        </p:spPr>
        <p:txBody>
          <a:bodyPr wrap="square" lIns="0" tIns="0" rIns="0" bIns="0" rtlCol="0" anchor="ctr"/>
          <a:lstStyle/>
          <a:p>
            <a:pPr marL="0" indent="0" algn="ctr">
              <a:buNone/>
            </a:pPr>
            <a:r>
              <a:rPr lang="en-US" sz="1200" b="1" dirty="0">
                <a:solidFill>
                  <a:srgbClr val="12355B"/>
                </a:solidFill>
                <a:latin typeface="Calibri" pitchFamily="34" charset="0"/>
                <a:ea typeface="Calibri" pitchFamily="34" charset="-122"/>
                <a:cs typeface="Calibri" pitchFamily="34" charset="-120"/>
              </a:rPr>
              <a:t>Collector</a:t>
            </a:r>
            <a:endParaRPr lang="en-US" sz="1200" dirty="0"/>
          </a:p>
        </p:txBody>
      </p:sp>
      <p:pic>
        <p:nvPicPr>
          <p:cNvPr id="7" name="Image 0" descr="preencoded.png"/>
          <p:cNvPicPr>
            <a:picLocks noChangeAspect="1"/>
          </p:cNvPicPr>
          <p:nvPr/>
        </p:nvPicPr>
        <p:blipFill>
          <a:blip r:embed="rId3"/>
          <a:stretch>
            <a:fillRect/>
          </a:stretch>
        </p:blipFill>
        <p:spPr>
          <a:xfrm>
            <a:off x="1163117" y="2468880"/>
            <a:ext cx="292608" cy="292608"/>
          </a:xfrm>
          <a:prstGeom prst="rect">
            <a:avLst/>
          </a:prstGeom>
        </p:spPr>
      </p:pic>
      <p:sp>
        <p:nvSpPr>
          <p:cNvPr id="8" name="Text 5"/>
          <p:cNvSpPr/>
          <p:nvPr/>
        </p:nvSpPr>
        <p:spPr>
          <a:xfrm>
            <a:off x="621792" y="2816352"/>
            <a:ext cx="1375258" cy="274320"/>
          </a:xfrm>
          <a:prstGeom prst="rect">
            <a:avLst/>
          </a:prstGeom>
          <a:noFill/>
          <a:ln/>
        </p:spPr>
        <p:txBody>
          <a:bodyPr wrap="square" lIns="0" tIns="0" rIns="0" bIns="0" rtlCol="0" anchor="ctr"/>
          <a:lstStyle/>
          <a:p>
            <a:pPr marL="0" indent="0" algn="ctr">
              <a:buNone/>
            </a:pPr>
            <a:r>
              <a:rPr lang="en-US" sz="800" dirty="0">
                <a:solidFill>
                  <a:srgbClr val="2A9D8F"/>
                </a:solidFill>
                <a:latin typeface="Consolas" pitchFamily="34" charset="0"/>
                <a:ea typeface="Consolas" pitchFamily="34" charset="-122"/>
                <a:cs typeface="Consolas" pitchFamily="34" charset="-120"/>
              </a:rPr>
              <a:t>collected-release-data.json</a:t>
            </a:r>
            <a:endParaRPr lang="en-US" sz="800" dirty="0"/>
          </a:p>
        </p:txBody>
      </p:sp>
      <p:sp>
        <p:nvSpPr>
          <p:cNvPr id="9" name="Text 6"/>
          <p:cNvSpPr/>
          <p:nvPr/>
        </p:nvSpPr>
        <p:spPr>
          <a:xfrm>
            <a:off x="621792" y="3072384"/>
            <a:ext cx="1375258" cy="237744"/>
          </a:xfrm>
          <a:prstGeom prst="rect">
            <a:avLst/>
          </a:prstGeom>
          <a:noFill/>
          <a:ln/>
        </p:spPr>
        <p:txBody>
          <a:bodyPr wrap="square" lIns="0" tIns="0" rIns="0" bIns="0" rtlCol="0" anchor="ctr"/>
          <a:lstStyle/>
          <a:p>
            <a:pPr marL="0" indent="0" algn="ctr">
              <a:buNone/>
            </a:pPr>
            <a:r>
              <a:rPr lang="en-US" sz="900" i="1" dirty="0">
                <a:solidFill>
                  <a:srgbClr val="5F6B7A"/>
                </a:solidFill>
                <a:latin typeface="Calibri" pitchFamily="34" charset="0"/>
                <a:ea typeface="Calibri" pitchFamily="34" charset="-122"/>
                <a:cs typeface="Calibri" pitchFamily="34" charset="-120"/>
              </a:rPr>
              <a:t>Raw data</a:t>
            </a:r>
            <a:endParaRPr lang="en-US" sz="900" dirty="0"/>
          </a:p>
        </p:txBody>
      </p:sp>
      <p:pic>
        <p:nvPicPr>
          <p:cNvPr id="10" name="Image 1" descr="preencoded.png"/>
          <p:cNvPicPr>
            <a:picLocks noChangeAspect="1"/>
          </p:cNvPicPr>
          <p:nvPr/>
        </p:nvPicPr>
        <p:blipFill>
          <a:blip r:embed="rId4"/>
          <a:stretch>
            <a:fillRect/>
          </a:stretch>
        </p:blipFill>
        <p:spPr>
          <a:xfrm>
            <a:off x="2042770" y="2615184"/>
            <a:ext cx="164592" cy="164592"/>
          </a:xfrm>
          <a:prstGeom prst="rect">
            <a:avLst/>
          </a:prstGeom>
        </p:spPr>
      </p:pic>
      <p:sp>
        <p:nvSpPr>
          <p:cNvPr id="11" name="Shape 7"/>
          <p:cNvSpPr/>
          <p:nvPr/>
        </p:nvSpPr>
        <p:spPr>
          <a:xfrm>
            <a:off x="2198218" y="2011680"/>
            <a:ext cx="1484986" cy="1371600"/>
          </a:xfrm>
          <a:prstGeom prst="roundRect">
            <a:avLst>
              <a:gd name="adj" fmla="val 5333"/>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2" name="Text 8"/>
          <p:cNvSpPr/>
          <p:nvPr/>
        </p:nvSpPr>
        <p:spPr>
          <a:xfrm>
            <a:off x="2289658" y="2157984"/>
            <a:ext cx="1302106" cy="274320"/>
          </a:xfrm>
          <a:prstGeom prst="rect">
            <a:avLst/>
          </a:prstGeom>
          <a:noFill/>
          <a:ln/>
        </p:spPr>
        <p:txBody>
          <a:bodyPr wrap="square" lIns="0" tIns="0" rIns="0" bIns="0" rtlCol="0" anchor="ctr"/>
          <a:lstStyle/>
          <a:p>
            <a:pPr marL="0" indent="0" algn="ctr">
              <a:buNone/>
            </a:pPr>
            <a:r>
              <a:rPr lang="en-US" sz="1200" b="1" dirty="0">
                <a:solidFill>
                  <a:srgbClr val="12355B"/>
                </a:solidFill>
                <a:latin typeface="Calibri" pitchFamily="34" charset="0"/>
                <a:ea typeface="Calibri" pitchFamily="34" charset="-122"/>
                <a:cs typeface="Calibri" pitchFamily="34" charset="-120"/>
              </a:rPr>
              <a:t>Analyzer</a:t>
            </a:r>
            <a:endParaRPr lang="en-US" sz="1200" dirty="0"/>
          </a:p>
        </p:txBody>
      </p:sp>
      <p:pic>
        <p:nvPicPr>
          <p:cNvPr id="13" name="Image 2" descr="preencoded.png"/>
          <p:cNvPicPr>
            <a:picLocks noChangeAspect="1"/>
          </p:cNvPicPr>
          <p:nvPr/>
        </p:nvPicPr>
        <p:blipFill>
          <a:blip r:embed="rId3"/>
          <a:stretch>
            <a:fillRect/>
          </a:stretch>
        </p:blipFill>
        <p:spPr>
          <a:xfrm>
            <a:off x="2794406" y="2468880"/>
            <a:ext cx="292608" cy="292608"/>
          </a:xfrm>
          <a:prstGeom prst="rect">
            <a:avLst/>
          </a:prstGeom>
        </p:spPr>
      </p:pic>
      <p:sp>
        <p:nvSpPr>
          <p:cNvPr id="14" name="Text 9"/>
          <p:cNvSpPr/>
          <p:nvPr/>
        </p:nvSpPr>
        <p:spPr>
          <a:xfrm>
            <a:off x="2253082" y="2816352"/>
            <a:ext cx="1375258" cy="274320"/>
          </a:xfrm>
          <a:prstGeom prst="rect">
            <a:avLst/>
          </a:prstGeom>
          <a:noFill/>
          <a:ln/>
        </p:spPr>
        <p:txBody>
          <a:bodyPr wrap="square" lIns="0" tIns="0" rIns="0" bIns="0" rtlCol="0" anchor="ctr"/>
          <a:lstStyle/>
          <a:p>
            <a:pPr marL="0" indent="0" algn="ctr">
              <a:buNone/>
            </a:pPr>
            <a:r>
              <a:rPr lang="en-US" sz="800" dirty="0">
                <a:solidFill>
                  <a:srgbClr val="2A9D8F"/>
                </a:solidFill>
                <a:latin typeface="Consolas" pitchFamily="34" charset="0"/>
                <a:ea typeface="Consolas" pitchFamily="34" charset="-122"/>
                <a:cs typeface="Consolas" pitchFamily="34" charset="-120"/>
              </a:rPr>
              <a:t>analyzed-release.json</a:t>
            </a:r>
            <a:endParaRPr lang="en-US" sz="800" dirty="0"/>
          </a:p>
        </p:txBody>
      </p:sp>
      <p:sp>
        <p:nvSpPr>
          <p:cNvPr id="15" name="Text 10"/>
          <p:cNvSpPr/>
          <p:nvPr/>
        </p:nvSpPr>
        <p:spPr>
          <a:xfrm>
            <a:off x="2253082" y="3072384"/>
            <a:ext cx="1375258" cy="237744"/>
          </a:xfrm>
          <a:prstGeom prst="rect">
            <a:avLst/>
          </a:prstGeom>
          <a:noFill/>
          <a:ln/>
        </p:spPr>
        <p:txBody>
          <a:bodyPr wrap="square" lIns="0" tIns="0" rIns="0" bIns="0" rtlCol="0" anchor="ctr"/>
          <a:lstStyle/>
          <a:p>
            <a:pPr marL="0" indent="0" algn="ctr">
              <a:buNone/>
            </a:pPr>
            <a:r>
              <a:rPr lang="en-US" sz="900" i="1" dirty="0">
                <a:solidFill>
                  <a:srgbClr val="5F6B7A"/>
                </a:solidFill>
                <a:latin typeface="Calibri" pitchFamily="34" charset="0"/>
                <a:ea typeface="Calibri" pitchFamily="34" charset="-122"/>
                <a:cs typeface="Calibri" pitchFamily="34" charset="-120"/>
              </a:rPr>
              <a:t>Analyzed data</a:t>
            </a:r>
            <a:endParaRPr lang="en-US" sz="900" dirty="0"/>
          </a:p>
        </p:txBody>
      </p:sp>
      <p:pic>
        <p:nvPicPr>
          <p:cNvPr id="16" name="Image 3" descr="preencoded.png"/>
          <p:cNvPicPr>
            <a:picLocks noChangeAspect="1"/>
          </p:cNvPicPr>
          <p:nvPr/>
        </p:nvPicPr>
        <p:blipFill>
          <a:blip r:embed="rId4"/>
          <a:stretch>
            <a:fillRect/>
          </a:stretch>
        </p:blipFill>
        <p:spPr>
          <a:xfrm>
            <a:off x="3674059" y="2615184"/>
            <a:ext cx="164592" cy="164592"/>
          </a:xfrm>
          <a:prstGeom prst="rect">
            <a:avLst/>
          </a:prstGeom>
        </p:spPr>
      </p:pic>
      <p:sp>
        <p:nvSpPr>
          <p:cNvPr id="17" name="Shape 11"/>
          <p:cNvSpPr/>
          <p:nvPr/>
        </p:nvSpPr>
        <p:spPr>
          <a:xfrm>
            <a:off x="3829507" y="2011680"/>
            <a:ext cx="1484986" cy="1371600"/>
          </a:xfrm>
          <a:prstGeom prst="roundRect">
            <a:avLst>
              <a:gd name="adj" fmla="val 5333"/>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8" name="Text 12"/>
          <p:cNvSpPr/>
          <p:nvPr/>
        </p:nvSpPr>
        <p:spPr>
          <a:xfrm>
            <a:off x="3920947" y="2157984"/>
            <a:ext cx="1302106" cy="274320"/>
          </a:xfrm>
          <a:prstGeom prst="rect">
            <a:avLst/>
          </a:prstGeom>
          <a:noFill/>
          <a:ln/>
        </p:spPr>
        <p:txBody>
          <a:bodyPr wrap="square" lIns="0" tIns="0" rIns="0" bIns="0" rtlCol="0" anchor="ctr"/>
          <a:lstStyle/>
          <a:p>
            <a:pPr marL="0" indent="0" algn="ctr">
              <a:buNone/>
            </a:pPr>
            <a:r>
              <a:rPr lang="en-US" sz="1200" b="1" dirty="0">
                <a:solidFill>
                  <a:srgbClr val="12355B"/>
                </a:solidFill>
                <a:latin typeface="Calibri" pitchFamily="34" charset="0"/>
                <a:ea typeface="Calibri" pitchFamily="34" charset="-122"/>
                <a:cs typeface="Calibri" pitchFamily="34" charset="-120"/>
              </a:rPr>
              <a:t>Writer</a:t>
            </a:r>
            <a:endParaRPr lang="en-US" sz="1200" dirty="0"/>
          </a:p>
        </p:txBody>
      </p:sp>
      <p:pic>
        <p:nvPicPr>
          <p:cNvPr id="19" name="Image 4" descr="preencoded.png"/>
          <p:cNvPicPr>
            <a:picLocks noChangeAspect="1"/>
          </p:cNvPicPr>
          <p:nvPr/>
        </p:nvPicPr>
        <p:blipFill>
          <a:blip r:embed="rId3"/>
          <a:stretch>
            <a:fillRect/>
          </a:stretch>
        </p:blipFill>
        <p:spPr>
          <a:xfrm>
            <a:off x="4425696" y="2468880"/>
            <a:ext cx="292608" cy="292608"/>
          </a:xfrm>
          <a:prstGeom prst="rect">
            <a:avLst/>
          </a:prstGeom>
        </p:spPr>
      </p:pic>
      <p:sp>
        <p:nvSpPr>
          <p:cNvPr id="20" name="Text 13"/>
          <p:cNvSpPr/>
          <p:nvPr/>
        </p:nvSpPr>
        <p:spPr>
          <a:xfrm>
            <a:off x="3884371" y="2816352"/>
            <a:ext cx="1375258" cy="274320"/>
          </a:xfrm>
          <a:prstGeom prst="rect">
            <a:avLst/>
          </a:prstGeom>
          <a:noFill/>
          <a:ln/>
        </p:spPr>
        <p:txBody>
          <a:bodyPr wrap="square" lIns="0" tIns="0" rIns="0" bIns="0" rtlCol="0" anchor="ctr"/>
          <a:lstStyle/>
          <a:p>
            <a:pPr marL="0" indent="0" algn="ctr">
              <a:buNone/>
            </a:pPr>
            <a:r>
              <a:rPr lang="en-US" sz="800" dirty="0">
                <a:solidFill>
                  <a:srgbClr val="2A9D8F"/>
                </a:solidFill>
                <a:latin typeface="Consolas" pitchFamily="34" charset="0"/>
                <a:ea typeface="Consolas" pitchFamily="34" charset="-122"/>
                <a:cs typeface="Consolas" pitchFamily="34" charset="-120"/>
              </a:rPr>
              <a:t>release-notes.md</a:t>
            </a:r>
            <a:endParaRPr lang="en-US" sz="800" dirty="0"/>
          </a:p>
        </p:txBody>
      </p:sp>
      <p:sp>
        <p:nvSpPr>
          <p:cNvPr id="21" name="Text 14"/>
          <p:cNvSpPr/>
          <p:nvPr/>
        </p:nvSpPr>
        <p:spPr>
          <a:xfrm>
            <a:off x="3884371" y="3072384"/>
            <a:ext cx="1375258" cy="237744"/>
          </a:xfrm>
          <a:prstGeom prst="rect">
            <a:avLst/>
          </a:prstGeom>
          <a:noFill/>
          <a:ln/>
        </p:spPr>
        <p:txBody>
          <a:bodyPr wrap="square" lIns="0" tIns="0" rIns="0" bIns="0" rtlCol="0" anchor="ctr"/>
          <a:lstStyle/>
          <a:p>
            <a:pPr marL="0" indent="0" algn="ctr">
              <a:buNone/>
            </a:pPr>
            <a:r>
              <a:rPr lang="en-US" sz="900" i="1" dirty="0">
                <a:solidFill>
                  <a:srgbClr val="5F6B7A"/>
                </a:solidFill>
                <a:latin typeface="Calibri" pitchFamily="34" charset="0"/>
                <a:ea typeface="Calibri" pitchFamily="34" charset="-122"/>
                <a:cs typeface="Calibri" pitchFamily="34" charset="-120"/>
              </a:rPr>
              <a:t>Generated content</a:t>
            </a:r>
            <a:endParaRPr lang="en-US" sz="900" dirty="0"/>
          </a:p>
        </p:txBody>
      </p:sp>
      <p:pic>
        <p:nvPicPr>
          <p:cNvPr id="22" name="Image 5" descr="preencoded.png"/>
          <p:cNvPicPr>
            <a:picLocks noChangeAspect="1"/>
          </p:cNvPicPr>
          <p:nvPr/>
        </p:nvPicPr>
        <p:blipFill>
          <a:blip r:embed="rId4"/>
          <a:stretch>
            <a:fillRect/>
          </a:stretch>
        </p:blipFill>
        <p:spPr>
          <a:xfrm>
            <a:off x="5305349" y="2615184"/>
            <a:ext cx="164592" cy="164592"/>
          </a:xfrm>
          <a:prstGeom prst="rect">
            <a:avLst/>
          </a:prstGeom>
        </p:spPr>
      </p:pic>
      <p:sp>
        <p:nvSpPr>
          <p:cNvPr id="23" name="Shape 15"/>
          <p:cNvSpPr/>
          <p:nvPr/>
        </p:nvSpPr>
        <p:spPr>
          <a:xfrm>
            <a:off x="5460797" y="2011680"/>
            <a:ext cx="1484986" cy="1371600"/>
          </a:xfrm>
          <a:prstGeom prst="roundRect">
            <a:avLst>
              <a:gd name="adj" fmla="val 5333"/>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24" name="Text 16"/>
          <p:cNvSpPr/>
          <p:nvPr/>
        </p:nvSpPr>
        <p:spPr>
          <a:xfrm>
            <a:off x="5552237" y="2157984"/>
            <a:ext cx="1302106" cy="274320"/>
          </a:xfrm>
          <a:prstGeom prst="rect">
            <a:avLst/>
          </a:prstGeom>
          <a:noFill/>
          <a:ln/>
        </p:spPr>
        <p:txBody>
          <a:bodyPr wrap="square" lIns="0" tIns="0" rIns="0" bIns="0" rtlCol="0" anchor="ctr"/>
          <a:lstStyle/>
          <a:p>
            <a:pPr marL="0" indent="0" algn="ctr">
              <a:buNone/>
            </a:pPr>
            <a:r>
              <a:rPr lang="en-US" sz="1200" b="1" dirty="0">
                <a:solidFill>
                  <a:srgbClr val="12355B"/>
                </a:solidFill>
                <a:latin typeface="Calibri" pitchFamily="34" charset="0"/>
                <a:ea typeface="Calibri" pitchFamily="34" charset="-122"/>
                <a:cs typeface="Calibri" pitchFamily="34" charset="-120"/>
              </a:rPr>
              <a:t>Reviewer</a:t>
            </a:r>
            <a:endParaRPr lang="en-US" sz="1200" dirty="0"/>
          </a:p>
        </p:txBody>
      </p:sp>
      <p:pic>
        <p:nvPicPr>
          <p:cNvPr id="25" name="Image 6" descr="preencoded.png"/>
          <p:cNvPicPr>
            <a:picLocks noChangeAspect="1"/>
          </p:cNvPicPr>
          <p:nvPr/>
        </p:nvPicPr>
        <p:blipFill>
          <a:blip r:embed="rId3"/>
          <a:stretch>
            <a:fillRect/>
          </a:stretch>
        </p:blipFill>
        <p:spPr>
          <a:xfrm>
            <a:off x="6056986" y="2468880"/>
            <a:ext cx="292608" cy="292608"/>
          </a:xfrm>
          <a:prstGeom prst="rect">
            <a:avLst/>
          </a:prstGeom>
        </p:spPr>
      </p:pic>
      <p:sp>
        <p:nvSpPr>
          <p:cNvPr id="26" name="Text 17"/>
          <p:cNvSpPr/>
          <p:nvPr/>
        </p:nvSpPr>
        <p:spPr>
          <a:xfrm>
            <a:off x="5515661" y="2816352"/>
            <a:ext cx="1375258" cy="274320"/>
          </a:xfrm>
          <a:prstGeom prst="rect">
            <a:avLst/>
          </a:prstGeom>
          <a:noFill/>
          <a:ln/>
        </p:spPr>
        <p:txBody>
          <a:bodyPr wrap="square" lIns="0" tIns="0" rIns="0" bIns="0" rtlCol="0" anchor="ctr"/>
          <a:lstStyle/>
          <a:p>
            <a:pPr marL="0" indent="0" algn="ctr">
              <a:buNone/>
            </a:pPr>
            <a:r>
              <a:rPr lang="en-US" sz="800" dirty="0">
                <a:solidFill>
                  <a:srgbClr val="2A9D8F"/>
                </a:solidFill>
                <a:latin typeface="Consolas" pitchFamily="34" charset="0"/>
                <a:ea typeface="Consolas" pitchFamily="34" charset="-122"/>
                <a:cs typeface="Consolas" pitchFamily="34" charset="-120"/>
              </a:rPr>
              <a:t>review-report.md</a:t>
            </a:r>
            <a:endParaRPr lang="en-US" sz="800" dirty="0"/>
          </a:p>
        </p:txBody>
      </p:sp>
      <p:sp>
        <p:nvSpPr>
          <p:cNvPr id="27" name="Text 18"/>
          <p:cNvSpPr/>
          <p:nvPr/>
        </p:nvSpPr>
        <p:spPr>
          <a:xfrm>
            <a:off x="5515661" y="3072384"/>
            <a:ext cx="1375258" cy="237744"/>
          </a:xfrm>
          <a:prstGeom prst="rect">
            <a:avLst/>
          </a:prstGeom>
          <a:noFill/>
          <a:ln/>
        </p:spPr>
        <p:txBody>
          <a:bodyPr wrap="square" lIns="0" tIns="0" rIns="0" bIns="0" rtlCol="0" anchor="ctr"/>
          <a:lstStyle/>
          <a:p>
            <a:pPr marL="0" indent="0" algn="ctr">
              <a:buNone/>
            </a:pPr>
            <a:r>
              <a:rPr lang="en-US" sz="900" i="1" dirty="0">
                <a:solidFill>
                  <a:srgbClr val="5F6B7A"/>
                </a:solidFill>
                <a:latin typeface="Calibri" pitchFamily="34" charset="0"/>
                <a:ea typeface="Calibri" pitchFamily="34" charset="-122"/>
                <a:cs typeface="Calibri" pitchFamily="34" charset="-120"/>
              </a:rPr>
              <a:t>Quality report</a:t>
            </a:r>
            <a:endParaRPr lang="en-US" sz="900" dirty="0"/>
          </a:p>
        </p:txBody>
      </p:sp>
      <p:pic>
        <p:nvPicPr>
          <p:cNvPr id="28" name="Image 7" descr="preencoded.png"/>
          <p:cNvPicPr>
            <a:picLocks noChangeAspect="1"/>
          </p:cNvPicPr>
          <p:nvPr/>
        </p:nvPicPr>
        <p:blipFill>
          <a:blip r:embed="rId4"/>
          <a:stretch>
            <a:fillRect/>
          </a:stretch>
        </p:blipFill>
        <p:spPr>
          <a:xfrm>
            <a:off x="6936638" y="2615184"/>
            <a:ext cx="164592" cy="164592"/>
          </a:xfrm>
          <a:prstGeom prst="rect">
            <a:avLst/>
          </a:prstGeom>
        </p:spPr>
      </p:pic>
      <p:sp>
        <p:nvSpPr>
          <p:cNvPr id="29" name="Shape 19"/>
          <p:cNvSpPr/>
          <p:nvPr/>
        </p:nvSpPr>
        <p:spPr>
          <a:xfrm>
            <a:off x="7092086" y="2011680"/>
            <a:ext cx="1484986" cy="1371600"/>
          </a:xfrm>
          <a:prstGeom prst="roundRect">
            <a:avLst>
              <a:gd name="adj" fmla="val 5333"/>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30" name="Text 20"/>
          <p:cNvSpPr/>
          <p:nvPr/>
        </p:nvSpPr>
        <p:spPr>
          <a:xfrm>
            <a:off x="7183526" y="2157984"/>
            <a:ext cx="1302106" cy="274320"/>
          </a:xfrm>
          <a:prstGeom prst="rect">
            <a:avLst/>
          </a:prstGeom>
          <a:noFill/>
          <a:ln/>
        </p:spPr>
        <p:txBody>
          <a:bodyPr wrap="square" lIns="0" tIns="0" rIns="0" bIns="0" rtlCol="0" anchor="ctr"/>
          <a:lstStyle/>
          <a:p>
            <a:pPr marL="0" indent="0" algn="ctr">
              <a:buNone/>
            </a:pPr>
            <a:r>
              <a:rPr lang="en-US" sz="1200" b="1" dirty="0">
                <a:solidFill>
                  <a:srgbClr val="12355B"/>
                </a:solidFill>
                <a:latin typeface="Calibri" pitchFamily="34" charset="0"/>
                <a:ea typeface="Calibri" pitchFamily="34" charset="-122"/>
                <a:cs typeface="Calibri" pitchFamily="34" charset="-120"/>
              </a:rPr>
              <a:t>Draft Gen.</a:t>
            </a:r>
            <a:endParaRPr lang="en-US" sz="1200" dirty="0"/>
          </a:p>
        </p:txBody>
      </p:sp>
      <p:pic>
        <p:nvPicPr>
          <p:cNvPr id="31" name="Image 8" descr="preencoded.png"/>
          <p:cNvPicPr>
            <a:picLocks noChangeAspect="1"/>
          </p:cNvPicPr>
          <p:nvPr/>
        </p:nvPicPr>
        <p:blipFill>
          <a:blip r:embed="rId3"/>
          <a:stretch>
            <a:fillRect/>
          </a:stretch>
        </p:blipFill>
        <p:spPr>
          <a:xfrm>
            <a:off x="7688275" y="2468880"/>
            <a:ext cx="292608" cy="292608"/>
          </a:xfrm>
          <a:prstGeom prst="rect">
            <a:avLst/>
          </a:prstGeom>
        </p:spPr>
      </p:pic>
      <p:sp>
        <p:nvSpPr>
          <p:cNvPr id="32" name="Text 21"/>
          <p:cNvSpPr/>
          <p:nvPr/>
        </p:nvSpPr>
        <p:spPr>
          <a:xfrm>
            <a:off x="7146950" y="2816352"/>
            <a:ext cx="1375258" cy="274320"/>
          </a:xfrm>
          <a:prstGeom prst="rect">
            <a:avLst/>
          </a:prstGeom>
          <a:noFill/>
          <a:ln/>
        </p:spPr>
        <p:txBody>
          <a:bodyPr wrap="square" lIns="0" tIns="0" rIns="0" bIns="0" rtlCol="0" anchor="ctr"/>
          <a:lstStyle/>
          <a:p>
            <a:pPr marL="0" indent="0" algn="ctr">
              <a:buNone/>
            </a:pPr>
            <a:r>
              <a:rPr lang="en-US" sz="800" dirty="0">
                <a:solidFill>
                  <a:srgbClr val="2A9D8F"/>
                </a:solidFill>
                <a:latin typeface="Consolas" pitchFamily="34" charset="0"/>
                <a:ea typeface="Consolas" pitchFamily="34" charset="-122"/>
                <a:cs typeface="Consolas" pitchFamily="34" charset="-120"/>
              </a:rPr>
              <a:t>document360-draft.md</a:t>
            </a:r>
            <a:endParaRPr lang="en-US" sz="800" dirty="0"/>
          </a:p>
        </p:txBody>
      </p:sp>
      <p:sp>
        <p:nvSpPr>
          <p:cNvPr id="33" name="Text 22"/>
          <p:cNvSpPr/>
          <p:nvPr/>
        </p:nvSpPr>
        <p:spPr>
          <a:xfrm>
            <a:off x="7146950" y="3072384"/>
            <a:ext cx="1375258" cy="237744"/>
          </a:xfrm>
          <a:prstGeom prst="rect">
            <a:avLst/>
          </a:prstGeom>
          <a:noFill/>
          <a:ln/>
        </p:spPr>
        <p:txBody>
          <a:bodyPr wrap="square" lIns="0" tIns="0" rIns="0" bIns="0" rtlCol="0" anchor="ctr"/>
          <a:lstStyle/>
          <a:p>
            <a:pPr marL="0" indent="0" algn="ctr">
              <a:buNone/>
            </a:pPr>
            <a:r>
              <a:rPr lang="en-US" sz="900" i="1" dirty="0">
                <a:solidFill>
                  <a:srgbClr val="5F6B7A"/>
                </a:solidFill>
                <a:latin typeface="Calibri" pitchFamily="34" charset="0"/>
                <a:ea typeface="Calibri" pitchFamily="34" charset="-122"/>
                <a:cs typeface="Calibri" pitchFamily="34" charset="-120"/>
              </a:rPr>
              <a:t>Document360 draft</a:t>
            </a:r>
            <a:endParaRPr lang="en-US" sz="900" dirty="0"/>
          </a:p>
        </p:txBody>
      </p:sp>
      <p:sp>
        <p:nvSpPr>
          <p:cNvPr id="34" name="Shape 23"/>
          <p:cNvSpPr/>
          <p:nvPr/>
        </p:nvSpPr>
        <p:spPr>
          <a:xfrm>
            <a:off x="566928" y="3794760"/>
            <a:ext cx="8010144" cy="841248"/>
          </a:xfrm>
          <a:prstGeom prst="roundRect">
            <a:avLst>
              <a:gd name="adj" fmla="val 8696"/>
            </a:avLst>
          </a:prstGeom>
          <a:solidFill>
            <a:srgbClr val="12355B"/>
          </a:solidFill>
          <a:ln/>
        </p:spPr>
        <p:txBody>
          <a:bodyPr/>
          <a:lstStyle/>
          <a:p>
            <a:endParaRPr lang="en-US"/>
          </a:p>
        </p:txBody>
      </p:sp>
      <p:sp>
        <p:nvSpPr>
          <p:cNvPr id="35" name="Shape 24"/>
          <p:cNvSpPr/>
          <p:nvPr/>
        </p:nvSpPr>
        <p:spPr>
          <a:xfrm>
            <a:off x="877824" y="3959352"/>
            <a:ext cx="512064" cy="512064"/>
          </a:xfrm>
          <a:prstGeom prst="ellipse">
            <a:avLst/>
          </a:prstGeom>
          <a:solidFill>
            <a:srgbClr val="2A9D8F"/>
          </a:solidFill>
          <a:ln/>
        </p:spPr>
        <p:txBody>
          <a:bodyPr/>
          <a:lstStyle/>
          <a:p>
            <a:endParaRPr lang="en-US"/>
          </a:p>
        </p:txBody>
      </p:sp>
      <p:pic>
        <p:nvPicPr>
          <p:cNvPr id="36" name="Image 9" descr="preencoded.png"/>
          <p:cNvPicPr>
            <a:picLocks noChangeAspect="1"/>
          </p:cNvPicPr>
          <p:nvPr/>
        </p:nvPicPr>
        <p:blipFill>
          <a:blip r:embed="rId5"/>
          <a:stretch>
            <a:fillRect/>
          </a:stretch>
        </p:blipFill>
        <p:spPr>
          <a:xfrm>
            <a:off x="1016081" y="4097609"/>
            <a:ext cx="235549" cy="235549"/>
          </a:xfrm>
          <a:prstGeom prst="rect">
            <a:avLst/>
          </a:prstGeom>
        </p:spPr>
      </p:pic>
      <p:sp>
        <p:nvSpPr>
          <p:cNvPr id="37" name="Text 25"/>
          <p:cNvSpPr/>
          <p:nvPr/>
        </p:nvSpPr>
        <p:spPr>
          <a:xfrm>
            <a:off x="1572768" y="3941064"/>
            <a:ext cx="32918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Human review &amp; approval</a:t>
            </a:r>
            <a:endParaRPr lang="en-US" sz="1300" dirty="0"/>
          </a:p>
        </p:txBody>
      </p:sp>
      <p:sp>
        <p:nvSpPr>
          <p:cNvPr id="38" name="Text 26"/>
          <p:cNvSpPr/>
          <p:nvPr/>
        </p:nvSpPr>
        <p:spPr>
          <a:xfrm>
            <a:off x="1572768" y="4233672"/>
            <a:ext cx="4572000" cy="274320"/>
          </a:xfrm>
          <a:prstGeom prst="rect">
            <a:avLst/>
          </a:prstGeom>
          <a:noFill/>
          <a:ln/>
        </p:spPr>
        <p:txBody>
          <a:bodyPr wrap="square" lIns="0" tIns="0" rIns="0" bIns="0" rtlCol="0" anchor="ctr"/>
          <a:lstStyle/>
          <a:p>
            <a:pPr marL="0" indent="0">
              <a:buNone/>
            </a:pPr>
            <a:r>
              <a:rPr lang="en-US" sz="1100" dirty="0">
                <a:solidFill>
                  <a:srgbClr val="AFC3D6"/>
                </a:solidFill>
                <a:latin typeface="Calibri" pitchFamily="34" charset="0"/>
                <a:ea typeface="Calibri" pitchFamily="34" charset="-122"/>
                <a:cs typeface="Calibri" pitchFamily="34" charset="-120"/>
              </a:rPr>
              <a:t>Technical Writer  →  SME  →  Approval  →  Publish</a:t>
            </a:r>
            <a:endParaRPr lang="en-US" sz="1100" dirty="0"/>
          </a:p>
        </p:txBody>
      </p:sp>
      <p:sp>
        <p:nvSpPr>
          <p:cNvPr id="39" name="Text 27"/>
          <p:cNvSpPr/>
          <p:nvPr/>
        </p:nvSpPr>
        <p:spPr>
          <a:xfrm>
            <a:off x="5376672" y="3794760"/>
            <a:ext cx="3072384" cy="841248"/>
          </a:xfrm>
          <a:prstGeom prst="rect">
            <a:avLst/>
          </a:prstGeom>
          <a:noFill/>
          <a:ln/>
        </p:spPr>
        <p:txBody>
          <a:bodyPr wrap="square" lIns="0" tIns="0" rIns="0" bIns="0" rtlCol="0" anchor="ctr"/>
          <a:lstStyle/>
          <a:p>
            <a:pPr marL="0" indent="0" algn="r">
              <a:buNone/>
            </a:pPr>
            <a:r>
              <a:rPr lang="en-US" sz="1100" i="1" dirty="0">
                <a:solidFill>
                  <a:srgbClr val="AFC3D6"/>
                </a:solidFill>
                <a:latin typeface="Calibri" pitchFamily="34" charset="0"/>
                <a:ea typeface="Calibri" pitchFamily="34" charset="-122"/>
                <a:cs typeface="Calibri" pitchFamily="34" charset="-120"/>
              </a:rPr>
              <a:t>The AI never publishes. A person signs off every note.</a:t>
            </a:r>
            <a:endParaRPr lang="en-US" sz="1100" dirty="0"/>
          </a:p>
        </p:txBody>
      </p:sp>
      <p:sp>
        <p:nvSpPr>
          <p:cNvPr id="40" name="Text 28"/>
          <p:cNvSpPr/>
          <p:nvPr/>
        </p:nvSpPr>
        <p:spPr>
          <a:xfrm>
            <a:off x="566928" y="4759452"/>
            <a:ext cx="8010144"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41" name="Text 29"/>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HOW IT'S ORGANIZED</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A Repository Built to Extend</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Orchestration, prompting, reusable knowledge, and generated artifacts each live in their own place — so the solution stays easy to maintain and grow.</a:t>
            </a:r>
            <a:endParaRPr lang="en-US" sz="1450" dirty="0"/>
          </a:p>
        </p:txBody>
      </p:sp>
      <p:sp>
        <p:nvSpPr>
          <p:cNvPr id="5" name="Shape 3"/>
          <p:cNvSpPr/>
          <p:nvPr/>
        </p:nvSpPr>
        <p:spPr>
          <a:xfrm>
            <a:off x="566928" y="2212848"/>
            <a:ext cx="1824228" cy="2286000"/>
          </a:xfrm>
          <a:prstGeom prst="roundRect">
            <a:avLst>
              <a:gd name="adj" fmla="val 401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758952" y="2404872"/>
            <a:ext cx="621792" cy="621792"/>
          </a:xfrm>
          <a:prstGeom prst="ellipse">
            <a:avLst/>
          </a:prstGeom>
          <a:solidFill>
            <a:srgbClr val="12355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26836" y="2572756"/>
            <a:ext cx="286024" cy="286024"/>
          </a:xfrm>
          <a:prstGeom prst="rect">
            <a:avLst/>
          </a:prstGeom>
        </p:spPr>
      </p:pic>
      <p:sp>
        <p:nvSpPr>
          <p:cNvPr id="8" name="Text 5"/>
          <p:cNvSpPr/>
          <p:nvPr/>
        </p:nvSpPr>
        <p:spPr>
          <a:xfrm>
            <a:off x="749808" y="3145536"/>
            <a:ext cx="1458468" cy="292608"/>
          </a:xfrm>
          <a:prstGeom prst="rect">
            <a:avLst/>
          </a:prstGeom>
          <a:noFill/>
          <a:ln/>
        </p:spPr>
        <p:txBody>
          <a:bodyPr wrap="square" lIns="0" tIns="0" rIns="0" bIns="0" rtlCol="0" anchor="ctr"/>
          <a:lstStyle/>
          <a:p>
            <a:pPr marL="0" indent="0">
              <a:buNone/>
            </a:pPr>
            <a:r>
              <a:rPr lang="en-US" sz="1300" b="1" dirty="0">
                <a:solidFill>
                  <a:srgbClr val="12355B"/>
                </a:solidFill>
                <a:latin typeface="Calibri" pitchFamily="34" charset="0"/>
                <a:ea typeface="Calibri" pitchFamily="34" charset="-122"/>
                <a:cs typeface="Calibri" pitchFamily="34" charset="-120"/>
              </a:rPr>
              <a:t>Orchestration</a:t>
            </a:r>
            <a:endParaRPr lang="en-US" sz="1300" dirty="0"/>
          </a:p>
        </p:txBody>
      </p:sp>
      <p:sp>
        <p:nvSpPr>
          <p:cNvPr id="9" name="Text 6"/>
          <p:cNvSpPr/>
          <p:nvPr/>
        </p:nvSpPr>
        <p:spPr>
          <a:xfrm>
            <a:off x="749808" y="3456432"/>
            <a:ext cx="1458468" cy="256032"/>
          </a:xfrm>
          <a:prstGeom prst="rect">
            <a:avLst/>
          </a:prstGeom>
          <a:noFill/>
          <a:ln/>
        </p:spPr>
        <p:txBody>
          <a:bodyPr wrap="square" lIns="0" tIns="0" rIns="0" bIns="0" rtlCol="0" anchor="ctr"/>
          <a:lstStyle/>
          <a:p>
            <a:pPr marL="0" indent="0">
              <a:buNone/>
            </a:pPr>
            <a:r>
              <a:rPr lang="en-US" sz="950" dirty="0">
                <a:solidFill>
                  <a:srgbClr val="2A9D8F"/>
                </a:solidFill>
                <a:latin typeface="Consolas" pitchFamily="34" charset="0"/>
                <a:ea typeface="Consolas" pitchFamily="34" charset="-122"/>
                <a:cs typeface="Consolas" pitchFamily="34" charset="-120"/>
              </a:rPr>
              <a:t>commands/  ·  prompts/</a:t>
            </a:r>
            <a:endParaRPr lang="en-US" sz="950" dirty="0"/>
          </a:p>
        </p:txBody>
      </p:sp>
      <p:sp>
        <p:nvSpPr>
          <p:cNvPr id="10" name="Text 7"/>
          <p:cNvSpPr/>
          <p:nvPr/>
        </p:nvSpPr>
        <p:spPr>
          <a:xfrm>
            <a:off x="749808" y="3730752"/>
            <a:ext cx="1458468" cy="694944"/>
          </a:xfrm>
          <a:prstGeom prst="rect">
            <a:avLst/>
          </a:prstGeom>
          <a:noFill/>
          <a:ln/>
        </p:spPr>
        <p:txBody>
          <a:bodyPr wrap="square" lIns="0" tIns="0" rIns="0" bIns="0" rtlCol="0" anchor="t"/>
          <a:lstStyle/>
          <a:p>
            <a:pPr marL="0" indent="0">
              <a:lnSpc>
                <a:spcPct val="102000"/>
              </a:lnSpc>
              <a:buNone/>
            </a:pPr>
            <a:r>
              <a:rPr lang="en-US" sz="1050" dirty="0">
                <a:solidFill>
                  <a:srgbClr val="5F6B7A"/>
                </a:solidFill>
                <a:latin typeface="Calibri" pitchFamily="34" charset="0"/>
                <a:ea typeface="Calibri" pitchFamily="34" charset="-122"/>
                <a:cs typeface="Calibri" pitchFamily="34" charset="-120"/>
              </a:rPr>
              <a:t>The reusable actions that drive each step of the workflow.</a:t>
            </a:r>
            <a:endParaRPr lang="en-US" sz="1050" dirty="0"/>
          </a:p>
        </p:txBody>
      </p:sp>
      <p:sp>
        <p:nvSpPr>
          <p:cNvPr id="11" name="Shape 8"/>
          <p:cNvSpPr/>
          <p:nvPr/>
        </p:nvSpPr>
        <p:spPr>
          <a:xfrm>
            <a:off x="2628900" y="2212848"/>
            <a:ext cx="1824228" cy="2286000"/>
          </a:xfrm>
          <a:prstGeom prst="roundRect">
            <a:avLst>
              <a:gd name="adj" fmla="val 401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2" name="Shape 9"/>
          <p:cNvSpPr/>
          <p:nvPr/>
        </p:nvSpPr>
        <p:spPr>
          <a:xfrm>
            <a:off x="2820924" y="2404872"/>
            <a:ext cx="621792" cy="621792"/>
          </a:xfrm>
          <a:prstGeom prst="ellipse">
            <a:avLst/>
          </a:prstGeom>
          <a:solidFill>
            <a:srgbClr val="12355B"/>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2988808" y="2572756"/>
            <a:ext cx="286024" cy="286024"/>
          </a:xfrm>
          <a:prstGeom prst="rect">
            <a:avLst/>
          </a:prstGeom>
        </p:spPr>
      </p:pic>
      <p:sp>
        <p:nvSpPr>
          <p:cNvPr id="14" name="Text 10"/>
          <p:cNvSpPr/>
          <p:nvPr/>
        </p:nvSpPr>
        <p:spPr>
          <a:xfrm>
            <a:off x="2811780" y="3145536"/>
            <a:ext cx="1458468" cy="292608"/>
          </a:xfrm>
          <a:prstGeom prst="rect">
            <a:avLst/>
          </a:prstGeom>
          <a:noFill/>
          <a:ln/>
        </p:spPr>
        <p:txBody>
          <a:bodyPr wrap="square" lIns="0" tIns="0" rIns="0" bIns="0" rtlCol="0" anchor="ctr"/>
          <a:lstStyle/>
          <a:p>
            <a:pPr marL="0" indent="0">
              <a:buNone/>
            </a:pPr>
            <a:r>
              <a:rPr lang="en-US" sz="1300" b="1" dirty="0">
                <a:solidFill>
                  <a:srgbClr val="12355B"/>
                </a:solidFill>
                <a:latin typeface="Calibri" pitchFamily="34" charset="0"/>
                <a:ea typeface="Calibri" pitchFamily="34" charset="-122"/>
                <a:cs typeface="Calibri" pitchFamily="34" charset="-120"/>
              </a:rPr>
              <a:t>Reusable Knowledge</a:t>
            </a:r>
            <a:endParaRPr lang="en-US" sz="1300" dirty="0"/>
          </a:p>
        </p:txBody>
      </p:sp>
      <p:sp>
        <p:nvSpPr>
          <p:cNvPr id="15" name="Text 11"/>
          <p:cNvSpPr/>
          <p:nvPr/>
        </p:nvSpPr>
        <p:spPr>
          <a:xfrm>
            <a:off x="2811780" y="3456432"/>
            <a:ext cx="1458468" cy="256032"/>
          </a:xfrm>
          <a:prstGeom prst="rect">
            <a:avLst/>
          </a:prstGeom>
          <a:noFill/>
          <a:ln/>
        </p:spPr>
        <p:txBody>
          <a:bodyPr wrap="square" lIns="0" tIns="0" rIns="0" bIns="0" rtlCol="0" anchor="ctr"/>
          <a:lstStyle/>
          <a:p>
            <a:pPr marL="0" indent="0">
              <a:buNone/>
            </a:pPr>
            <a:r>
              <a:rPr lang="en-US" sz="950" dirty="0">
                <a:solidFill>
                  <a:srgbClr val="2A9D8F"/>
                </a:solidFill>
                <a:latin typeface="Consolas" pitchFamily="34" charset="0"/>
                <a:ea typeface="Consolas" pitchFamily="34" charset="-122"/>
                <a:cs typeface="Consolas" pitchFamily="34" charset="-120"/>
              </a:rPr>
              <a:t>skills/</a:t>
            </a:r>
            <a:endParaRPr lang="en-US" sz="950" dirty="0"/>
          </a:p>
        </p:txBody>
      </p:sp>
      <p:sp>
        <p:nvSpPr>
          <p:cNvPr id="16" name="Text 12"/>
          <p:cNvSpPr/>
          <p:nvPr/>
        </p:nvSpPr>
        <p:spPr>
          <a:xfrm>
            <a:off x="2811780" y="3730752"/>
            <a:ext cx="1458468" cy="694944"/>
          </a:xfrm>
          <a:prstGeom prst="rect">
            <a:avLst/>
          </a:prstGeom>
          <a:noFill/>
          <a:ln/>
        </p:spPr>
        <p:txBody>
          <a:bodyPr wrap="square" lIns="0" tIns="0" rIns="0" bIns="0" rtlCol="0" anchor="t"/>
          <a:lstStyle/>
          <a:p>
            <a:pPr marL="0" indent="0">
              <a:lnSpc>
                <a:spcPct val="102000"/>
              </a:lnSpc>
              <a:buNone/>
            </a:pPr>
            <a:r>
              <a:rPr lang="en-US" sz="1050" dirty="0">
                <a:solidFill>
                  <a:srgbClr val="5F6B7A"/>
                </a:solidFill>
                <a:latin typeface="Calibri" pitchFamily="34" charset="0"/>
                <a:ea typeface="Calibri" pitchFamily="34" charset="-122"/>
                <a:cs typeface="Calibri" pitchFamily="34" charset="-120"/>
              </a:rPr>
              <a:t>Style guides, templates, and checklists that shape how the AI drafts.</a:t>
            </a:r>
            <a:endParaRPr lang="en-US" sz="1050" dirty="0"/>
          </a:p>
        </p:txBody>
      </p:sp>
      <p:sp>
        <p:nvSpPr>
          <p:cNvPr id="17" name="Shape 13"/>
          <p:cNvSpPr/>
          <p:nvPr/>
        </p:nvSpPr>
        <p:spPr>
          <a:xfrm>
            <a:off x="4690872" y="2212848"/>
            <a:ext cx="1824228" cy="2286000"/>
          </a:xfrm>
          <a:prstGeom prst="roundRect">
            <a:avLst>
              <a:gd name="adj" fmla="val 401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8" name="Shape 14"/>
          <p:cNvSpPr/>
          <p:nvPr/>
        </p:nvSpPr>
        <p:spPr>
          <a:xfrm>
            <a:off x="4882896" y="2404872"/>
            <a:ext cx="621792" cy="621792"/>
          </a:xfrm>
          <a:prstGeom prst="ellipse">
            <a:avLst/>
          </a:prstGeom>
          <a:solidFill>
            <a:srgbClr val="12355B"/>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050780" y="2572756"/>
            <a:ext cx="286024" cy="286024"/>
          </a:xfrm>
          <a:prstGeom prst="rect">
            <a:avLst/>
          </a:prstGeom>
        </p:spPr>
      </p:pic>
      <p:sp>
        <p:nvSpPr>
          <p:cNvPr id="20" name="Text 15"/>
          <p:cNvSpPr/>
          <p:nvPr/>
        </p:nvSpPr>
        <p:spPr>
          <a:xfrm>
            <a:off x="4873752" y="3145536"/>
            <a:ext cx="1458468" cy="292608"/>
          </a:xfrm>
          <a:prstGeom prst="rect">
            <a:avLst/>
          </a:prstGeom>
          <a:noFill/>
          <a:ln/>
        </p:spPr>
        <p:txBody>
          <a:bodyPr wrap="square" lIns="0" tIns="0" rIns="0" bIns="0" rtlCol="0" anchor="ctr"/>
          <a:lstStyle/>
          <a:p>
            <a:pPr marL="0" indent="0">
              <a:buNone/>
            </a:pPr>
            <a:r>
              <a:rPr lang="en-US" sz="1300" b="1" dirty="0">
                <a:solidFill>
                  <a:srgbClr val="12355B"/>
                </a:solidFill>
                <a:latin typeface="Calibri" pitchFamily="34" charset="0"/>
                <a:ea typeface="Calibri" pitchFamily="34" charset="-122"/>
                <a:cs typeface="Calibri" pitchFamily="34" charset="-120"/>
              </a:rPr>
              <a:t>Source Data</a:t>
            </a:r>
            <a:endParaRPr lang="en-US" sz="1300" dirty="0"/>
          </a:p>
        </p:txBody>
      </p:sp>
      <p:sp>
        <p:nvSpPr>
          <p:cNvPr id="21" name="Text 16"/>
          <p:cNvSpPr/>
          <p:nvPr/>
        </p:nvSpPr>
        <p:spPr>
          <a:xfrm>
            <a:off x="4873752" y="3456432"/>
            <a:ext cx="1458468" cy="256032"/>
          </a:xfrm>
          <a:prstGeom prst="rect">
            <a:avLst/>
          </a:prstGeom>
          <a:noFill/>
          <a:ln/>
        </p:spPr>
        <p:txBody>
          <a:bodyPr wrap="square" lIns="0" tIns="0" rIns="0" bIns="0" rtlCol="0" anchor="ctr"/>
          <a:lstStyle/>
          <a:p>
            <a:pPr marL="0" indent="0">
              <a:buNone/>
            </a:pPr>
            <a:r>
              <a:rPr lang="en-US" sz="950" dirty="0">
                <a:solidFill>
                  <a:srgbClr val="2A9D8F"/>
                </a:solidFill>
                <a:latin typeface="Consolas" pitchFamily="34" charset="0"/>
                <a:ea typeface="Consolas" pitchFamily="34" charset="-122"/>
                <a:cs typeface="Consolas" pitchFamily="34" charset="-120"/>
              </a:rPr>
              <a:t>data/</a:t>
            </a:r>
            <a:endParaRPr lang="en-US" sz="950" dirty="0"/>
          </a:p>
        </p:txBody>
      </p:sp>
      <p:sp>
        <p:nvSpPr>
          <p:cNvPr id="22" name="Text 17"/>
          <p:cNvSpPr/>
          <p:nvPr/>
        </p:nvSpPr>
        <p:spPr>
          <a:xfrm>
            <a:off x="4873752" y="3730752"/>
            <a:ext cx="1458468" cy="694944"/>
          </a:xfrm>
          <a:prstGeom prst="rect">
            <a:avLst/>
          </a:prstGeom>
          <a:noFill/>
          <a:ln/>
        </p:spPr>
        <p:txBody>
          <a:bodyPr wrap="square" lIns="0" tIns="0" rIns="0" bIns="0" rtlCol="0" anchor="t"/>
          <a:lstStyle/>
          <a:p>
            <a:pPr marL="0" indent="0">
              <a:lnSpc>
                <a:spcPct val="102000"/>
              </a:lnSpc>
              <a:buNone/>
            </a:pPr>
            <a:r>
              <a:rPr lang="en-US" sz="1050" dirty="0">
                <a:solidFill>
                  <a:srgbClr val="5F6B7A"/>
                </a:solidFill>
                <a:latin typeface="Calibri" pitchFamily="34" charset="0"/>
                <a:ea typeface="Calibri" pitchFamily="34" charset="-122"/>
                <a:cs typeface="Calibri" pitchFamily="34" charset="-120"/>
              </a:rPr>
              <a:t>Mock Azure DevOps and ServiceNow inputs for the proof of concept.</a:t>
            </a:r>
            <a:endParaRPr lang="en-US" sz="1050" dirty="0"/>
          </a:p>
        </p:txBody>
      </p:sp>
      <p:sp>
        <p:nvSpPr>
          <p:cNvPr id="23" name="Shape 18"/>
          <p:cNvSpPr/>
          <p:nvPr/>
        </p:nvSpPr>
        <p:spPr>
          <a:xfrm>
            <a:off x="6752844" y="2212848"/>
            <a:ext cx="1824228" cy="2286000"/>
          </a:xfrm>
          <a:prstGeom prst="roundRect">
            <a:avLst>
              <a:gd name="adj" fmla="val 401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24" name="Shape 19"/>
          <p:cNvSpPr/>
          <p:nvPr/>
        </p:nvSpPr>
        <p:spPr>
          <a:xfrm>
            <a:off x="6944868" y="2404872"/>
            <a:ext cx="621792" cy="621792"/>
          </a:xfrm>
          <a:prstGeom prst="ellipse">
            <a:avLst/>
          </a:prstGeom>
          <a:solidFill>
            <a:srgbClr val="12355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112752" y="2572756"/>
            <a:ext cx="286024" cy="286024"/>
          </a:xfrm>
          <a:prstGeom prst="rect">
            <a:avLst/>
          </a:prstGeom>
        </p:spPr>
      </p:pic>
      <p:sp>
        <p:nvSpPr>
          <p:cNvPr id="26" name="Text 20"/>
          <p:cNvSpPr/>
          <p:nvPr/>
        </p:nvSpPr>
        <p:spPr>
          <a:xfrm>
            <a:off x="6935724" y="3145536"/>
            <a:ext cx="1458468" cy="292608"/>
          </a:xfrm>
          <a:prstGeom prst="rect">
            <a:avLst/>
          </a:prstGeom>
          <a:noFill/>
          <a:ln/>
        </p:spPr>
        <p:txBody>
          <a:bodyPr wrap="square" lIns="0" tIns="0" rIns="0" bIns="0" rtlCol="0" anchor="ctr"/>
          <a:lstStyle/>
          <a:p>
            <a:pPr marL="0" indent="0">
              <a:buNone/>
            </a:pPr>
            <a:r>
              <a:rPr lang="en-US" sz="1300" b="1" dirty="0">
                <a:solidFill>
                  <a:srgbClr val="12355B"/>
                </a:solidFill>
                <a:latin typeface="Calibri" pitchFamily="34" charset="0"/>
                <a:ea typeface="Calibri" pitchFamily="34" charset="-122"/>
                <a:cs typeface="Calibri" pitchFamily="34" charset="-120"/>
              </a:rPr>
              <a:t>Generated Artifacts</a:t>
            </a:r>
            <a:endParaRPr lang="en-US" sz="1300" dirty="0"/>
          </a:p>
        </p:txBody>
      </p:sp>
      <p:sp>
        <p:nvSpPr>
          <p:cNvPr id="27" name="Text 21"/>
          <p:cNvSpPr/>
          <p:nvPr/>
        </p:nvSpPr>
        <p:spPr>
          <a:xfrm>
            <a:off x="6935724" y="3456432"/>
            <a:ext cx="1458468" cy="256032"/>
          </a:xfrm>
          <a:prstGeom prst="rect">
            <a:avLst/>
          </a:prstGeom>
          <a:noFill/>
          <a:ln/>
        </p:spPr>
        <p:txBody>
          <a:bodyPr wrap="square" lIns="0" tIns="0" rIns="0" bIns="0" rtlCol="0" anchor="ctr"/>
          <a:lstStyle/>
          <a:p>
            <a:pPr marL="0" indent="0">
              <a:buNone/>
            </a:pPr>
            <a:r>
              <a:rPr lang="en-US" sz="950" dirty="0">
                <a:solidFill>
                  <a:srgbClr val="2A9D8F"/>
                </a:solidFill>
                <a:latin typeface="Consolas" pitchFamily="34" charset="0"/>
                <a:ea typeface="Consolas" pitchFamily="34" charset="-122"/>
                <a:cs typeface="Consolas" pitchFamily="34" charset="-120"/>
              </a:rPr>
              <a:t>output/</a:t>
            </a:r>
            <a:endParaRPr lang="en-US" sz="950" dirty="0"/>
          </a:p>
        </p:txBody>
      </p:sp>
      <p:sp>
        <p:nvSpPr>
          <p:cNvPr id="28" name="Text 22"/>
          <p:cNvSpPr/>
          <p:nvPr/>
        </p:nvSpPr>
        <p:spPr>
          <a:xfrm>
            <a:off x="6935724" y="3730752"/>
            <a:ext cx="1458468" cy="694944"/>
          </a:xfrm>
          <a:prstGeom prst="rect">
            <a:avLst/>
          </a:prstGeom>
          <a:noFill/>
          <a:ln/>
        </p:spPr>
        <p:txBody>
          <a:bodyPr wrap="square" lIns="0" tIns="0" rIns="0" bIns="0" rtlCol="0" anchor="t"/>
          <a:lstStyle/>
          <a:p>
            <a:pPr marL="0" indent="0">
              <a:lnSpc>
                <a:spcPct val="102000"/>
              </a:lnSpc>
              <a:buNone/>
            </a:pPr>
            <a:r>
              <a:rPr lang="en-US" sz="1050" dirty="0">
                <a:solidFill>
                  <a:srgbClr val="5F6B7A"/>
                </a:solidFill>
                <a:latin typeface="Calibri" pitchFamily="34" charset="0"/>
                <a:ea typeface="Calibri" pitchFamily="34" charset="-122"/>
                <a:cs typeface="Calibri" pitchFamily="34" charset="-120"/>
              </a:rPr>
              <a:t>Every AI and publishing artifact, kept separate for a clean audit trail.</a:t>
            </a:r>
            <a:endParaRPr lang="en-US" sz="1050" dirty="0"/>
          </a:p>
        </p:txBody>
      </p:sp>
      <p:sp>
        <p:nvSpPr>
          <p:cNvPr id="29" name="Text 23"/>
          <p:cNvSpPr/>
          <p:nvPr/>
        </p:nvSpPr>
        <p:spPr>
          <a:xfrm>
            <a:off x="566928" y="4759452"/>
            <a:ext cx="7956586"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30" name="Text 24"/>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GOVERNANCE</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AI Assists, People Decide</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No draft reaches a customer without human sign-off. Every release passes through five review gates.</a:t>
            </a:r>
            <a:endParaRPr lang="en-US" sz="1450" dirty="0"/>
          </a:p>
        </p:txBody>
      </p:sp>
      <p:sp>
        <p:nvSpPr>
          <p:cNvPr id="5" name="Shape 3"/>
          <p:cNvSpPr/>
          <p:nvPr/>
        </p:nvSpPr>
        <p:spPr>
          <a:xfrm>
            <a:off x="974750" y="1819656"/>
            <a:ext cx="786384" cy="786384"/>
          </a:xfrm>
          <a:prstGeom prst="ellipse">
            <a:avLst/>
          </a:prstGeom>
          <a:solidFill>
            <a:srgbClr val="12355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87074" y="2031980"/>
            <a:ext cx="361737" cy="361737"/>
          </a:xfrm>
          <a:prstGeom prst="rect">
            <a:avLst/>
          </a:prstGeom>
        </p:spPr>
      </p:pic>
      <p:sp>
        <p:nvSpPr>
          <p:cNvPr id="7" name="Text 4"/>
          <p:cNvSpPr/>
          <p:nvPr/>
        </p:nvSpPr>
        <p:spPr>
          <a:xfrm>
            <a:off x="1450238" y="1801368"/>
            <a:ext cx="310896" cy="256032"/>
          </a:xfrm>
          <a:prstGeom prst="rect">
            <a:avLst/>
          </a:prstGeom>
          <a:noFill/>
          <a:ln/>
        </p:spPr>
        <p:txBody>
          <a:bodyPr wrap="square" lIns="0" tIns="0" rIns="0" bIns="0" rtlCol="0" anchor="ctr"/>
          <a:lstStyle/>
          <a:p>
            <a:pPr marL="0" indent="0" algn="r">
              <a:buNone/>
            </a:pPr>
            <a:r>
              <a:rPr lang="en-US" sz="1400" b="1" dirty="0">
                <a:solidFill>
                  <a:srgbClr val="2A9D8F"/>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566928" y="2743200"/>
            <a:ext cx="1602029"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Technical Writer</a:t>
            </a:r>
            <a:endParaRPr lang="en-US" sz="1200" dirty="0"/>
          </a:p>
        </p:txBody>
      </p:sp>
      <p:sp>
        <p:nvSpPr>
          <p:cNvPr id="9" name="Text 6"/>
          <p:cNvSpPr/>
          <p:nvPr/>
        </p:nvSpPr>
        <p:spPr>
          <a:xfrm>
            <a:off x="640080" y="3145536"/>
            <a:ext cx="1455725" cy="822960"/>
          </a:xfrm>
          <a:prstGeom prst="rect">
            <a:avLst/>
          </a:prstGeom>
          <a:noFill/>
          <a:ln/>
        </p:spPr>
        <p:txBody>
          <a:bodyPr wrap="square" lIns="0" tIns="0" rIns="0" bIns="0" rtlCol="0" anchor="t"/>
          <a:lstStyle/>
          <a:p>
            <a:pPr marL="0" indent="0" algn="ctr">
              <a:lnSpc>
                <a:spcPct val="102000"/>
              </a:lnSpc>
              <a:buNone/>
            </a:pPr>
            <a:r>
              <a:rPr lang="en-US" sz="950" dirty="0">
                <a:solidFill>
                  <a:srgbClr val="5F6B7A"/>
                </a:solidFill>
                <a:latin typeface="Calibri" pitchFamily="34" charset="0"/>
                <a:ea typeface="Calibri" pitchFamily="34" charset="-122"/>
                <a:cs typeface="Calibri" pitchFamily="34" charset="-120"/>
              </a:rPr>
              <a:t>Reviews the draft, checks clarity and tone, edits and refines.</a:t>
            </a:r>
            <a:endParaRPr lang="en-US" sz="950" dirty="0"/>
          </a:p>
        </p:txBody>
      </p:sp>
      <p:pic>
        <p:nvPicPr>
          <p:cNvPr id="10" name="Image 1" descr="preencoded.png"/>
          <p:cNvPicPr>
            <a:picLocks noChangeAspect="1"/>
          </p:cNvPicPr>
          <p:nvPr/>
        </p:nvPicPr>
        <p:blipFill>
          <a:blip r:embed="rId4"/>
          <a:stretch>
            <a:fillRect/>
          </a:stretch>
        </p:blipFill>
        <p:spPr>
          <a:xfrm>
            <a:off x="2068373" y="2112264"/>
            <a:ext cx="201168" cy="201168"/>
          </a:xfrm>
          <a:prstGeom prst="rect">
            <a:avLst/>
          </a:prstGeom>
        </p:spPr>
      </p:pic>
      <p:sp>
        <p:nvSpPr>
          <p:cNvPr id="11" name="Shape 7"/>
          <p:cNvSpPr/>
          <p:nvPr/>
        </p:nvSpPr>
        <p:spPr>
          <a:xfrm>
            <a:off x="2576779" y="1819656"/>
            <a:ext cx="786384" cy="786384"/>
          </a:xfrm>
          <a:prstGeom prst="ellipse">
            <a:avLst/>
          </a:prstGeom>
          <a:solidFill>
            <a:srgbClr val="12355B"/>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2789103" y="2031980"/>
            <a:ext cx="361737" cy="361737"/>
          </a:xfrm>
          <a:prstGeom prst="rect">
            <a:avLst/>
          </a:prstGeom>
        </p:spPr>
      </p:pic>
      <p:sp>
        <p:nvSpPr>
          <p:cNvPr id="13" name="Text 8"/>
          <p:cNvSpPr/>
          <p:nvPr/>
        </p:nvSpPr>
        <p:spPr>
          <a:xfrm>
            <a:off x="3052267" y="1801368"/>
            <a:ext cx="310896" cy="256032"/>
          </a:xfrm>
          <a:prstGeom prst="rect">
            <a:avLst/>
          </a:prstGeom>
          <a:noFill/>
          <a:ln/>
        </p:spPr>
        <p:txBody>
          <a:bodyPr wrap="square" lIns="0" tIns="0" rIns="0" bIns="0" rtlCol="0" anchor="ctr"/>
          <a:lstStyle/>
          <a:p>
            <a:pPr marL="0" indent="0" algn="r">
              <a:buNone/>
            </a:pPr>
            <a:r>
              <a:rPr lang="en-US" sz="1400" b="1" dirty="0">
                <a:solidFill>
                  <a:srgbClr val="2A9D8F"/>
                </a:solidFill>
                <a:latin typeface="Cambria" pitchFamily="34" charset="0"/>
                <a:ea typeface="Cambria" pitchFamily="34" charset="-122"/>
                <a:cs typeface="Cambria" pitchFamily="34" charset="-120"/>
              </a:rPr>
              <a:t>2</a:t>
            </a:r>
            <a:endParaRPr lang="en-US" sz="1400" dirty="0"/>
          </a:p>
        </p:txBody>
      </p:sp>
      <p:sp>
        <p:nvSpPr>
          <p:cNvPr id="14" name="Text 9"/>
          <p:cNvSpPr/>
          <p:nvPr/>
        </p:nvSpPr>
        <p:spPr>
          <a:xfrm>
            <a:off x="2168957" y="2743200"/>
            <a:ext cx="1602029"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SME Review</a:t>
            </a:r>
            <a:endParaRPr lang="en-US" sz="1200" dirty="0"/>
          </a:p>
        </p:txBody>
      </p:sp>
      <p:sp>
        <p:nvSpPr>
          <p:cNvPr id="15" name="Text 10"/>
          <p:cNvSpPr/>
          <p:nvPr/>
        </p:nvSpPr>
        <p:spPr>
          <a:xfrm>
            <a:off x="2242109" y="3145536"/>
            <a:ext cx="1455725" cy="822960"/>
          </a:xfrm>
          <a:prstGeom prst="rect">
            <a:avLst/>
          </a:prstGeom>
          <a:noFill/>
          <a:ln/>
        </p:spPr>
        <p:txBody>
          <a:bodyPr wrap="square" lIns="0" tIns="0" rIns="0" bIns="0" rtlCol="0" anchor="t"/>
          <a:lstStyle/>
          <a:p>
            <a:pPr marL="0" indent="0" algn="ctr">
              <a:lnSpc>
                <a:spcPct val="102000"/>
              </a:lnSpc>
              <a:buNone/>
            </a:pPr>
            <a:r>
              <a:rPr lang="en-US" sz="950" dirty="0">
                <a:solidFill>
                  <a:srgbClr val="5F6B7A"/>
                </a:solidFill>
                <a:latin typeface="Calibri" pitchFamily="34" charset="0"/>
                <a:ea typeface="Calibri" pitchFamily="34" charset="-122"/>
                <a:cs typeface="Calibri" pitchFamily="34" charset="-120"/>
              </a:rPr>
              <a:t>Validates technical accuracy, confirms feature detail and impact.</a:t>
            </a:r>
            <a:endParaRPr lang="en-US" sz="950" dirty="0"/>
          </a:p>
        </p:txBody>
      </p:sp>
      <p:pic>
        <p:nvPicPr>
          <p:cNvPr id="16" name="Image 3" descr="preencoded.png"/>
          <p:cNvPicPr>
            <a:picLocks noChangeAspect="1"/>
          </p:cNvPicPr>
          <p:nvPr/>
        </p:nvPicPr>
        <p:blipFill>
          <a:blip r:embed="rId4"/>
          <a:stretch>
            <a:fillRect/>
          </a:stretch>
        </p:blipFill>
        <p:spPr>
          <a:xfrm>
            <a:off x="3670402" y="2112264"/>
            <a:ext cx="201168" cy="201168"/>
          </a:xfrm>
          <a:prstGeom prst="rect">
            <a:avLst/>
          </a:prstGeom>
        </p:spPr>
      </p:pic>
      <p:sp>
        <p:nvSpPr>
          <p:cNvPr id="17" name="Shape 11"/>
          <p:cNvSpPr/>
          <p:nvPr/>
        </p:nvSpPr>
        <p:spPr>
          <a:xfrm>
            <a:off x="4178808" y="1819656"/>
            <a:ext cx="786384" cy="786384"/>
          </a:xfrm>
          <a:prstGeom prst="ellipse">
            <a:avLst/>
          </a:prstGeom>
          <a:solidFill>
            <a:srgbClr val="12355B"/>
          </a:solidFill>
          <a:ln/>
        </p:spPr>
        <p:txBody>
          <a:bodyPr/>
          <a:lstStyle/>
          <a:p>
            <a:endParaRPr lang="en-US"/>
          </a:p>
        </p:txBody>
      </p:sp>
      <p:pic>
        <p:nvPicPr>
          <p:cNvPr id="18" name="Image 4" descr="preencoded.png"/>
          <p:cNvPicPr>
            <a:picLocks noChangeAspect="1"/>
          </p:cNvPicPr>
          <p:nvPr/>
        </p:nvPicPr>
        <p:blipFill>
          <a:blip r:embed="rId6"/>
          <a:stretch>
            <a:fillRect/>
          </a:stretch>
        </p:blipFill>
        <p:spPr>
          <a:xfrm>
            <a:off x="4391132" y="2031980"/>
            <a:ext cx="361737" cy="361737"/>
          </a:xfrm>
          <a:prstGeom prst="rect">
            <a:avLst/>
          </a:prstGeom>
        </p:spPr>
      </p:pic>
      <p:sp>
        <p:nvSpPr>
          <p:cNvPr id="19" name="Text 12"/>
          <p:cNvSpPr/>
          <p:nvPr/>
        </p:nvSpPr>
        <p:spPr>
          <a:xfrm>
            <a:off x="4654296" y="1801368"/>
            <a:ext cx="310896" cy="256032"/>
          </a:xfrm>
          <a:prstGeom prst="rect">
            <a:avLst/>
          </a:prstGeom>
          <a:noFill/>
          <a:ln/>
        </p:spPr>
        <p:txBody>
          <a:bodyPr wrap="square" lIns="0" tIns="0" rIns="0" bIns="0" rtlCol="0" anchor="ctr"/>
          <a:lstStyle/>
          <a:p>
            <a:pPr marL="0" indent="0" algn="r">
              <a:buNone/>
            </a:pPr>
            <a:r>
              <a:rPr lang="en-US" sz="1400" b="1" dirty="0">
                <a:solidFill>
                  <a:srgbClr val="2A9D8F"/>
                </a:solidFill>
                <a:latin typeface="Cambria" pitchFamily="34" charset="0"/>
                <a:ea typeface="Cambria" pitchFamily="34" charset="-122"/>
                <a:cs typeface="Cambria" pitchFamily="34" charset="-120"/>
              </a:rPr>
              <a:t>3</a:t>
            </a:r>
            <a:endParaRPr lang="en-US" sz="1400" dirty="0"/>
          </a:p>
        </p:txBody>
      </p:sp>
      <p:sp>
        <p:nvSpPr>
          <p:cNvPr id="20" name="Text 13"/>
          <p:cNvSpPr/>
          <p:nvPr/>
        </p:nvSpPr>
        <p:spPr>
          <a:xfrm>
            <a:off x="3770986" y="2743200"/>
            <a:ext cx="1602029"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Documentation Approval</a:t>
            </a:r>
            <a:endParaRPr lang="en-US" sz="1200" dirty="0"/>
          </a:p>
        </p:txBody>
      </p:sp>
      <p:sp>
        <p:nvSpPr>
          <p:cNvPr id="21" name="Text 14"/>
          <p:cNvSpPr/>
          <p:nvPr/>
        </p:nvSpPr>
        <p:spPr>
          <a:xfrm>
            <a:off x="3844138" y="3145536"/>
            <a:ext cx="1455725" cy="822960"/>
          </a:xfrm>
          <a:prstGeom prst="rect">
            <a:avLst/>
          </a:prstGeom>
          <a:noFill/>
          <a:ln/>
        </p:spPr>
        <p:txBody>
          <a:bodyPr wrap="square" lIns="0" tIns="0" rIns="0" bIns="0" rtlCol="0" anchor="t"/>
          <a:lstStyle/>
          <a:p>
            <a:pPr marL="0" indent="0" algn="ctr">
              <a:lnSpc>
                <a:spcPct val="102000"/>
              </a:lnSpc>
              <a:buNone/>
            </a:pPr>
            <a:r>
              <a:rPr lang="en-US" sz="950" dirty="0">
                <a:solidFill>
                  <a:srgbClr val="5F6B7A"/>
                </a:solidFill>
                <a:latin typeface="Calibri" pitchFamily="34" charset="0"/>
                <a:ea typeface="Calibri" pitchFamily="34" charset="-122"/>
                <a:cs typeface="Calibri" pitchFamily="34" charset="-120"/>
              </a:rPr>
              <a:t>Final review, compliance and metadata checks, approval to publish.</a:t>
            </a:r>
            <a:endParaRPr lang="en-US" sz="950" dirty="0"/>
          </a:p>
        </p:txBody>
      </p:sp>
      <p:pic>
        <p:nvPicPr>
          <p:cNvPr id="22" name="Image 5" descr="preencoded.png"/>
          <p:cNvPicPr>
            <a:picLocks noChangeAspect="1"/>
          </p:cNvPicPr>
          <p:nvPr/>
        </p:nvPicPr>
        <p:blipFill>
          <a:blip r:embed="rId4"/>
          <a:stretch>
            <a:fillRect/>
          </a:stretch>
        </p:blipFill>
        <p:spPr>
          <a:xfrm>
            <a:off x="5272430" y="2112264"/>
            <a:ext cx="201168" cy="201168"/>
          </a:xfrm>
          <a:prstGeom prst="rect">
            <a:avLst/>
          </a:prstGeom>
        </p:spPr>
      </p:pic>
      <p:sp>
        <p:nvSpPr>
          <p:cNvPr id="23" name="Shape 15"/>
          <p:cNvSpPr/>
          <p:nvPr/>
        </p:nvSpPr>
        <p:spPr>
          <a:xfrm>
            <a:off x="5780837" y="1819656"/>
            <a:ext cx="786384" cy="786384"/>
          </a:xfrm>
          <a:prstGeom prst="ellipse">
            <a:avLst/>
          </a:prstGeom>
          <a:solidFill>
            <a:srgbClr val="12355B"/>
          </a:solidFill>
          <a:ln/>
        </p:spPr>
        <p:txBody>
          <a:bodyPr/>
          <a:lstStyle/>
          <a:p>
            <a:endParaRPr lang="en-US"/>
          </a:p>
        </p:txBody>
      </p:sp>
      <p:pic>
        <p:nvPicPr>
          <p:cNvPr id="24" name="Image 6" descr="preencoded.png"/>
          <p:cNvPicPr>
            <a:picLocks noChangeAspect="1"/>
          </p:cNvPicPr>
          <p:nvPr/>
        </p:nvPicPr>
        <p:blipFill>
          <a:blip r:embed="rId7"/>
          <a:stretch>
            <a:fillRect/>
          </a:stretch>
        </p:blipFill>
        <p:spPr>
          <a:xfrm>
            <a:off x="5993160" y="2031980"/>
            <a:ext cx="361737" cy="361737"/>
          </a:xfrm>
          <a:prstGeom prst="rect">
            <a:avLst/>
          </a:prstGeom>
        </p:spPr>
      </p:pic>
      <p:sp>
        <p:nvSpPr>
          <p:cNvPr id="25" name="Text 16"/>
          <p:cNvSpPr/>
          <p:nvPr/>
        </p:nvSpPr>
        <p:spPr>
          <a:xfrm>
            <a:off x="6256325" y="1801368"/>
            <a:ext cx="310896" cy="256032"/>
          </a:xfrm>
          <a:prstGeom prst="rect">
            <a:avLst/>
          </a:prstGeom>
          <a:noFill/>
          <a:ln/>
        </p:spPr>
        <p:txBody>
          <a:bodyPr wrap="square" lIns="0" tIns="0" rIns="0" bIns="0" rtlCol="0" anchor="ctr"/>
          <a:lstStyle/>
          <a:p>
            <a:pPr marL="0" indent="0" algn="r">
              <a:buNone/>
            </a:pPr>
            <a:r>
              <a:rPr lang="en-US" sz="1400" b="1" dirty="0">
                <a:solidFill>
                  <a:srgbClr val="2A9D8F"/>
                </a:solidFill>
                <a:latin typeface="Cambria" pitchFamily="34" charset="0"/>
                <a:ea typeface="Cambria" pitchFamily="34" charset="-122"/>
                <a:cs typeface="Cambria" pitchFamily="34" charset="-120"/>
              </a:rPr>
              <a:t>4</a:t>
            </a:r>
            <a:endParaRPr lang="en-US" sz="1400" dirty="0"/>
          </a:p>
        </p:txBody>
      </p:sp>
      <p:sp>
        <p:nvSpPr>
          <p:cNvPr id="26" name="Text 17"/>
          <p:cNvSpPr/>
          <p:nvPr/>
        </p:nvSpPr>
        <p:spPr>
          <a:xfrm>
            <a:off x="5373014" y="2743200"/>
            <a:ext cx="1602029"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Publish</a:t>
            </a:r>
            <a:endParaRPr lang="en-US" sz="1200" dirty="0"/>
          </a:p>
        </p:txBody>
      </p:sp>
      <p:sp>
        <p:nvSpPr>
          <p:cNvPr id="27" name="Text 18"/>
          <p:cNvSpPr/>
          <p:nvPr/>
        </p:nvSpPr>
        <p:spPr>
          <a:xfrm>
            <a:off x="5446166" y="3145536"/>
            <a:ext cx="1455725" cy="822960"/>
          </a:xfrm>
          <a:prstGeom prst="rect">
            <a:avLst/>
          </a:prstGeom>
          <a:noFill/>
          <a:ln/>
        </p:spPr>
        <p:txBody>
          <a:bodyPr wrap="square" lIns="0" tIns="0" rIns="0" bIns="0" rtlCol="0" anchor="t"/>
          <a:lstStyle/>
          <a:p>
            <a:pPr marL="0" indent="0" algn="ctr">
              <a:lnSpc>
                <a:spcPct val="102000"/>
              </a:lnSpc>
              <a:buNone/>
            </a:pPr>
            <a:r>
              <a:rPr lang="en-US" sz="950" dirty="0">
                <a:solidFill>
                  <a:srgbClr val="5F6B7A"/>
                </a:solidFill>
                <a:latin typeface="Calibri" pitchFamily="34" charset="0"/>
                <a:ea typeface="Calibri" pitchFamily="34" charset="-122"/>
                <a:cs typeface="Calibri" pitchFamily="34" charset="-120"/>
              </a:rPr>
              <a:t>Sends to the right category with tags, version, and audience set.</a:t>
            </a:r>
            <a:endParaRPr lang="en-US" sz="950" dirty="0"/>
          </a:p>
        </p:txBody>
      </p:sp>
      <p:pic>
        <p:nvPicPr>
          <p:cNvPr id="28" name="Image 7" descr="preencoded.png"/>
          <p:cNvPicPr>
            <a:picLocks noChangeAspect="1"/>
          </p:cNvPicPr>
          <p:nvPr/>
        </p:nvPicPr>
        <p:blipFill>
          <a:blip r:embed="rId4"/>
          <a:stretch>
            <a:fillRect/>
          </a:stretch>
        </p:blipFill>
        <p:spPr>
          <a:xfrm>
            <a:off x="6874459" y="2112264"/>
            <a:ext cx="201168" cy="201168"/>
          </a:xfrm>
          <a:prstGeom prst="rect">
            <a:avLst/>
          </a:prstGeom>
        </p:spPr>
      </p:pic>
      <p:sp>
        <p:nvSpPr>
          <p:cNvPr id="29" name="Shape 19"/>
          <p:cNvSpPr/>
          <p:nvPr/>
        </p:nvSpPr>
        <p:spPr>
          <a:xfrm>
            <a:off x="7382866" y="1819656"/>
            <a:ext cx="786384" cy="786384"/>
          </a:xfrm>
          <a:prstGeom prst="ellipse">
            <a:avLst/>
          </a:prstGeom>
          <a:solidFill>
            <a:srgbClr val="12355B"/>
          </a:solidFill>
          <a:ln/>
        </p:spPr>
        <p:txBody>
          <a:bodyPr/>
          <a:lstStyle/>
          <a:p>
            <a:endParaRPr lang="en-US"/>
          </a:p>
        </p:txBody>
      </p:sp>
      <p:pic>
        <p:nvPicPr>
          <p:cNvPr id="30" name="Image 8" descr="preencoded.png"/>
          <p:cNvPicPr>
            <a:picLocks noChangeAspect="1"/>
          </p:cNvPicPr>
          <p:nvPr/>
        </p:nvPicPr>
        <p:blipFill>
          <a:blip r:embed="rId8"/>
          <a:stretch>
            <a:fillRect/>
          </a:stretch>
        </p:blipFill>
        <p:spPr>
          <a:xfrm>
            <a:off x="7595189" y="2031980"/>
            <a:ext cx="361737" cy="361737"/>
          </a:xfrm>
          <a:prstGeom prst="rect">
            <a:avLst/>
          </a:prstGeom>
        </p:spPr>
      </p:pic>
      <p:sp>
        <p:nvSpPr>
          <p:cNvPr id="31" name="Text 20"/>
          <p:cNvSpPr/>
          <p:nvPr/>
        </p:nvSpPr>
        <p:spPr>
          <a:xfrm>
            <a:off x="7858354" y="1801368"/>
            <a:ext cx="310896" cy="256032"/>
          </a:xfrm>
          <a:prstGeom prst="rect">
            <a:avLst/>
          </a:prstGeom>
          <a:noFill/>
          <a:ln/>
        </p:spPr>
        <p:txBody>
          <a:bodyPr wrap="square" lIns="0" tIns="0" rIns="0" bIns="0" rtlCol="0" anchor="ctr"/>
          <a:lstStyle/>
          <a:p>
            <a:pPr marL="0" indent="0" algn="r">
              <a:buNone/>
            </a:pPr>
            <a:r>
              <a:rPr lang="en-US" sz="1400" b="1" dirty="0">
                <a:solidFill>
                  <a:srgbClr val="2A9D8F"/>
                </a:solidFill>
                <a:latin typeface="Cambria" pitchFamily="34" charset="0"/>
                <a:ea typeface="Cambria" pitchFamily="34" charset="-122"/>
                <a:cs typeface="Cambria" pitchFamily="34" charset="-120"/>
              </a:rPr>
              <a:t>5</a:t>
            </a:r>
            <a:endParaRPr lang="en-US" sz="1400" dirty="0"/>
          </a:p>
        </p:txBody>
      </p:sp>
      <p:sp>
        <p:nvSpPr>
          <p:cNvPr id="32" name="Text 21"/>
          <p:cNvSpPr/>
          <p:nvPr/>
        </p:nvSpPr>
        <p:spPr>
          <a:xfrm>
            <a:off x="6975043" y="2743200"/>
            <a:ext cx="1602029"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Notify</a:t>
            </a:r>
            <a:endParaRPr lang="en-US" sz="1200" dirty="0"/>
          </a:p>
        </p:txBody>
      </p:sp>
      <p:sp>
        <p:nvSpPr>
          <p:cNvPr id="33" name="Text 22"/>
          <p:cNvSpPr/>
          <p:nvPr/>
        </p:nvSpPr>
        <p:spPr>
          <a:xfrm>
            <a:off x="7048195" y="3145536"/>
            <a:ext cx="1455725" cy="822960"/>
          </a:xfrm>
          <a:prstGeom prst="rect">
            <a:avLst/>
          </a:prstGeom>
          <a:noFill/>
          <a:ln/>
        </p:spPr>
        <p:txBody>
          <a:bodyPr wrap="square" lIns="0" tIns="0" rIns="0" bIns="0" rtlCol="0" anchor="t"/>
          <a:lstStyle/>
          <a:p>
            <a:pPr marL="0" indent="0" algn="ctr">
              <a:lnSpc>
                <a:spcPct val="102000"/>
              </a:lnSpc>
              <a:buNone/>
            </a:pPr>
            <a:r>
              <a:rPr lang="en-US" sz="950" dirty="0">
                <a:solidFill>
                  <a:srgbClr val="5F6B7A"/>
                </a:solidFill>
                <a:latin typeface="Calibri" pitchFamily="34" charset="0"/>
                <a:ea typeface="Calibri" pitchFamily="34" charset="-122"/>
                <a:cs typeface="Calibri" pitchFamily="34" charset="-120"/>
              </a:rPr>
              <a:t>Informs internal teams and customers and shares release highlights.</a:t>
            </a:r>
            <a:endParaRPr lang="en-US" sz="950" dirty="0"/>
          </a:p>
        </p:txBody>
      </p:sp>
      <p:sp>
        <p:nvSpPr>
          <p:cNvPr id="34" name="Shape 23"/>
          <p:cNvSpPr/>
          <p:nvPr/>
        </p:nvSpPr>
        <p:spPr>
          <a:xfrm>
            <a:off x="566928" y="4059936"/>
            <a:ext cx="8010144" cy="603504"/>
          </a:xfrm>
          <a:prstGeom prst="roundRect">
            <a:avLst>
              <a:gd name="adj" fmla="val 12121"/>
            </a:avLst>
          </a:prstGeom>
          <a:solidFill>
            <a:srgbClr val="E8F5F3"/>
          </a:solidFill>
          <a:ln/>
        </p:spPr>
        <p:txBody>
          <a:bodyPr/>
          <a:lstStyle/>
          <a:p>
            <a:endParaRPr lang="en-US"/>
          </a:p>
        </p:txBody>
      </p:sp>
      <p:sp>
        <p:nvSpPr>
          <p:cNvPr id="35" name="Text 24"/>
          <p:cNvSpPr/>
          <p:nvPr/>
        </p:nvSpPr>
        <p:spPr>
          <a:xfrm>
            <a:off x="841248" y="4059936"/>
            <a:ext cx="7461504" cy="603504"/>
          </a:xfrm>
          <a:prstGeom prst="rect">
            <a:avLst/>
          </a:prstGeom>
          <a:noFill/>
          <a:ln/>
        </p:spPr>
        <p:txBody>
          <a:bodyPr wrap="square" lIns="0" tIns="0" rIns="0" bIns="0" rtlCol="0" anchor="ctr"/>
          <a:lstStyle/>
          <a:p>
            <a:pPr marL="0" indent="0">
              <a:buNone/>
            </a:pPr>
            <a:r>
              <a:rPr lang="en-US" sz="1150" b="1" dirty="0">
                <a:solidFill>
                  <a:srgbClr val="12355B"/>
                </a:solidFill>
                <a:latin typeface="Calibri" pitchFamily="34" charset="0"/>
                <a:ea typeface="Calibri" pitchFamily="34" charset="-122"/>
                <a:cs typeface="Calibri" pitchFamily="34" charset="-120"/>
              </a:rPr>
              <a:t>Governance principle:  </a:t>
            </a:r>
            <a:r>
              <a:rPr lang="en-US" sz="1150" dirty="0">
                <a:solidFill>
                  <a:srgbClr val="5F6B7A"/>
                </a:solidFill>
                <a:latin typeface="Calibri" pitchFamily="34" charset="0"/>
                <a:ea typeface="Calibri" pitchFamily="34" charset="-122"/>
                <a:cs typeface="Calibri" pitchFamily="34" charset="-120"/>
              </a:rPr>
              <a:t>AI prepares the content. People own quality and approval — every note is reviewed before it reaches a customer.</a:t>
            </a:r>
            <a:endParaRPr lang="en-US" sz="1150" dirty="0"/>
          </a:p>
        </p:txBody>
      </p:sp>
      <p:sp>
        <p:nvSpPr>
          <p:cNvPr id="36" name="Text 25"/>
          <p:cNvSpPr/>
          <p:nvPr/>
        </p:nvSpPr>
        <p:spPr>
          <a:xfrm>
            <a:off x="566928" y="4759452"/>
            <a:ext cx="7936992"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37" name="Text 26"/>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CROSS-CUTTING CAPABILITIES</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Safeguards Running Throughout</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These capabilities apply across every stage — not just at the end — keeping the workflow safe, traceable, and ready to scale.</a:t>
            </a:r>
            <a:endParaRPr lang="en-US" sz="1450" dirty="0"/>
          </a:p>
        </p:txBody>
      </p:sp>
      <p:sp>
        <p:nvSpPr>
          <p:cNvPr id="5" name="Shape 3"/>
          <p:cNvSpPr/>
          <p:nvPr/>
        </p:nvSpPr>
        <p:spPr>
          <a:xfrm>
            <a:off x="566928" y="2212848"/>
            <a:ext cx="1441094" cy="228600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949147" y="2478024"/>
            <a:ext cx="676656" cy="676656"/>
          </a:xfrm>
          <a:prstGeom prst="ellipse">
            <a:avLst/>
          </a:prstGeom>
          <a:solidFill>
            <a:srgbClr val="12355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31844" y="2660721"/>
            <a:ext cx="311262" cy="311262"/>
          </a:xfrm>
          <a:prstGeom prst="rect">
            <a:avLst/>
          </a:prstGeom>
        </p:spPr>
      </p:pic>
      <p:sp>
        <p:nvSpPr>
          <p:cNvPr id="8" name="Text 5"/>
          <p:cNvSpPr/>
          <p:nvPr/>
        </p:nvSpPr>
        <p:spPr>
          <a:xfrm>
            <a:off x="658368" y="3310128"/>
            <a:ext cx="1258214"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Logging &amp; Audit</a:t>
            </a:r>
            <a:endParaRPr lang="en-US" sz="1200" dirty="0"/>
          </a:p>
        </p:txBody>
      </p:sp>
      <p:sp>
        <p:nvSpPr>
          <p:cNvPr id="9" name="Text 6"/>
          <p:cNvSpPr/>
          <p:nvPr/>
        </p:nvSpPr>
        <p:spPr>
          <a:xfrm>
            <a:off x="694944" y="3730752"/>
            <a:ext cx="1185062" cy="73152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Every input and output is logged for full traceability.</a:t>
            </a:r>
            <a:endParaRPr lang="en-US" sz="1000" dirty="0"/>
          </a:p>
        </p:txBody>
      </p:sp>
      <p:sp>
        <p:nvSpPr>
          <p:cNvPr id="10" name="Shape 7"/>
          <p:cNvSpPr/>
          <p:nvPr/>
        </p:nvSpPr>
        <p:spPr>
          <a:xfrm>
            <a:off x="2209190" y="2212848"/>
            <a:ext cx="1441094" cy="228600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1" name="Shape 8"/>
          <p:cNvSpPr/>
          <p:nvPr/>
        </p:nvSpPr>
        <p:spPr>
          <a:xfrm>
            <a:off x="2591410" y="2478024"/>
            <a:ext cx="676656" cy="676656"/>
          </a:xfrm>
          <a:prstGeom prst="ellipse">
            <a:avLst/>
          </a:prstGeom>
          <a:solidFill>
            <a:srgbClr val="12355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2774107" y="2660721"/>
            <a:ext cx="311262" cy="311262"/>
          </a:xfrm>
          <a:prstGeom prst="rect">
            <a:avLst/>
          </a:prstGeom>
        </p:spPr>
      </p:pic>
      <p:sp>
        <p:nvSpPr>
          <p:cNvPr id="13" name="Text 9"/>
          <p:cNvSpPr/>
          <p:nvPr/>
        </p:nvSpPr>
        <p:spPr>
          <a:xfrm>
            <a:off x="2300630" y="3310128"/>
            <a:ext cx="1258214"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Version Control</a:t>
            </a:r>
            <a:endParaRPr lang="en-US" sz="1200" dirty="0"/>
          </a:p>
        </p:txBody>
      </p:sp>
      <p:sp>
        <p:nvSpPr>
          <p:cNvPr id="14" name="Text 10"/>
          <p:cNvSpPr/>
          <p:nvPr/>
        </p:nvSpPr>
        <p:spPr>
          <a:xfrm>
            <a:off x="2337206" y="3730752"/>
            <a:ext cx="1185062" cy="73152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All prompts, skills, and templates are versioned in GitHub.</a:t>
            </a:r>
            <a:endParaRPr lang="en-US" sz="1000" dirty="0"/>
          </a:p>
        </p:txBody>
      </p:sp>
      <p:sp>
        <p:nvSpPr>
          <p:cNvPr id="15" name="Shape 11"/>
          <p:cNvSpPr/>
          <p:nvPr/>
        </p:nvSpPr>
        <p:spPr>
          <a:xfrm>
            <a:off x="3851453" y="2212848"/>
            <a:ext cx="1441094" cy="228600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6" name="Shape 12"/>
          <p:cNvSpPr/>
          <p:nvPr/>
        </p:nvSpPr>
        <p:spPr>
          <a:xfrm>
            <a:off x="4233672" y="2478024"/>
            <a:ext cx="676656" cy="676656"/>
          </a:xfrm>
          <a:prstGeom prst="ellipse">
            <a:avLst/>
          </a:prstGeom>
          <a:solidFill>
            <a:srgbClr val="12355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4416369" y="2660721"/>
            <a:ext cx="311262" cy="311262"/>
          </a:xfrm>
          <a:prstGeom prst="rect">
            <a:avLst/>
          </a:prstGeom>
        </p:spPr>
      </p:pic>
      <p:sp>
        <p:nvSpPr>
          <p:cNvPr id="18" name="Text 13"/>
          <p:cNvSpPr/>
          <p:nvPr/>
        </p:nvSpPr>
        <p:spPr>
          <a:xfrm>
            <a:off x="3942893" y="3310128"/>
            <a:ext cx="1258214"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Extensibility</a:t>
            </a:r>
            <a:endParaRPr lang="en-US" sz="1200" dirty="0"/>
          </a:p>
        </p:txBody>
      </p:sp>
      <p:sp>
        <p:nvSpPr>
          <p:cNvPr id="19" name="Text 14"/>
          <p:cNvSpPr/>
          <p:nvPr/>
        </p:nvSpPr>
        <p:spPr>
          <a:xfrm>
            <a:off x="3979469" y="3730752"/>
            <a:ext cx="1185062" cy="73152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Real systems connect later through MCP with no redesign.</a:t>
            </a:r>
            <a:endParaRPr lang="en-US" sz="1000" dirty="0"/>
          </a:p>
        </p:txBody>
      </p:sp>
      <p:sp>
        <p:nvSpPr>
          <p:cNvPr id="20" name="Shape 15"/>
          <p:cNvSpPr/>
          <p:nvPr/>
        </p:nvSpPr>
        <p:spPr>
          <a:xfrm>
            <a:off x="5493715" y="2212848"/>
            <a:ext cx="1441094" cy="228600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21" name="Shape 16"/>
          <p:cNvSpPr/>
          <p:nvPr/>
        </p:nvSpPr>
        <p:spPr>
          <a:xfrm>
            <a:off x="5875934" y="2478024"/>
            <a:ext cx="676656" cy="676656"/>
          </a:xfrm>
          <a:prstGeom prst="ellipse">
            <a:avLst/>
          </a:prstGeom>
          <a:solidFill>
            <a:srgbClr val="12355B"/>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058632" y="2660721"/>
            <a:ext cx="311262" cy="311262"/>
          </a:xfrm>
          <a:prstGeom prst="rect">
            <a:avLst/>
          </a:prstGeom>
        </p:spPr>
      </p:pic>
      <p:sp>
        <p:nvSpPr>
          <p:cNvPr id="23" name="Text 17"/>
          <p:cNvSpPr/>
          <p:nvPr/>
        </p:nvSpPr>
        <p:spPr>
          <a:xfrm>
            <a:off x="5585155" y="3310128"/>
            <a:ext cx="1258214"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Security &amp; Compliance</a:t>
            </a:r>
            <a:endParaRPr lang="en-US" sz="1200" dirty="0"/>
          </a:p>
        </p:txBody>
      </p:sp>
      <p:sp>
        <p:nvSpPr>
          <p:cNvPr id="24" name="Text 18"/>
          <p:cNvSpPr/>
          <p:nvPr/>
        </p:nvSpPr>
        <p:spPr>
          <a:xfrm>
            <a:off x="5621731" y="3730752"/>
            <a:ext cx="1185062" cy="73152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Data privacy and access control are enforced throughout.</a:t>
            </a:r>
            <a:endParaRPr lang="en-US" sz="1000" dirty="0"/>
          </a:p>
        </p:txBody>
      </p:sp>
      <p:sp>
        <p:nvSpPr>
          <p:cNvPr id="25" name="Shape 19"/>
          <p:cNvSpPr/>
          <p:nvPr/>
        </p:nvSpPr>
        <p:spPr>
          <a:xfrm>
            <a:off x="7135978" y="2212848"/>
            <a:ext cx="1441094" cy="2286000"/>
          </a:xfrm>
          <a:prstGeom prst="roundRect">
            <a:avLst>
              <a:gd name="adj" fmla="val 5711"/>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26" name="Shape 20"/>
          <p:cNvSpPr/>
          <p:nvPr/>
        </p:nvSpPr>
        <p:spPr>
          <a:xfrm>
            <a:off x="7518197" y="2478024"/>
            <a:ext cx="676656" cy="676656"/>
          </a:xfrm>
          <a:prstGeom prst="ellipse">
            <a:avLst/>
          </a:prstGeom>
          <a:solidFill>
            <a:srgbClr val="12355B"/>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7700894" y="2660721"/>
            <a:ext cx="311262" cy="311262"/>
          </a:xfrm>
          <a:prstGeom prst="rect">
            <a:avLst/>
          </a:prstGeom>
        </p:spPr>
      </p:pic>
      <p:sp>
        <p:nvSpPr>
          <p:cNvPr id="28" name="Text 21"/>
          <p:cNvSpPr/>
          <p:nvPr/>
        </p:nvSpPr>
        <p:spPr>
          <a:xfrm>
            <a:off x="7227418" y="3310128"/>
            <a:ext cx="1258214" cy="45720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Notifications</a:t>
            </a:r>
            <a:endParaRPr lang="en-US" sz="1200" dirty="0"/>
          </a:p>
        </p:txBody>
      </p:sp>
      <p:sp>
        <p:nvSpPr>
          <p:cNvPr id="29" name="Text 22"/>
          <p:cNvSpPr/>
          <p:nvPr/>
        </p:nvSpPr>
        <p:spPr>
          <a:xfrm>
            <a:off x="7263994" y="3730752"/>
            <a:ext cx="1185062" cy="731520"/>
          </a:xfrm>
          <a:prstGeom prst="rect">
            <a:avLst/>
          </a:prstGeom>
          <a:noFill/>
          <a:ln/>
        </p:spPr>
        <p:txBody>
          <a:bodyPr wrap="square" lIns="0" tIns="0" rIns="0" bIns="0" rtlCol="0" anchor="t"/>
          <a:lstStyle/>
          <a:p>
            <a:pPr marL="0" indent="0" algn="ctr">
              <a:lnSpc>
                <a:spcPct val="102000"/>
              </a:lnSpc>
              <a:buNone/>
            </a:pPr>
            <a:r>
              <a:rPr lang="en-US" sz="1000" dirty="0">
                <a:solidFill>
                  <a:srgbClr val="5F6B7A"/>
                </a:solidFill>
                <a:latin typeface="Calibri" pitchFamily="34" charset="0"/>
                <a:ea typeface="Calibri" pitchFamily="34" charset="-122"/>
                <a:cs typeface="Calibri" pitchFamily="34" charset="-120"/>
              </a:rPr>
              <a:t>Alerts for reviews, approvals, and publication (future).</a:t>
            </a:r>
            <a:endParaRPr lang="en-US" sz="1000" dirty="0"/>
          </a:p>
        </p:txBody>
      </p:sp>
      <p:sp>
        <p:nvSpPr>
          <p:cNvPr id="30" name="Text 23"/>
          <p:cNvSpPr/>
          <p:nvPr/>
        </p:nvSpPr>
        <p:spPr>
          <a:xfrm>
            <a:off x="566928" y="4759452"/>
            <a:ext cx="8010144"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31" name="Text 24"/>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LOOKING AHEAD</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Only the Data Source Changes</a:t>
            </a:r>
            <a:endParaRPr lang="en-US" sz="3000" dirty="0"/>
          </a:p>
        </p:txBody>
      </p:sp>
      <p:sp>
        <p:nvSpPr>
          <p:cNvPr id="4" name="Text 2"/>
          <p:cNvSpPr/>
          <p:nvPr/>
        </p:nvSpPr>
        <p:spPr>
          <a:xfrm>
            <a:off x="566928" y="1371600"/>
            <a:ext cx="8138160" cy="457200"/>
          </a:xfrm>
          <a:prstGeom prst="rect">
            <a:avLst/>
          </a:prstGeom>
          <a:noFill/>
          <a:ln/>
        </p:spPr>
        <p:txBody>
          <a:bodyPr wrap="square" lIns="0" tIns="0" rIns="0" bIns="0" rtlCol="0" anchor="t"/>
          <a:lstStyle/>
          <a:p>
            <a:pPr marL="0" indent="0" algn="l">
              <a:lnSpc>
                <a:spcPct val="105000"/>
              </a:lnSpc>
              <a:buNone/>
            </a:pPr>
            <a:r>
              <a:rPr lang="en-US" sz="1450" dirty="0">
                <a:solidFill>
                  <a:srgbClr val="5F6B7A"/>
                </a:solidFill>
                <a:latin typeface="Calibri" pitchFamily="34" charset="0"/>
                <a:ea typeface="Calibri" pitchFamily="34" charset="-122"/>
                <a:cs typeface="Calibri" pitchFamily="34" charset="-120"/>
              </a:rPr>
              <a:t>Because the workflow is modular, swapping mock data for live systems needs no redesign — the same five agents keep running.</a:t>
            </a:r>
            <a:endParaRPr lang="en-US" sz="1450" dirty="0"/>
          </a:p>
        </p:txBody>
      </p:sp>
      <p:sp>
        <p:nvSpPr>
          <p:cNvPr id="5" name="Shape 3"/>
          <p:cNvSpPr/>
          <p:nvPr/>
        </p:nvSpPr>
        <p:spPr>
          <a:xfrm>
            <a:off x="566928" y="2121408"/>
            <a:ext cx="3593592" cy="1920240"/>
          </a:xfrm>
          <a:prstGeom prst="roundRect">
            <a:avLst>
              <a:gd name="adj" fmla="val 4286"/>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6" name="Text 4"/>
          <p:cNvSpPr/>
          <p:nvPr/>
        </p:nvSpPr>
        <p:spPr>
          <a:xfrm>
            <a:off x="841248" y="2340864"/>
            <a:ext cx="3044952" cy="274320"/>
          </a:xfrm>
          <a:prstGeom prst="rect">
            <a:avLst/>
          </a:prstGeom>
          <a:noFill/>
          <a:ln/>
        </p:spPr>
        <p:txBody>
          <a:bodyPr wrap="square" lIns="0" tIns="0" rIns="0" bIns="0" rtlCol="0" anchor="ctr"/>
          <a:lstStyle/>
          <a:p>
            <a:pPr marL="0" indent="0">
              <a:buNone/>
            </a:pPr>
            <a:r>
              <a:rPr lang="en-US" sz="1100" b="1" kern="0" spc="150" dirty="0">
                <a:solidFill>
                  <a:srgbClr val="70798A"/>
                </a:solidFill>
                <a:latin typeface="Calibri" pitchFamily="34" charset="0"/>
                <a:ea typeface="Calibri" pitchFamily="34" charset="-122"/>
                <a:cs typeface="Calibri" pitchFamily="34" charset="-120"/>
              </a:rPr>
              <a:t>TODAY — PROOF OF CONCEPT</a:t>
            </a:r>
            <a:endParaRPr lang="en-US" sz="1100" dirty="0"/>
          </a:p>
        </p:txBody>
      </p:sp>
      <p:sp>
        <p:nvSpPr>
          <p:cNvPr id="7" name="Text 5"/>
          <p:cNvSpPr/>
          <p:nvPr/>
        </p:nvSpPr>
        <p:spPr>
          <a:xfrm>
            <a:off x="877824" y="2761488"/>
            <a:ext cx="3044952" cy="1097280"/>
          </a:xfrm>
          <a:prstGeom prst="rect">
            <a:avLst/>
          </a:prstGeom>
          <a:noFill/>
          <a:ln/>
        </p:spPr>
        <p:txBody>
          <a:bodyPr wrap="square" lIns="0" tIns="0" rIns="0" bIns="0" rtlCol="0" anchor="ctr"/>
          <a:lstStyle/>
          <a:p>
            <a:pPr marL="177800" indent="-177800">
              <a:spcAft>
                <a:spcPts val="800"/>
              </a:spcAft>
              <a:buSzPct val="100000"/>
              <a:buChar char="•"/>
            </a:pPr>
            <a:r>
              <a:rPr lang="en-US" sz="1300" dirty="0">
                <a:solidFill>
                  <a:srgbClr val="12355B"/>
                </a:solidFill>
                <a:latin typeface="Calibri" pitchFamily="34" charset="0"/>
                <a:ea typeface="Calibri" pitchFamily="34" charset="-122"/>
                <a:cs typeface="Calibri" pitchFamily="34" charset="-120"/>
              </a:rPr>
              <a:t>Mock Azure DevOps data</a:t>
            </a:r>
            <a:endParaRPr lang="en-US" sz="1300" dirty="0"/>
          </a:p>
          <a:p>
            <a:pPr marL="177800" indent="-177800">
              <a:spcAft>
                <a:spcPts val="800"/>
              </a:spcAft>
              <a:buSzPct val="100000"/>
              <a:buChar char="•"/>
            </a:pPr>
            <a:r>
              <a:rPr lang="en-US" sz="1300" dirty="0">
                <a:solidFill>
                  <a:srgbClr val="12355B"/>
                </a:solidFill>
                <a:latin typeface="Calibri" pitchFamily="34" charset="0"/>
                <a:ea typeface="Calibri" pitchFamily="34" charset="-122"/>
                <a:cs typeface="Calibri" pitchFamily="34" charset="-120"/>
              </a:rPr>
              <a:t>Mock ServiceNow data</a:t>
            </a:r>
            <a:endParaRPr lang="en-US" sz="1300" dirty="0"/>
          </a:p>
          <a:p>
            <a:pPr marL="177800" indent="-177800">
              <a:spcAft>
                <a:spcPts val="800"/>
              </a:spcAft>
              <a:buSzPct val="100000"/>
              <a:buChar char="•"/>
            </a:pPr>
            <a:r>
              <a:rPr lang="en-US" sz="1300" dirty="0">
                <a:solidFill>
                  <a:srgbClr val="12355B"/>
                </a:solidFill>
                <a:latin typeface="Calibri" pitchFamily="34" charset="0"/>
                <a:ea typeface="Calibri" pitchFamily="34" charset="-122"/>
                <a:cs typeface="Calibri" pitchFamily="34" charset="-120"/>
              </a:rPr>
              <a:t>Local release-note template</a:t>
            </a:r>
            <a:endParaRPr lang="en-US" sz="1300" dirty="0"/>
          </a:p>
        </p:txBody>
      </p:sp>
      <p:sp>
        <p:nvSpPr>
          <p:cNvPr id="8" name="Shape 6"/>
          <p:cNvSpPr/>
          <p:nvPr/>
        </p:nvSpPr>
        <p:spPr>
          <a:xfrm>
            <a:off x="4983480" y="2121408"/>
            <a:ext cx="3593592" cy="1920240"/>
          </a:xfrm>
          <a:prstGeom prst="roundRect">
            <a:avLst>
              <a:gd name="adj" fmla="val 4286"/>
            </a:avLst>
          </a:prstGeom>
          <a:solidFill>
            <a:srgbClr val="E8F5F3"/>
          </a:solidFill>
          <a:ln/>
          <a:effectLst>
            <a:outerShdw blurRad="88900" dist="38100" dir="5400000" algn="bl" rotWithShape="0">
              <a:srgbClr val="000000">
                <a:alpha val="10000"/>
              </a:srgbClr>
            </a:outerShdw>
          </a:effectLst>
        </p:spPr>
        <p:txBody>
          <a:bodyPr/>
          <a:lstStyle/>
          <a:p>
            <a:endParaRPr lang="en-US"/>
          </a:p>
        </p:txBody>
      </p:sp>
      <p:sp>
        <p:nvSpPr>
          <p:cNvPr id="9" name="Text 7"/>
          <p:cNvSpPr/>
          <p:nvPr/>
        </p:nvSpPr>
        <p:spPr>
          <a:xfrm>
            <a:off x="5257800" y="2340864"/>
            <a:ext cx="3044952"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FUTURE — LIVE SYSTEMS VIA MCP</a:t>
            </a:r>
            <a:endParaRPr lang="en-US" sz="1100" dirty="0"/>
          </a:p>
        </p:txBody>
      </p:sp>
      <p:sp>
        <p:nvSpPr>
          <p:cNvPr id="10" name="Text 8"/>
          <p:cNvSpPr/>
          <p:nvPr/>
        </p:nvSpPr>
        <p:spPr>
          <a:xfrm>
            <a:off x="5294376" y="2761488"/>
            <a:ext cx="3044952" cy="1097280"/>
          </a:xfrm>
          <a:prstGeom prst="rect">
            <a:avLst/>
          </a:prstGeom>
          <a:noFill/>
          <a:ln/>
        </p:spPr>
        <p:txBody>
          <a:bodyPr wrap="square" lIns="0" tIns="0" rIns="0" bIns="0" rtlCol="0" anchor="ctr"/>
          <a:lstStyle/>
          <a:p>
            <a:pPr marL="177800" indent="-177800">
              <a:spcAft>
                <a:spcPts val="800"/>
              </a:spcAft>
              <a:buSzPct val="100000"/>
              <a:buChar char="•"/>
            </a:pPr>
            <a:r>
              <a:rPr lang="en-US" sz="1300" dirty="0">
                <a:solidFill>
                  <a:srgbClr val="12355B"/>
                </a:solidFill>
                <a:latin typeface="Calibri" pitchFamily="34" charset="0"/>
                <a:ea typeface="Calibri" pitchFamily="34" charset="-122"/>
                <a:cs typeface="Calibri" pitchFamily="34" charset="-120"/>
              </a:rPr>
              <a:t>Live Azure DevOps (MCP)</a:t>
            </a:r>
            <a:endParaRPr lang="en-US" sz="1300" dirty="0"/>
          </a:p>
          <a:p>
            <a:pPr marL="177800" indent="-177800">
              <a:spcAft>
                <a:spcPts val="800"/>
              </a:spcAft>
              <a:buSzPct val="100000"/>
              <a:buChar char="•"/>
            </a:pPr>
            <a:r>
              <a:rPr lang="en-US" sz="1300" dirty="0">
                <a:solidFill>
                  <a:srgbClr val="12355B"/>
                </a:solidFill>
                <a:latin typeface="Calibri" pitchFamily="34" charset="0"/>
                <a:ea typeface="Calibri" pitchFamily="34" charset="-122"/>
                <a:cs typeface="Calibri" pitchFamily="34" charset="-120"/>
              </a:rPr>
              <a:t>Live ServiceNow (MCP)</a:t>
            </a:r>
            <a:endParaRPr lang="en-US" sz="1300" dirty="0"/>
          </a:p>
          <a:p>
            <a:pPr marL="177800" indent="-177800">
              <a:spcAft>
                <a:spcPts val="800"/>
              </a:spcAft>
              <a:buSzPct val="100000"/>
              <a:buChar char="•"/>
            </a:pPr>
            <a:r>
              <a:rPr lang="en-US" sz="1300" dirty="0">
                <a:solidFill>
                  <a:srgbClr val="12355B"/>
                </a:solidFill>
                <a:latin typeface="Calibri" pitchFamily="34" charset="0"/>
                <a:ea typeface="Calibri" pitchFamily="34" charset="-122"/>
                <a:cs typeface="Calibri" pitchFamily="34" charset="-120"/>
              </a:rPr>
              <a:t>Document360 (MCP)</a:t>
            </a:r>
            <a:endParaRPr lang="en-US" sz="1300" dirty="0"/>
          </a:p>
        </p:txBody>
      </p:sp>
      <p:pic>
        <p:nvPicPr>
          <p:cNvPr id="11" name="Image 0" descr="preencoded.png"/>
          <p:cNvPicPr>
            <a:picLocks noChangeAspect="1"/>
          </p:cNvPicPr>
          <p:nvPr/>
        </p:nvPicPr>
        <p:blipFill>
          <a:blip r:embed="rId3"/>
          <a:stretch>
            <a:fillRect/>
          </a:stretch>
        </p:blipFill>
        <p:spPr>
          <a:xfrm>
            <a:off x="4389120" y="2898648"/>
            <a:ext cx="365760" cy="365760"/>
          </a:xfrm>
          <a:prstGeom prst="rect">
            <a:avLst/>
          </a:prstGeom>
        </p:spPr>
      </p:pic>
      <p:sp>
        <p:nvSpPr>
          <p:cNvPr id="12" name="Shape 9"/>
          <p:cNvSpPr/>
          <p:nvPr/>
        </p:nvSpPr>
        <p:spPr>
          <a:xfrm>
            <a:off x="566928" y="4114800"/>
            <a:ext cx="8010144" cy="530352"/>
          </a:xfrm>
          <a:prstGeom prst="roundRect">
            <a:avLst>
              <a:gd name="adj" fmla="val 13793"/>
            </a:avLst>
          </a:prstGeom>
          <a:solidFill>
            <a:srgbClr val="12355B"/>
          </a:solidFill>
          <a:ln/>
        </p:spPr>
        <p:txBody>
          <a:bodyPr/>
          <a:lstStyle/>
          <a:p>
            <a:endParaRPr lang="en-US"/>
          </a:p>
        </p:txBody>
      </p:sp>
      <p:sp>
        <p:nvSpPr>
          <p:cNvPr id="13" name="Text 10"/>
          <p:cNvSpPr/>
          <p:nvPr/>
        </p:nvSpPr>
        <p:spPr>
          <a:xfrm>
            <a:off x="566928" y="4114800"/>
            <a:ext cx="8010144" cy="53035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Same five AI agents  ·  no change to agent logic or workflow</a:t>
            </a:r>
            <a:endParaRPr lang="en-US" sz="1250" dirty="0"/>
          </a:p>
        </p:txBody>
      </p:sp>
      <p:sp>
        <p:nvSpPr>
          <p:cNvPr id="14" name="Text 11"/>
          <p:cNvSpPr/>
          <p:nvPr/>
        </p:nvSpPr>
        <p:spPr>
          <a:xfrm>
            <a:off x="566927" y="4759452"/>
            <a:ext cx="7904335"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15" name="Text 12"/>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046720" cy="274320"/>
          </a:xfrm>
          <a:prstGeom prst="rect">
            <a:avLst/>
          </a:prstGeom>
          <a:noFill/>
          <a:ln/>
        </p:spPr>
        <p:txBody>
          <a:bodyPr wrap="square" lIns="0" tIns="0" rIns="0" bIns="0" rtlCol="0" anchor="ctr"/>
          <a:lstStyle/>
          <a:p>
            <a:pPr marL="0" indent="0" algn="l">
              <a:buNone/>
            </a:pPr>
            <a:r>
              <a:rPr lang="en-US" sz="1100" b="1" kern="0" spc="200" dirty="0">
                <a:solidFill>
                  <a:srgbClr val="2A9D8F"/>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66928" y="658368"/>
            <a:ext cx="8138160" cy="713232"/>
          </a:xfrm>
          <a:prstGeom prst="rect">
            <a:avLst/>
          </a:prstGeom>
          <a:noFill/>
          <a:ln/>
        </p:spPr>
        <p:txBody>
          <a:bodyPr wrap="square" lIns="0" tIns="0" rIns="0" bIns="0" rtlCol="0" anchor="t"/>
          <a:lstStyle/>
          <a:p>
            <a:pPr marL="0" indent="0" algn="l">
              <a:buNone/>
            </a:pPr>
            <a:r>
              <a:rPr lang="en-US" sz="3000" b="1" dirty="0">
                <a:solidFill>
                  <a:srgbClr val="12355B"/>
                </a:solidFill>
                <a:latin typeface="Cambria" pitchFamily="34" charset="0"/>
                <a:ea typeface="Cambria" pitchFamily="34" charset="-122"/>
                <a:cs typeface="Cambria" pitchFamily="34" charset="-120"/>
              </a:rPr>
              <a:t>From Proof of Concept to Practice</a:t>
            </a:r>
            <a:endParaRPr lang="en-US" sz="3000" dirty="0"/>
          </a:p>
        </p:txBody>
      </p:sp>
      <p:sp>
        <p:nvSpPr>
          <p:cNvPr id="4" name="Shape 2"/>
          <p:cNvSpPr/>
          <p:nvPr/>
        </p:nvSpPr>
        <p:spPr>
          <a:xfrm>
            <a:off x="566928" y="1691640"/>
            <a:ext cx="2456688" cy="2651760"/>
          </a:xfrm>
          <a:prstGeom prst="roundRect">
            <a:avLst>
              <a:gd name="adj" fmla="val 3350"/>
            </a:avLst>
          </a:prstGeom>
          <a:solidFill>
            <a:srgbClr val="E8F5F3"/>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59536" y="1965960"/>
            <a:ext cx="1908048" cy="274320"/>
          </a:xfrm>
          <a:prstGeom prst="rect">
            <a:avLst/>
          </a:prstGeom>
          <a:noFill/>
          <a:ln/>
        </p:spPr>
        <p:txBody>
          <a:bodyPr wrap="square" lIns="0" tIns="0" rIns="0" bIns="0" rtlCol="0" anchor="ctr"/>
          <a:lstStyle/>
          <a:p>
            <a:pPr marL="0" indent="0">
              <a:buNone/>
            </a:pPr>
            <a:r>
              <a:rPr lang="en-US" sz="1200" b="1" kern="0" spc="250" dirty="0">
                <a:solidFill>
                  <a:srgbClr val="2A9D8F"/>
                </a:solidFill>
                <a:latin typeface="Calibri" pitchFamily="34" charset="0"/>
                <a:ea typeface="Calibri" pitchFamily="34" charset="-122"/>
                <a:cs typeface="Calibri" pitchFamily="34" charset="-120"/>
              </a:rPr>
              <a:t>NOW</a:t>
            </a:r>
            <a:endParaRPr lang="en-US" sz="1200" dirty="0"/>
          </a:p>
        </p:txBody>
      </p:sp>
      <p:sp>
        <p:nvSpPr>
          <p:cNvPr id="6" name="Shape 4"/>
          <p:cNvSpPr/>
          <p:nvPr/>
        </p:nvSpPr>
        <p:spPr>
          <a:xfrm>
            <a:off x="768096" y="2404872"/>
            <a:ext cx="731520" cy="731520"/>
          </a:xfrm>
          <a:prstGeom prst="ellipse">
            <a:avLst/>
          </a:prstGeom>
          <a:solidFill>
            <a:srgbClr val="12355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65606" y="2602382"/>
            <a:ext cx="336499" cy="336499"/>
          </a:xfrm>
          <a:prstGeom prst="rect">
            <a:avLst/>
          </a:prstGeom>
        </p:spPr>
      </p:pic>
      <p:sp>
        <p:nvSpPr>
          <p:cNvPr id="8" name="Text 5"/>
          <p:cNvSpPr/>
          <p:nvPr/>
        </p:nvSpPr>
        <p:spPr>
          <a:xfrm>
            <a:off x="859536" y="3264408"/>
            <a:ext cx="1908048"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Phase 1 — Completed</a:t>
            </a:r>
            <a:endParaRPr lang="en-US" sz="1500" dirty="0"/>
          </a:p>
        </p:txBody>
      </p:sp>
      <p:sp>
        <p:nvSpPr>
          <p:cNvPr id="9" name="Text 6"/>
          <p:cNvSpPr/>
          <p:nvPr/>
        </p:nvSpPr>
        <p:spPr>
          <a:xfrm>
            <a:off x="859536" y="3648456"/>
            <a:ext cx="1908048" cy="640080"/>
          </a:xfrm>
          <a:prstGeom prst="rect">
            <a:avLst/>
          </a:prstGeom>
          <a:noFill/>
          <a:ln/>
        </p:spPr>
        <p:txBody>
          <a:bodyPr wrap="square" lIns="0" tIns="0" rIns="0" bIns="0" rtlCol="0" anchor="t"/>
          <a:lstStyle/>
          <a:p>
            <a:pPr marL="0" indent="0">
              <a:lnSpc>
                <a:spcPct val="105000"/>
              </a:lnSpc>
              <a:buNone/>
            </a:pPr>
            <a:r>
              <a:rPr lang="en-US" sz="1150" dirty="0">
                <a:solidFill>
                  <a:srgbClr val="5F6B7A"/>
                </a:solidFill>
                <a:latin typeface="Calibri" pitchFamily="34" charset="0"/>
                <a:ea typeface="Calibri" pitchFamily="34" charset="-122"/>
                <a:cs typeface="Calibri" pitchFamily="34" charset="-120"/>
              </a:rPr>
              <a:t>Proof of concept with five working agents, skills, prompts, and commands.</a:t>
            </a:r>
            <a:endParaRPr lang="en-US" sz="1150" dirty="0"/>
          </a:p>
        </p:txBody>
      </p:sp>
      <p:pic>
        <p:nvPicPr>
          <p:cNvPr id="10" name="Image 1" descr="preencoded.png"/>
          <p:cNvPicPr>
            <a:picLocks noChangeAspect="1"/>
          </p:cNvPicPr>
          <p:nvPr/>
        </p:nvPicPr>
        <p:blipFill>
          <a:blip r:embed="rId4"/>
          <a:stretch>
            <a:fillRect/>
          </a:stretch>
        </p:blipFill>
        <p:spPr>
          <a:xfrm>
            <a:off x="3083052" y="2916936"/>
            <a:ext cx="201168" cy="201168"/>
          </a:xfrm>
          <a:prstGeom prst="rect">
            <a:avLst/>
          </a:prstGeom>
        </p:spPr>
      </p:pic>
      <p:sp>
        <p:nvSpPr>
          <p:cNvPr id="11" name="Shape 7"/>
          <p:cNvSpPr/>
          <p:nvPr/>
        </p:nvSpPr>
        <p:spPr>
          <a:xfrm>
            <a:off x="3343656" y="1691640"/>
            <a:ext cx="2456688" cy="2651760"/>
          </a:xfrm>
          <a:prstGeom prst="roundRect">
            <a:avLst>
              <a:gd name="adj" fmla="val 335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2" name="Text 8"/>
          <p:cNvSpPr/>
          <p:nvPr/>
        </p:nvSpPr>
        <p:spPr>
          <a:xfrm>
            <a:off x="3636264" y="1965960"/>
            <a:ext cx="1908048" cy="274320"/>
          </a:xfrm>
          <a:prstGeom prst="rect">
            <a:avLst/>
          </a:prstGeom>
          <a:noFill/>
          <a:ln/>
        </p:spPr>
        <p:txBody>
          <a:bodyPr wrap="square" lIns="0" tIns="0" rIns="0" bIns="0" rtlCol="0" anchor="ctr"/>
          <a:lstStyle/>
          <a:p>
            <a:pPr marL="0" indent="0">
              <a:buNone/>
            </a:pPr>
            <a:r>
              <a:rPr lang="en-US" sz="1200" b="1" kern="0" spc="250" dirty="0">
                <a:solidFill>
                  <a:srgbClr val="2A9D8F"/>
                </a:solidFill>
                <a:latin typeface="Calibri" pitchFamily="34" charset="0"/>
                <a:ea typeface="Calibri" pitchFamily="34" charset="-122"/>
                <a:cs typeface="Calibri" pitchFamily="34" charset="-120"/>
              </a:rPr>
              <a:t>NEXT</a:t>
            </a:r>
            <a:endParaRPr lang="en-US" sz="1200" dirty="0"/>
          </a:p>
        </p:txBody>
      </p:sp>
      <p:sp>
        <p:nvSpPr>
          <p:cNvPr id="13" name="Shape 9"/>
          <p:cNvSpPr/>
          <p:nvPr/>
        </p:nvSpPr>
        <p:spPr>
          <a:xfrm>
            <a:off x="3544824" y="2404872"/>
            <a:ext cx="731520" cy="731520"/>
          </a:xfrm>
          <a:prstGeom prst="ellipse">
            <a:avLst/>
          </a:prstGeom>
          <a:solidFill>
            <a:srgbClr val="12355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3742334" y="2602382"/>
            <a:ext cx="336499" cy="336499"/>
          </a:xfrm>
          <a:prstGeom prst="rect">
            <a:avLst/>
          </a:prstGeom>
        </p:spPr>
      </p:pic>
      <p:sp>
        <p:nvSpPr>
          <p:cNvPr id="15" name="Text 10"/>
          <p:cNvSpPr/>
          <p:nvPr/>
        </p:nvSpPr>
        <p:spPr>
          <a:xfrm>
            <a:off x="3636264" y="3264408"/>
            <a:ext cx="1908048"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Phase 2 — Integrations</a:t>
            </a:r>
            <a:endParaRPr lang="en-US" sz="1500" dirty="0"/>
          </a:p>
        </p:txBody>
      </p:sp>
      <p:sp>
        <p:nvSpPr>
          <p:cNvPr id="16" name="Text 11"/>
          <p:cNvSpPr/>
          <p:nvPr/>
        </p:nvSpPr>
        <p:spPr>
          <a:xfrm>
            <a:off x="3636264" y="3648456"/>
            <a:ext cx="1908048" cy="640080"/>
          </a:xfrm>
          <a:prstGeom prst="rect">
            <a:avLst/>
          </a:prstGeom>
          <a:noFill/>
          <a:ln/>
        </p:spPr>
        <p:txBody>
          <a:bodyPr wrap="square" lIns="0" tIns="0" rIns="0" bIns="0" rtlCol="0" anchor="t"/>
          <a:lstStyle/>
          <a:p>
            <a:pPr marL="0" indent="0">
              <a:lnSpc>
                <a:spcPct val="105000"/>
              </a:lnSpc>
              <a:buNone/>
            </a:pPr>
            <a:r>
              <a:rPr lang="en-US" sz="1150" dirty="0">
                <a:solidFill>
                  <a:srgbClr val="5F6B7A"/>
                </a:solidFill>
                <a:latin typeface="Calibri" pitchFamily="34" charset="0"/>
                <a:ea typeface="Calibri" pitchFamily="34" charset="-122"/>
                <a:cs typeface="Calibri" pitchFamily="34" charset="-120"/>
              </a:rPr>
              <a:t>Azure DevOps, ServiceNow, and Document360 via MCP, plus GitHub Actions.</a:t>
            </a:r>
            <a:endParaRPr lang="en-US" sz="1150" dirty="0"/>
          </a:p>
        </p:txBody>
      </p:sp>
      <p:pic>
        <p:nvPicPr>
          <p:cNvPr id="17" name="Image 3" descr="preencoded.png"/>
          <p:cNvPicPr>
            <a:picLocks noChangeAspect="1"/>
          </p:cNvPicPr>
          <p:nvPr/>
        </p:nvPicPr>
        <p:blipFill>
          <a:blip r:embed="rId4"/>
          <a:stretch>
            <a:fillRect/>
          </a:stretch>
        </p:blipFill>
        <p:spPr>
          <a:xfrm>
            <a:off x="5859780" y="2916936"/>
            <a:ext cx="201168" cy="201168"/>
          </a:xfrm>
          <a:prstGeom prst="rect">
            <a:avLst/>
          </a:prstGeom>
        </p:spPr>
      </p:pic>
      <p:sp>
        <p:nvSpPr>
          <p:cNvPr id="18" name="Shape 12"/>
          <p:cNvSpPr/>
          <p:nvPr/>
        </p:nvSpPr>
        <p:spPr>
          <a:xfrm>
            <a:off x="6120384" y="1691640"/>
            <a:ext cx="2456688" cy="2651760"/>
          </a:xfrm>
          <a:prstGeom prst="roundRect">
            <a:avLst>
              <a:gd name="adj" fmla="val 3350"/>
            </a:avLst>
          </a:prstGeom>
          <a:solidFill>
            <a:srgbClr val="EEF1F3"/>
          </a:solidFill>
          <a:ln/>
          <a:effectLst>
            <a:outerShdw blurRad="88900" dist="38100" dir="5400000" algn="bl" rotWithShape="0">
              <a:srgbClr val="000000">
                <a:alpha val="10000"/>
              </a:srgbClr>
            </a:outerShdw>
          </a:effectLst>
        </p:spPr>
        <p:txBody>
          <a:bodyPr/>
          <a:lstStyle/>
          <a:p>
            <a:endParaRPr lang="en-US"/>
          </a:p>
        </p:txBody>
      </p:sp>
      <p:sp>
        <p:nvSpPr>
          <p:cNvPr id="19" name="Text 13"/>
          <p:cNvSpPr/>
          <p:nvPr/>
        </p:nvSpPr>
        <p:spPr>
          <a:xfrm>
            <a:off x="6412992" y="1965960"/>
            <a:ext cx="1908048" cy="274320"/>
          </a:xfrm>
          <a:prstGeom prst="rect">
            <a:avLst/>
          </a:prstGeom>
          <a:noFill/>
          <a:ln/>
        </p:spPr>
        <p:txBody>
          <a:bodyPr wrap="square" lIns="0" tIns="0" rIns="0" bIns="0" rtlCol="0" anchor="ctr"/>
          <a:lstStyle/>
          <a:p>
            <a:pPr marL="0" indent="0">
              <a:buNone/>
            </a:pPr>
            <a:r>
              <a:rPr lang="en-US" sz="1200" b="1" kern="0" spc="250" dirty="0">
                <a:solidFill>
                  <a:srgbClr val="2A9D8F"/>
                </a:solidFill>
                <a:latin typeface="Calibri" pitchFamily="34" charset="0"/>
                <a:ea typeface="Calibri" pitchFamily="34" charset="-122"/>
                <a:cs typeface="Calibri" pitchFamily="34" charset="-120"/>
              </a:rPr>
              <a:t>LATER</a:t>
            </a:r>
            <a:endParaRPr lang="en-US" sz="1200" dirty="0"/>
          </a:p>
        </p:txBody>
      </p:sp>
      <p:sp>
        <p:nvSpPr>
          <p:cNvPr id="20" name="Shape 14"/>
          <p:cNvSpPr/>
          <p:nvPr/>
        </p:nvSpPr>
        <p:spPr>
          <a:xfrm>
            <a:off x="6321552" y="2404872"/>
            <a:ext cx="731520" cy="731520"/>
          </a:xfrm>
          <a:prstGeom prst="ellipse">
            <a:avLst/>
          </a:prstGeom>
          <a:solidFill>
            <a:srgbClr val="12355B"/>
          </a:solidFill>
          <a:ln/>
        </p:spPr>
        <p:txBody>
          <a:bodyPr/>
          <a:lstStyle/>
          <a:p>
            <a:endParaRPr lang="en-US"/>
          </a:p>
        </p:txBody>
      </p:sp>
      <p:pic>
        <p:nvPicPr>
          <p:cNvPr id="21" name="Image 4" descr="preencoded.png"/>
          <p:cNvPicPr>
            <a:picLocks noChangeAspect="1"/>
          </p:cNvPicPr>
          <p:nvPr/>
        </p:nvPicPr>
        <p:blipFill>
          <a:blip r:embed="rId6"/>
          <a:stretch>
            <a:fillRect/>
          </a:stretch>
        </p:blipFill>
        <p:spPr>
          <a:xfrm>
            <a:off x="6519062" y="2602382"/>
            <a:ext cx="336499" cy="336499"/>
          </a:xfrm>
          <a:prstGeom prst="rect">
            <a:avLst/>
          </a:prstGeom>
        </p:spPr>
      </p:pic>
      <p:sp>
        <p:nvSpPr>
          <p:cNvPr id="22" name="Text 15"/>
          <p:cNvSpPr/>
          <p:nvPr/>
        </p:nvSpPr>
        <p:spPr>
          <a:xfrm>
            <a:off x="6412992" y="3264408"/>
            <a:ext cx="1908048"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Phase 3 — Enterprise</a:t>
            </a:r>
            <a:endParaRPr lang="en-US" sz="1500" dirty="0"/>
          </a:p>
        </p:txBody>
      </p:sp>
      <p:sp>
        <p:nvSpPr>
          <p:cNvPr id="23" name="Text 16"/>
          <p:cNvSpPr/>
          <p:nvPr/>
        </p:nvSpPr>
        <p:spPr>
          <a:xfrm>
            <a:off x="6412992" y="3648456"/>
            <a:ext cx="1908048" cy="640080"/>
          </a:xfrm>
          <a:prstGeom prst="rect">
            <a:avLst/>
          </a:prstGeom>
          <a:noFill/>
          <a:ln/>
        </p:spPr>
        <p:txBody>
          <a:bodyPr wrap="square" lIns="0" tIns="0" rIns="0" bIns="0" rtlCol="0" anchor="t"/>
          <a:lstStyle/>
          <a:p>
            <a:pPr marL="0" indent="0">
              <a:lnSpc>
                <a:spcPct val="105000"/>
              </a:lnSpc>
              <a:buNone/>
            </a:pPr>
            <a:r>
              <a:rPr lang="en-US" sz="1150" dirty="0">
                <a:solidFill>
                  <a:srgbClr val="5F6B7A"/>
                </a:solidFill>
                <a:latin typeface="Calibri" pitchFamily="34" charset="0"/>
                <a:ea typeface="Calibri" pitchFamily="34" charset="-122"/>
                <a:cs typeface="Calibri" pitchFamily="34" charset="-120"/>
              </a:rPr>
              <a:t>Scheduled releases, automated draft creation, and notification workflows.</a:t>
            </a:r>
            <a:endParaRPr lang="en-US" sz="1150" dirty="0"/>
          </a:p>
        </p:txBody>
      </p:sp>
      <p:sp>
        <p:nvSpPr>
          <p:cNvPr id="24" name="Shape 17">
            <a:hlinkClick r:id="rId7"/>
          </p:cNvPr>
          <p:cNvSpPr/>
          <p:nvPr/>
        </p:nvSpPr>
        <p:spPr>
          <a:xfrm>
            <a:off x="6617643" y="659674"/>
            <a:ext cx="2331720" cy="420624"/>
          </a:xfrm>
          <a:prstGeom prst="roundRect">
            <a:avLst>
              <a:gd name="adj" fmla="val 50000"/>
            </a:avLst>
          </a:prstGeom>
          <a:solidFill>
            <a:srgbClr val="12355B"/>
          </a:solidFill>
          <a:ln/>
        </p:spPr>
        <p:txBody>
          <a:bodyPr/>
          <a:lstStyle/>
          <a:p>
            <a:endParaRPr lang="en-US"/>
          </a:p>
        </p:txBody>
      </p:sp>
      <p:pic>
        <p:nvPicPr>
          <p:cNvPr id="25" name="Image 5" descr="preencoded.png">
            <a:hlinkClick r:id="rId7"/>
          </p:cNvPr>
          <p:cNvPicPr>
            <a:picLocks noChangeAspect="1"/>
          </p:cNvPicPr>
          <p:nvPr/>
        </p:nvPicPr>
        <p:blipFill>
          <a:blip r:embed="rId8"/>
          <a:stretch>
            <a:fillRect/>
          </a:stretch>
        </p:blipFill>
        <p:spPr>
          <a:xfrm>
            <a:off x="6891963" y="787690"/>
            <a:ext cx="164592" cy="164592"/>
          </a:xfrm>
          <a:prstGeom prst="rect">
            <a:avLst/>
          </a:prstGeom>
        </p:spPr>
      </p:pic>
      <p:sp>
        <p:nvSpPr>
          <p:cNvPr id="26" name="Text 18"/>
          <p:cNvSpPr/>
          <p:nvPr/>
        </p:nvSpPr>
        <p:spPr>
          <a:xfrm>
            <a:off x="7184571" y="650530"/>
            <a:ext cx="1783080" cy="420624"/>
          </a:xfrm>
          <a:prstGeom prst="rect">
            <a:avLst/>
          </a:prstGeom>
          <a:noFill/>
          <a:ln/>
        </p:spPr>
        <p:txBody>
          <a:bodyPr wrap="square" lIns="0" tIns="0" rIns="0" bIns="0" rtlCol="0" anchor="ctr"/>
          <a:lstStyle/>
          <a:p>
            <a:pPr marL="0" indent="0">
              <a:buNone/>
            </a:pPr>
            <a:r>
              <a:rPr lang="en-US" sz="1150" b="1" dirty="0">
                <a:solidFill>
                  <a:schemeClr val="bg1"/>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Watch the demo video</a:t>
            </a:r>
            <a:endParaRPr lang="en-US" sz="1150" dirty="0">
              <a:solidFill>
                <a:schemeClr val="bg1"/>
              </a:solidFill>
            </a:endParaRPr>
          </a:p>
        </p:txBody>
      </p:sp>
      <p:sp>
        <p:nvSpPr>
          <p:cNvPr id="27" name="Text 19"/>
          <p:cNvSpPr/>
          <p:nvPr/>
        </p:nvSpPr>
        <p:spPr>
          <a:xfrm>
            <a:off x="566928" y="4759452"/>
            <a:ext cx="7956586" cy="274320"/>
          </a:xfrm>
          <a:prstGeom prst="rect">
            <a:avLst/>
          </a:prstGeom>
          <a:noFill/>
          <a:ln/>
        </p:spPr>
        <p:txBody>
          <a:bodyPr wrap="square" lIns="0" tIns="0" rIns="0" bIns="0" rtlCol="0" anchor="ctr"/>
          <a:lstStyle/>
          <a:p>
            <a:r>
              <a:rPr lang="en-US" sz="900" dirty="0">
                <a:solidFill>
                  <a:srgbClr val="70798A"/>
                </a:solidFill>
                <a:latin typeface="Calibri" pitchFamily="34" charset="0"/>
                <a:ea typeface="Calibri" pitchFamily="34" charset="-122"/>
                <a:cs typeface="Calibri" pitchFamily="34" charset="-120"/>
              </a:rPr>
              <a:t>AI Release Note Generation  ·  Capstone Project						 Riffat Wyne</a:t>
            </a:r>
            <a:endParaRPr lang="en-US" sz="900" dirty="0"/>
          </a:p>
        </p:txBody>
      </p:sp>
      <p:sp>
        <p:nvSpPr>
          <p:cNvPr id="28" name="Text 20"/>
          <p:cNvSpPr/>
          <p:nvPr/>
        </p:nvSpPr>
        <p:spPr>
          <a:xfrm>
            <a:off x="8321040" y="4759452"/>
            <a:ext cx="365760" cy="27432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55B"/>
        </a:solidFill>
        <a:effectLst/>
      </p:bgPr>
    </p:bg>
    <p:spTree>
      <p:nvGrpSpPr>
        <p:cNvPr id="1" name=""/>
        <p:cNvGrpSpPr/>
        <p:nvPr/>
      </p:nvGrpSpPr>
      <p:grpSpPr>
        <a:xfrm>
          <a:off x="0" y="0"/>
          <a:ext cx="0" cy="0"/>
          <a:chOff x="0" y="0"/>
          <a:chExt cx="0" cy="0"/>
        </a:xfrm>
      </p:grpSpPr>
      <p:sp>
        <p:nvSpPr>
          <p:cNvPr id="2" name="Shape 0"/>
          <p:cNvSpPr/>
          <p:nvPr/>
        </p:nvSpPr>
        <p:spPr>
          <a:xfrm>
            <a:off x="-1463040" y="2834640"/>
            <a:ext cx="3291840" cy="3291840"/>
          </a:xfrm>
          <a:prstGeom prst="ellipse">
            <a:avLst/>
          </a:prstGeom>
          <a:solidFill>
            <a:srgbClr val="2A9D8F">
              <a:alpha val="28000"/>
            </a:srgbClr>
          </a:solidFill>
          <a:ln/>
        </p:spPr>
        <p:txBody>
          <a:bodyPr/>
          <a:lstStyle/>
          <a:p>
            <a:endParaRPr lang="en-US"/>
          </a:p>
        </p:txBody>
      </p:sp>
      <p:sp>
        <p:nvSpPr>
          <p:cNvPr id="3" name="Shape 1"/>
          <p:cNvSpPr/>
          <p:nvPr/>
        </p:nvSpPr>
        <p:spPr>
          <a:xfrm>
            <a:off x="-822960" y="3474720"/>
            <a:ext cx="2011680" cy="2011680"/>
          </a:xfrm>
          <a:prstGeom prst="ellipse">
            <a:avLst/>
          </a:prstGeom>
          <a:solidFill>
            <a:srgbClr val="2A9D8F">
              <a:alpha val="50000"/>
            </a:srgbClr>
          </a:solidFill>
          <a:ln/>
        </p:spPr>
        <p:txBody>
          <a:bodyPr/>
          <a:lstStyle/>
          <a:p>
            <a:endParaRPr lang="en-US"/>
          </a:p>
        </p:txBody>
      </p:sp>
      <p:sp>
        <p:nvSpPr>
          <p:cNvPr id="4" name="Text 2"/>
          <p:cNvSpPr/>
          <p:nvPr/>
        </p:nvSpPr>
        <p:spPr>
          <a:xfrm>
            <a:off x="566928" y="1051560"/>
            <a:ext cx="7680960" cy="1371600"/>
          </a:xfrm>
          <a:prstGeom prst="rect">
            <a:avLst/>
          </a:prstGeom>
          <a:noFill/>
          <a:ln/>
        </p:spPr>
        <p:txBody>
          <a:bodyPr wrap="square" lIns="0" tIns="0" rIns="0" bIns="0" rtlCol="0" anchor="t"/>
          <a:lstStyle/>
          <a:p>
            <a:pPr marL="0" indent="0">
              <a:lnSpc>
                <a:spcPct val="100000"/>
              </a:lnSpc>
              <a:buNone/>
            </a:pPr>
            <a:r>
              <a:rPr lang="en-US" sz="4000" b="1" i="1" dirty="0">
                <a:solidFill>
                  <a:srgbClr val="FFFFFF"/>
                </a:solidFill>
                <a:latin typeface="Cambria" pitchFamily="34" charset="0"/>
                <a:ea typeface="Cambria" pitchFamily="34" charset="-122"/>
                <a:cs typeface="Cambria" pitchFamily="34" charset="-120"/>
              </a:rPr>
              <a:t>“This makes people faster,</a:t>
            </a:r>
            <a:endParaRPr lang="en-US" sz="4000" dirty="0"/>
          </a:p>
          <a:p>
            <a:pPr marL="0" indent="0">
              <a:lnSpc>
                <a:spcPct val="100000"/>
              </a:lnSpc>
              <a:buNone/>
            </a:pPr>
            <a:r>
              <a:rPr lang="en-US" sz="4000" b="1" i="1" dirty="0">
                <a:solidFill>
                  <a:srgbClr val="FFFFFF"/>
                </a:solidFill>
                <a:latin typeface="Cambria" pitchFamily="34" charset="0"/>
                <a:ea typeface="Cambria" pitchFamily="34" charset="-122"/>
                <a:cs typeface="Cambria" pitchFamily="34" charset="-120"/>
              </a:rPr>
              <a:t>not redundant.”</a:t>
            </a:r>
            <a:endParaRPr lang="en-US" sz="4000" dirty="0"/>
          </a:p>
        </p:txBody>
      </p:sp>
      <p:sp>
        <p:nvSpPr>
          <p:cNvPr id="5" name="Shape 3"/>
          <p:cNvSpPr/>
          <p:nvPr/>
        </p:nvSpPr>
        <p:spPr>
          <a:xfrm>
            <a:off x="585216" y="2606040"/>
            <a:ext cx="1371600" cy="0"/>
          </a:xfrm>
          <a:prstGeom prst="line">
            <a:avLst/>
          </a:prstGeom>
          <a:noFill/>
          <a:ln w="31750">
            <a:solidFill>
              <a:srgbClr val="2A9D8F"/>
            </a:solidFill>
            <a:prstDash val="solid"/>
          </a:ln>
        </p:spPr>
        <p:txBody>
          <a:bodyPr/>
          <a:lstStyle/>
          <a:p>
            <a:endParaRPr lang="en-US"/>
          </a:p>
        </p:txBody>
      </p:sp>
      <p:sp>
        <p:nvSpPr>
          <p:cNvPr id="6" name="Text 4"/>
          <p:cNvSpPr/>
          <p:nvPr/>
        </p:nvSpPr>
        <p:spPr>
          <a:xfrm>
            <a:off x="566928" y="2852928"/>
            <a:ext cx="7498080" cy="640080"/>
          </a:xfrm>
          <a:prstGeom prst="rect">
            <a:avLst/>
          </a:prstGeom>
          <a:noFill/>
          <a:ln/>
        </p:spPr>
        <p:txBody>
          <a:bodyPr wrap="square" lIns="0" tIns="0" rIns="0" bIns="0" rtlCol="0" anchor="ctr"/>
          <a:lstStyle/>
          <a:p>
            <a:pPr marL="0" indent="0">
              <a:lnSpc>
                <a:spcPct val="110000"/>
              </a:lnSpc>
              <a:buNone/>
            </a:pPr>
            <a:r>
              <a:rPr lang="en-US" sz="1500" dirty="0">
                <a:solidFill>
                  <a:srgbClr val="AFC3D6"/>
                </a:solidFill>
                <a:latin typeface="Calibri" pitchFamily="34" charset="0"/>
                <a:ea typeface="Calibri" pitchFamily="34" charset="-122"/>
                <a:cs typeface="Calibri" pitchFamily="34" charset="-120"/>
              </a:rPr>
              <a:t>High-quality, customer-facing release notes — generated with AI efficiency and delivered under human oversight.</a:t>
            </a:r>
            <a:endParaRPr lang="en-US" sz="1500" dirty="0"/>
          </a:p>
        </p:txBody>
      </p:sp>
      <p:sp>
        <p:nvSpPr>
          <p:cNvPr id="7" name="Text 5"/>
          <p:cNvSpPr/>
          <p:nvPr/>
        </p:nvSpPr>
        <p:spPr>
          <a:xfrm>
            <a:off x="566928" y="3794760"/>
            <a:ext cx="5486400" cy="274320"/>
          </a:xfrm>
          <a:prstGeom prst="rect">
            <a:avLst/>
          </a:prstGeom>
          <a:noFill/>
          <a:ln/>
        </p:spPr>
        <p:txBody>
          <a:bodyPr wrap="square" lIns="0" tIns="0" rIns="0" bIns="0" rtlCol="0" anchor="ctr"/>
          <a:lstStyle/>
          <a:p>
            <a:pPr marL="0" indent="0">
              <a:buNone/>
            </a:pPr>
            <a:r>
              <a:rPr lang="en-US" sz="1100" b="1" kern="0" spc="200" dirty="0">
                <a:solidFill>
                  <a:srgbClr val="2A9D8F"/>
                </a:solidFill>
                <a:latin typeface="Calibri" pitchFamily="34" charset="0"/>
                <a:ea typeface="Calibri" pitchFamily="34" charset="-122"/>
                <a:cs typeface="Calibri" pitchFamily="34" charset="-120"/>
              </a:rPr>
              <a:t>PROOF OF CONCEPT  ·  CAPSTONE PROJECT</a:t>
            </a:r>
            <a:endParaRPr lang="en-US" sz="1100" dirty="0"/>
          </a:p>
        </p:txBody>
      </p:sp>
      <p:sp>
        <p:nvSpPr>
          <p:cNvPr id="8" name="Text 6"/>
          <p:cNvSpPr/>
          <p:nvPr/>
        </p:nvSpPr>
        <p:spPr>
          <a:xfrm>
            <a:off x="566928" y="4114800"/>
            <a:ext cx="4572000" cy="274320"/>
          </a:xfrm>
          <a:prstGeom prst="rect">
            <a:avLst/>
          </a:prstGeom>
          <a:noFill/>
          <a:ln/>
        </p:spPr>
        <p:txBody>
          <a:bodyPr wrap="square" lIns="0" tIns="0" rIns="0" bIns="0" rtlCol="0" anchor="ctr"/>
          <a:lstStyle/>
          <a:p>
            <a:pPr marL="0" indent="0">
              <a:buNone/>
            </a:pPr>
            <a:r>
              <a:rPr lang="en-US" sz="1300" dirty="0">
                <a:solidFill>
                  <a:srgbClr val="AFC3D6"/>
                </a:solidFill>
                <a:latin typeface="Calibri" pitchFamily="34" charset="0"/>
                <a:ea typeface="Calibri" pitchFamily="34" charset="-122"/>
                <a:cs typeface="Calibri" pitchFamily="34" charset="-120"/>
              </a:rPr>
              <a:t>Riffat Wyne</a:t>
            </a:r>
            <a:endParaRPr lang="en-US" sz="1300" dirty="0"/>
          </a:p>
        </p:txBody>
      </p:sp>
      <p:sp>
        <p:nvSpPr>
          <p:cNvPr id="9" name="Text 7"/>
          <p:cNvSpPr/>
          <p:nvPr/>
        </p:nvSpPr>
        <p:spPr>
          <a:xfrm>
            <a:off x="566928" y="4498848"/>
            <a:ext cx="36576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949440" y="-1188720"/>
            <a:ext cx="3840480" cy="3840480"/>
          </a:xfrm>
          <a:prstGeom prst="ellipse">
            <a:avLst/>
          </a:prstGeom>
          <a:solidFill>
            <a:srgbClr val="2A9D8F">
              <a:alpha val="16000"/>
            </a:srgbClr>
          </a:solidFill>
          <a:ln/>
        </p:spPr>
        <p:txBody>
          <a:bodyPr/>
          <a:lstStyle/>
          <a:p>
            <a:endParaRPr/>
          </a:p>
        </p:txBody>
      </p:sp>
      <p:sp>
        <p:nvSpPr>
          <p:cNvPr id="3" name="Shape 1"/>
          <p:cNvSpPr/>
          <p:nvPr/>
        </p:nvSpPr>
        <p:spPr>
          <a:xfrm>
            <a:off x="7680960" y="-548640"/>
            <a:ext cx="2377440" cy="2377440"/>
          </a:xfrm>
          <a:prstGeom prst="ellipse">
            <a:avLst/>
          </a:prstGeom>
          <a:solidFill>
            <a:srgbClr val="2A9D8F">
              <a:alpha val="28000"/>
            </a:srgbClr>
          </a:solidFill>
          <a:ln/>
        </p:spPr>
        <p:txBody>
          <a:bodyPr/>
          <a:lstStyle/>
          <a:p>
            <a:endParaRPr/>
          </a:p>
        </p:txBody>
      </p:sp>
      <p:sp>
        <p:nvSpPr>
          <p:cNvPr id="4" name="Text 2"/>
          <p:cNvSpPr/>
          <p:nvPr/>
        </p:nvSpPr>
        <p:spPr>
          <a:xfrm>
            <a:off x="640080" y="1051560"/>
            <a:ext cx="7315200" cy="320040"/>
          </a:xfrm>
          <a:prstGeom prst="rect">
            <a:avLst/>
          </a:prstGeom>
          <a:noFill/>
          <a:ln/>
        </p:spPr>
        <p:txBody>
          <a:bodyPr wrap="square" lIns="0" tIns="0" rIns="0" bIns="0" rtlCol="0" anchor="ctr"/>
          <a:lstStyle/>
          <a:p>
            <a:pPr marL="0" indent="0">
              <a:buNone/>
            </a:pPr>
            <a:r>
              <a:rPr lang="en-US" sz="1200" b="1" kern="0" spc="200" dirty="0">
                <a:solidFill>
                  <a:srgbClr val="2A9D8F"/>
                </a:solidFill>
                <a:latin typeface="Calibri" pitchFamily="34" charset="0"/>
                <a:ea typeface="Calibri" pitchFamily="34" charset="-122"/>
                <a:cs typeface="Calibri" pitchFamily="34" charset="-120"/>
              </a:rPr>
              <a:t>TWT AI MASTERY PROGRAM  ·  CERTIFICATION DEMO</a:t>
            </a:r>
            <a:endParaRPr lang="en-US" sz="1200" dirty="0"/>
          </a:p>
        </p:txBody>
      </p:sp>
      <p:sp>
        <p:nvSpPr>
          <p:cNvPr id="5" name="Text 3"/>
          <p:cNvSpPr/>
          <p:nvPr/>
        </p:nvSpPr>
        <p:spPr>
          <a:xfrm>
            <a:off x="640080" y="1463040"/>
            <a:ext cx="7772400" cy="155448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AI-Assisted Documentation</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Workflow Automation</a:t>
            </a:r>
            <a:endParaRPr lang="en-US" sz="4000" dirty="0"/>
          </a:p>
        </p:txBody>
      </p:sp>
      <p:sp>
        <p:nvSpPr>
          <p:cNvPr id="6" name="Text 4"/>
          <p:cNvSpPr/>
          <p:nvPr/>
        </p:nvSpPr>
        <p:spPr>
          <a:xfrm>
            <a:off x="640080" y="2880360"/>
            <a:ext cx="7498080" cy="457200"/>
          </a:xfrm>
          <a:prstGeom prst="rect">
            <a:avLst/>
          </a:prstGeom>
          <a:noFill/>
          <a:ln/>
        </p:spPr>
        <p:txBody>
          <a:bodyPr wrap="square" lIns="0" tIns="0" rIns="0" bIns="0" rtlCol="0" anchor="ctr"/>
          <a:lstStyle/>
          <a:p>
            <a:pPr marL="0" indent="0">
              <a:buNone/>
            </a:pPr>
            <a:r>
              <a:rPr lang="en-US" sz="1800" i="1" dirty="0">
                <a:solidFill>
                  <a:srgbClr val="CFE3E0"/>
                </a:solidFill>
                <a:latin typeface="Calibri" pitchFamily="34" charset="0"/>
                <a:ea typeface="Calibri" pitchFamily="34" charset="-122"/>
                <a:cs typeface="Calibri" pitchFamily="34" charset="-120"/>
              </a:rPr>
              <a:t>Release Notes as a Proof of Concept</a:t>
            </a:r>
            <a:endParaRPr lang="en-US" sz="1800" dirty="0"/>
          </a:p>
        </p:txBody>
      </p:sp>
      <p:sp>
        <p:nvSpPr>
          <p:cNvPr id="7" name="Shape 5"/>
          <p:cNvSpPr/>
          <p:nvPr/>
        </p:nvSpPr>
        <p:spPr>
          <a:xfrm>
            <a:off x="658368" y="3520440"/>
            <a:ext cx="1280160" cy="0"/>
          </a:xfrm>
          <a:prstGeom prst="line">
            <a:avLst/>
          </a:prstGeom>
          <a:noFill/>
          <a:ln w="25400">
            <a:solidFill>
              <a:srgbClr val="2A9D8F"/>
            </a:solidFill>
            <a:prstDash val="solid"/>
          </a:ln>
        </p:spPr>
        <p:txBody>
          <a:bodyPr/>
          <a:lstStyle/>
          <a:p>
            <a:endParaRPr/>
          </a:p>
        </p:txBody>
      </p:sp>
      <p:sp>
        <p:nvSpPr>
          <p:cNvPr id="8" name="Text 6"/>
          <p:cNvSpPr/>
          <p:nvPr/>
        </p:nvSpPr>
        <p:spPr>
          <a:xfrm>
            <a:off x="640080" y="3749040"/>
            <a:ext cx="7315200" cy="640080"/>
          </a:xfrm>
          <a:prstGeom prst="rect">
            <a:avLst/>
          </a:prstGeom>
          <a:noFill/>
          <a:ln/>
        </p:spPr>
        <p:txBody>
          <a:bodyPr wrap="square" lIns="0" tIns="0" rIns="0" bIns="0" rtlCol="0" anchor="ctr"/>
          <a:lstStyle/>
          <a:p>
            <a:pPr marL="0" indent="0">
              <a:lnSpc>
                <a:spcPct val="130000"/>
              </a:lnSpc>
              <a:buNone/>
            </a:pPr>
            <a:r>
              <a:rPr lang="en-US" sz="1300" dirty="0">
                <a:solidFill>
                  <a:srgbClr val="AFC3D6"/>
                </a:solidFill>
                <a:latin typeface="Calibri" pitchFamily="34" charset="0"/>
                <a:ea typeface="Calibri" pitchFamily="34" charset="-122"/>
                <a:cs typeface="Calibri" pitchFamily="34" charset="-120"/>
              </a:rPr>
              <a:t>05 July 2026</a:t>
            </a:r>
          </a:p>
          <a:p>
            <a:pPr marL="0" indent="0">
              <a:lnSpc>
                <a:spcPct val="130000"/>
              </a:lnSpc>
              <a:buNone/>
            </a:pPr>
            <a:r>
              <a:rPr lang="en-US" sz="1300" dirty="0">
                <a:solidFill>
                  <a:srgbClr val="AFC3D6"/>
                </a:solidFill>
                <a:latin typeface="Calibri" pitchFamily="34" charset="0"/>
                <a:ea typeface="Calibri" pitchFamily="34" charset="-122"/>
                <a:cs typeface="Calibri" pitchFamily="34" charset="-120"/>
              </a:rPr>
              <a:t>Devika</a:t>
            </a:r>
            <a:endParaRPr lang="en-US" sz="1300" dirty="0"/>
          </a:p>
        </p:txBody>
      </p:sp>
      <p:pic>
        <p:nvPicPr>
          <p:cNvPr id="9" name="Picture 8">
            <a:extLst>
              <a:ext uri="{FF2B5EF4-FFF2-40B4-BE49-F238E27FC236}">
                <a16:creationId xmlns:a16="http://schemas.microsoft.com/office/drawing/2014/main" id="{561494EC-2280-4518-F086-4BAF2C05A152}"/>
              </a:ext>
            </a:extLst>
          </p:cNvPr>
          <p:cNvPicPr>
            <a:picLocks noChangeAspect="1"/>
          </p:cNvPicPr>
          <p:nvPr/>
        </p:nvPicPr>
        <p:blipFill>
          <a:blip r:embed="rId3"/>
          <a:stretch>
            <a:fillRect/>
          </a:stretch>
        </p:blipFill>
        <p:spPr>
          <a:xfrm>
            <a:off x="0" y="-1"/>
            <a:ext cx="9144000" cy="51435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600" b="1" dirty="0">
                <a:solidFill>
                  <a:srgbClr val="12355B"/>
                </a:solidFill>
                <a:latin typeface="Cambria" pitchFamily="34" charset="0"/>
                <a:ea typeface="Cambria" pitchFamily="34" charset="-122"/>
                <a:cs typeface="Cambria" pitchFamily="34" charset="-120"/>
              </a:rPr>
              <a:t>Solution Architecture: Four AI Building Blocks</a:t>
            </a:r>
            <a:endParaRPr lang="en-US" sz="2600" dirty="0"/>
          </a:p>
        </p:txBody>
      </p:sp>
      <p:sp>
        <p:nvSpPr>
          <p:cNvPr id="4" name="Text 2"/>
          <p:cNvSpPr/>
          <p:nvPr/>
        </p:nvSpPr>
        <p:spPr>
          <a:xfrm>
            <a:off x="548640" y="1161288"/>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Each capability plays a distinct role in the workflow — together they automate drafting while preserving oversight.</a:t>
            </a:r>
            <a:endParaRPr lang="en-US" sz="1300" dirty="0"/>
          </a:p>
        </p:txBody>
      </p:sp>
      <p:sp>
        <p:nvSpPr>
          <p:cNvPr id="5" name="Shape 3"/>
          <p:cNvSpPr/>
          <p:nvPr/>
        </p:nvSpPr>
        <p:spPr>
          <a:xfrm>
            <a:off x="54864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Commands</a:t>
            </a:r>
            <a:endParaRPr lang="en-US" sz="1300" dirty="0"/>
          </a:p>
        </p:txBody>
      </p:sp>
      <p:sp>
        <p:nvSpPr>
          <p:cNvPr id="9" name="Text 6"/>
          <p:cNvSpPr/>
          <p:nvPr/>
        </p:nvSpPr>
        <p:spPr>
          <a:xfrm>
            <a:off x="69494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Reusable prompts that trigger a consistent drafting or review action on demand.</a:t>
            </a:r>
            <a:endParaRPr lang="en-US" sz="1050" dirty="0"/>
          </a:p>
        </p:txBody>
      </p:sp>
      <p:sp>
        <p:nvSpPr>
          <p:cNvPr id="10" name="Shape 7"/>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Shape 8"/>
          <p:cNvSpPr/>
          <p:nvPr/>
        </p:nvSpPr>
        <p:spPr>
          <a:xfrm>
            <a:off x="3191256" y="2020824"/>
            <a:ext cx="585216" cy="585216"/>
          </a:xfrm>
          <a:prstGeom prst="ellipse">
            <a:avLst/>
          </a:prstGeom>
          <a:solidFill>
            <a:srgbClr val="FFFFFF"/>
          </a:solidFill>
          <a:ln/>
        </p:spPr>
        <p:txBody>
          <a:bodyPr/>
          <a:lstStyle/>
          <a:p>
            <a:endParaRPr/>
          </a:p>
        </p:txBody>
      </p:sp>
      <p:pic>
        <p:nvPicPr>
          <p:cNvPr id="12"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3" name="Text 9"/>
          <p:cNvSpPr/>
          <p:nvPr/>
        </p:nvSpPr>
        <p:spPr>
          <a:xfrm>
            <a:off x="265176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Skills</a:t>
            </a:r>
            <a:endParaRPr lang="en-US" sz="1300" dirty="0"/>
          </a:p>
        </p:txBody>
      </p:sp>
      <p:sp>
        <p:nvSpPr>
          <p:cNvPr id="14" name="Text 10"/>
          <p:cNvSpPr/>
          <p:nvPr/>
        </p:nvSpPr>
        <p:spPr>
          <a:xfrm>
            <a:off x="270662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Packaged expertise — style guides and templates — that shape how AI drafts.</a:t>
            </a:r>
            <a:endParaRPr lang="en-US" sz="1050" dirty="0"/>
          </a:p>
        </p:txBody>
      </p:sp>
      <p:sp>
        <p:nvSpPr>
          <p:cNvPr id="15" name="Shape 11"/>
          <p:cNvSpPr/>
          <p:nvPr/>
        </p:nvSpPr>
        <p:spPr>
          <a:xfrm>
            <a:off x="457200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16" name="Shape 12"/>
          <p:cNvSpPr/>
          <p:nvPr/>
        </p:nvSpPr>
        <p:spPr>
          <a:xfrm>
            <a:off x="5202936" y="2020824"/>
            <a:ext cx="585216" cy="585216"/>
          </a:xfrm>
          <a:prstGeom prst="ellipse">
            <a:avLst/>
          </a:prstGeom>
          <a:solidFill>
            <a:srgbClr val="FFFFFF"/>
          </a:solidFill>
          <a:ln/>
        </p:spPr>
        <p:txBody>
          <a:bodyPr/>
          <a:lstStyle/>
          <a:p>
            <a:endParaRPr/>
          </a:p>
        </p:txBody>
      </p:sp>
      <p:pic>
        <p:nvPicPr>
          <p:cNvPr id="17"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18" name="Text 13"/>
          <p:cNvSpPr/>
          <p:nvPr/>
        </p:nvSpPr>
        <p:spPr>
          <a:xfrm>
            <a:off x="466344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Agents</a:t>
            </a:r>
            <a:endParaRPr lang="en-US" sz="1300" dirty="0"/>
          </a:p>
        </p:txBody>
      </p:sp>
      <p:sp>
        <p:nvSpPr>
          <p:cNvPr id="19" name="Text 14"/>
          <p:cNvSpPr/>
          <p:nvPr/>
        </p:nvSpPr>
        <p:spPr>
          <a:xfrm>
            <a:off x="471830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Multi-step helpers that extract, draft, and self-review before human handoff.</a:t>
            </a:r>
            <a:endParaRPr lang="en-US" sz="1050" dirty="0"/>
          </a:p>
        </p:txBody>
      </p:sp>
      <p:sp>
        <p:nvSpPr>
          <p:cNvPr id="20" name="Shape 15"/>
          <p:cNvSpPr/>
          <p:nvPr/>
        </p:nvSpPr>
        <p:spPr>
          <a:xfrm>
            <a:off x="658368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1" name="Shape 16"/>
          <p:cNvSpPr/>
          <p:nvPr/>
        </p:nvSpPr>
        <p:spPr>
          <a:xfrm>
            <a:off x="7214616" y="2020824"/>
            <a:ext cx="585216" cy="585216"/>
          </a:xfrm>
          <a:prstGeom prst="ellipse">
            <a:avLst/>
          </a:prstGeom>
          <a:solidFill>
            <a:srgbClr val="FFFFFF"/>
          </a:solidFill>
          <a:ln/>
        </p:spPr>
        <p:txBody>
          <a:bodyPr/>
          <a:lstStyle/>
          <a:p>
            <a:endParaRPr/>
          </a:p>
        </p:txBody>
      </p:sp>
      <p:pic>
        <p:nvPicPr>
          <p:cNvPr id="22"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3" name="Text 17"/>
          <p:cNvSpPr/>
          <p:nvPr/>
        </p:nvSpPr>
        <p:spPr>
          <a:xfrm>
            <a:off x="667512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MCP Integrations</a:t>
            </a:r>
            <a:endParaRPr lang="en-US" sz="1300" dirty="0"/>
          </a:p>
        </p:txBody>
      </p:sp>
      <p:sp>
        <p:nvSpPr>
          <p:cNvPr id="24" name="Text 18"/>
          <p:cNvSpPr/>
          <p:nvPr/>
        </p:nvSpPr>
        <p:spPr>
          <a:xfrm>
            <a:off x="672998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Connectors to YouTrack and GitHub for direct, automated data retrieval.</a:t>
            </a:r>
            <a:endParaRPr lang="en-US" sz="1050" dirty="0"/>
          </a:p>
        </p:txBody>
      </p:sp>
      <p:sp>
        <p:nvSpPr>
          <p:cNvPr id="25"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6" name="Text 2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Future-State Workflow: AI-Assisted, Human-Approved</a:t>
            </a:r>
            <a:endParaRPr lang="en-US" sz="2400" dirty="0"/>
          </a:p>
        </p:txBody>
      </p:sp>
      <p:sp>
        <p:nvSpPr>
          <p:cNvPr id="4" name="Shape 2"/>
          <p:cNvSpPr/>
          <p:nvPr/>
        </p:nvSpPr>
        <p:spPr>
          <a:xfrm>
            <a:off x="905256" y="1508760"/>
            <a:ext cx="822960" cy="822960"/>
          </a:xfrm>
          <a:prstGeom prst="ellipse">
            <a:avLst/>
          </a:prstGeom>
          <a:solidFill>
            <a:srgbClr val="2A9D8F"/>
          </a:solidFill>
          <a:ln/>
        </p:spPr>
        <p:txBody>
          <a:bodyPr/>
          <a:lstStyle/>
          <a:p>
            <a:endParaRPr/>
          </a:p>
        </p:txBody>
      </p:sp>
      <p:pic>
        <p:nvPicPr>
          <p:cNvPr id="5" name="Image 0" descr="preencoded.png"/>
          <p:cNvPicPr>
            <a:picLocks noChangeAspect="1"/>
          </p:cNvPicPr>
          <p:nvPr/>
        </p:nvPicPr>
        <p:blipFill>
          <a:blip r:embed="rId3"/>
          <a:stretch>
            <a:fillRect/>
          </a:stretch>
        </p:blipFill>
        <p:spPr>
          <a:xfrm>
            <a:off x="1097280" y="1700784"/>
            <a:ext cx="438912" cy="438912"/>
          </a:xfrm>
          <a:prstGeom prst="rect">
            <a:avLst/>
          </a:prstGeom>
        </p:spPr>
      </p:pic>
      <p:sp>
        <p:nvSpPr>
          <p:cNvPr id="6" name="Text 3"/>
          <p:cNvSpPr/>
          <p:nvPr/>
        </p:nvSpPr>
        <p:spPr>
          <a:xfrm>
            <a:off x="630936"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Issues</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retrieved</a:t>
            </a:r>
            <a:endParaRPr lang="en-US" sz="1100" dirty="0"/>
          </a:p>
        </p:txBody>
      </p:sp>
      <p:sp>
        <p:nvSpPr>
          <p:cNvPr id="7" name="Shape 4"/>
          <p:cNvSpPr/>
          <p:nvPr/>
        </p:nvSpPr>
        <p:spPr>
          <a:xfrm>
            <a:off x="2020824" y="1920240"/>
            <a:ext cx="219456" cy="0"/>
          </a:xfrm>
          <a:prstGeom prst="line">
            <a:avLst/>
          </a:prstGeom>
          <a:noFill/>
          <a:ln w="22225">
            <a:solidFill>
              <a:srgbClr val="5F6B7A"/>
            </a:solidFill>
            <a:prstDash val="solid"/>
            <a:tailEnd type="triangle"/>
          </a:ln>
        </p:spPr>
        <p:txBody>
          <a:bodyPr/>
          <a:lstStyle/>
          <a:p>
            <a:endParaRPr/>
          </a:p>
        </p:txBody>
      </p:sp>
      <p:sp>
        <p:nvSpPr>
          <p:cNvPr id="8" name="Shape 5"/>
          <p:cNvSpPr/>
          <p:nvPr/>
        </p:nvSpPr>
        <p:spPr>
          <a:xfrm>
            <a:off x="2532888" y="1508760"/>
            <a:ext cx="822960" cy="822960"/>
          </a:xfrm>
          <a:prstGeom prst="ellipse">
            <a:avLst/>
          </a:prstGeom>
          <a:solidFill>
            <a:srgbClr val="2A9D8F"/>
          </a:solidFill>
          <a:ln/>
        </p:spPr>
        <p:txBody>
          <a:bodyPr/>
          <a:lstStyle/>
          <a:p>
            <a:endParaRPr/>
          </a:p>
        </p:txBody>
      </p:sp>
      <p:pic>
        <p:nvPicPr>
          <p:cNvPr id="9" name="Image 1" descr="preencoded.png"/>
          <p:cNvPicPr>
            <a:picLocks noChangeAspect="1"/>
          </p:cNvPicPr>
          <p:nvPr/>
        </p:nvPicPr>
        <p:blipFill>
          <a:blip r:embed="rId4"/>
          <a:stretch>
            <a:fillRect/>
          </a:stretch>
        </p:blipFill>
        <p:spPr>
          <a:xfrm>
            <a:off x="2724912" y="1700784"/>
            <a:ext cx="438912" cy="438912"/>
          </a:xfrm>
          <a:prstGeom prst="rect">
            <a:avLst/>
          </a:prstGeom>
        </p:spPr>
      </p:pic>
      <p:sp>
        <p:nvSpPr>
          <p:cNvPr id="10" name="Text 6"/>
          <p:cNvSpPr/>
          <p:nvPr/>
        </p:nvSpPr>
        <p:spPr>
          <a:xfrm>
            <a:off x="2258568"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AI extracts</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&amp; drafts</a:t>
            </a:r>
            <a:endParaRPr lang="en-US" sz="1100" dirty="0"/>
          </a:p>
        </p:txBody>
      </p:sp>
      <p:sp>
        <p:nvSpPr>
          <p:cNvPr id="11" name="Shape 7"/>
          <p:cNvSpPr/>
          <p:nvPr/>
        </p:nvSpPr>
        <p:spPr>
          <a:xfrm>
            <a:off x="3648456" y="1920240"/>
            <a:ext cx="219456" cy="0"/>
          </a:xfrm>
          <a:prstGeom prst="line">
            <a:avLst/>
          </a:prstGeom>
          <a:noFill/>
          <a:ln w="22225">
            <a:solidFill>
              <a:srgbClr val="5F6B7A"/>
            </a:solidFill>
            <a:prstDash val="solid"/>
            <a:tailEnd type="triangle"/>
          </a:ln>
        </p:spPr>
        <p:txBody>
          <a:bodyPr/>
          <a:lstStyle/>
          <a:p>
            <a:endParaRPr/>
          </a:p>
        </p:txBody>
      </p:sp>
      <p:sp>
        <p:nvSpPr>
          <p:cNvPr id="12" name="Shape 8"/>
          <p:cNvSpPr/>
          <p:nvPr/>
        </p:nvSpPr>
        <p:spPr>
          <a:xfrm>
            <a:off x="4160520" y="1508760"/>
            <a:ext cx="822960" cy="822960"/>
          </a:xfrm>
          <a:prstGeom prst="ellipse">
            <a:avLst/>
          </a:prstGeom>
          <a:solidFill>
            <a:srgbClr val="2A9D8F"/>
          </a:solidFill>
          <a:ln/>
        </p:spPr>
        <p:txBody>
          <a:bodyPr/>
          <a:lstStyle/>
          <a:p>
            <a:endParaRPr/>
          </a:p>
        </p:txBody>
      </p:sp>
      <p:pic>
        <p:nvPicPr>
          <p:cNvPr id="13" name="Image 2" descr="preencoded.png"/>
          <p:cNvPicPr>
            <a:picLocks noChangeAspect="1"/>
          </p:cNvPicPr>
          <p:nvPr/>
        </p:nvPicPr>
        <p:blipFill>
          <a:blip r:embed="rId5"/>
          <a:stretch>
            <a:fillRect/>
          </a:stretch>
        </p:blipFill>
        <p:spPr>
          <a:xfrm>
            <a:off x="4352544" y="1700784"/>
            <a:ext cx="438912" cy="438912"/>
          </a:xfrm>
          <a:prstGeom prst="rect">
            <a:avLst/>
          </a:prstGeom>
        </p:spPr>
      </p:pic>
      <p:sp>
        <p:nvSpPr>
          <p:cNvPr id="14" name="Text 9"/>
          <p:cNvSpPr/>
          <p:nvPr/>
        </p:nvSpPr>
        <p:spPr>
          <a:xfrm>
            <a:off x="3886200"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AI self-</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reviews</a:t>
            </a:r>
            <a:endParaRPr lang="en-US" sz="1100" dirty="0"/>
          </a:p>
        </p:txBody>
      </p:sp>
      <p:sp>
        <p:nvSpPr>
          <p:cNvPr id="15" name="Shape 10"/>
          <p:cNvSpPr/>
          <p:nvPr/>
        </p:nvSpPr>
        <p:spPr>
          <a:xfrm>
            <a:off x="5276088" y="1920240"/>
            <a:ext cx="219456" cy="0"/>
          </a:xfrm>
          <a:prstGeom prst="line">
            <a:avLst/>
          </a:prstGeom>
          <a:noFill/>
          <a:ln w="22225">
            <a:solidFill>
              <a:srgbClr val="5F6B7A"/>
            </a:solidFill>
            <a:prstDash val="solid"/>
            <a:tailEnd type="triangle"/>
          </a:ln>
        </p:spPr>
        <p:txBody>
          <a:bodyPr/>
          <a:lstStyle/>
          <a:p>
            <a:endParaRPr/>
          </a:p>
        </p:txBody>
      </p:sp>
      <p:sp>
        <p:nvSpPr>
          <p:cNvPr id="16" name="Shape 11"/>
          <p:cNvSpPr/>
          <p:nvPr/>
        </p:nvSpPr>
        <p:spPr>
          <a:xfrm>
            <a:off x="5788152" y="1508760"/>
            <a:ext cx="822960" cy="822960"/>
          </a:xfrm>
          <a:prstGeom prst="ellipse">
            <a:avLst/>
          </a:prstGeom>
          <a:solidFill>
            <a:srgbClr val="12355B"/>
          </a:solidFill>
          <a:ln/>
        </p:spPr>
        <p:txBody>
          <a:bodyPr/>
          <a:lstStyle/>
          <a:p>
            <a:endParaRPr/>
          </a:p>
        </p:txBody>
      </p:sp>
      <p:pic>
        <p:nvPicPr>
          <p:cNvPr id="17" name="Image 3" descr="preencoded.png"/>
          <p:cNvPicPr>
            <a:picLocks noChangeAspect="1"/>
          </p:cNvPicPr>
          <p:nvPr/>
        </p:nvPicPr>
        <p:blipFill>
          <a:blip r:embed="rId6"/>
          <a:stretch>
            <a:fillRect/>
          </a:stretch>
        </p:blipFill>
        <p:spPr>
          <a:xfrm>
            <a:off x="5980176" y="1700784"/>
            <a:ext cx="438912" cy="438912"/>
          </a:xfrm>
          <a:prstGeom prst="rect">
            <a:avLst/>
          </a:prstGeom>
        </p:spPr>
      </p:pic>
      <p:sp>
        <p:nvSpPr>
          <p:cNvPr id="18" name="Text 12"/>
          <p:cNvSpPr/>
          <p:nvPr/>
        </p:nvSpPr>
        <p:spPr>
          <a:xfrm>
            <a:off x="5513832"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Human</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approves</a:t>
            </a:r>
            <a:endParaRPr lang="en-US" sz="1100" dirty="0"/>
          </a:p>
        </p:txBody>
      </p:sp>
      <p:sp>
        <p:nvSpPr>
          <p:cNvPr id="19" name="Shape 13"/>
          <p:cNvSpPr/>
          <p:nvPr/>
        </p:nvSpPr>
        <p:spPr>
          <a:xfrm>
            <a:off x="6903720" y="1920240"/>
            <a:ext cx="219456" cy="0"/>
          </a:xfrm>
          <a:prstGeom prst="line">
            <a:avLst/>
          </a:prstGeom>
          <a:noFill/>
          <a:ln w="22225">
            <a:solidFill>
              <a:srgbClr val="5F6B7A"/>
            </a:solidFill>
            <a:prstDash val="solid"/>
            <a:tailEnd type="triangle"/>
          </a:ln>
        </p:spPr>
        <p:txBody>
          <a:bodyPr/>
          <a:lstStyle/>
          <a:p>
            <a:endParaRPr/>
          </a:p>
        </p:txBody>
      </p:sp>
      <p:sp>
        <p:nvSpPr>
          <p:cNvPr id="20" name="Shape 14"/>
          <p:cNvSpPr/>
          <p:nvPr/>
        </p:nvSpPr>
        <p:spPr>
          <a:xfrm>
            <a:off x="7415784" y="1508760"/>
            <a:ext cx="822960" cy="822960"/>
          </a:xfrm>
          <a:prstGeom prst="ellipse">
            <a:avLst/>
          </a:prstGeom>
          <a:solidFill>
            <a:srgbClr val="12355B"/>
          </a:solidFill>
          <a:ln/>
        </p:spPr>
        <p:txBody>
          <a:bodyPr/>
          <a:lstStyle/>
          <a:p>
            <a:endParaRPr/>
          </a:p>
        </p:txBody>
      </p:sp>
      <p:pic>
        <p:nvPicPr>
          <p:cNvPr id="21" name="Image 4" descr="preencoded.png"/>
          <p:cNvPicPr>
            <a:picLocks noChangeAspect="1"/>
          </p:cNvPicPr>
          <p:nvPr/>
        </p:nvPicPr>
        <p:blipFill>
          <a:blip r:embed="rId7"/>
          <a:stretch>
            <a:fillRect/>
          </a:stretch>
        </p:blipFill>
        <p:spPr>
          <a:xfrm>
            <a:off x="7607808" y="1700784"/>
            <a:ext cx="438912" cy="438912"/>
          </a:xfrm>
          <a:prstGeom prst="rect">
            <a:avLst/>
          </a:prstGeom>
        </p:spPr>
      </p:pic>
      <p:sp>
        <p:nvSpPr>
          <p:cNvPr id="22" name="Text 15"/>
          <p:cNvSpPr/>
          <p:nvPr/>
        </p:nvSpPr>
        <p:spPr>
          <a:xfrm>
            <a:off x="7141464"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Publish</a:t>
            </a:r>
            <a:endParaRPr lang="en-US" sz="1100" dirty="0"/>
          </a:p>
        </p:txBody>
      </p:sp>
      <p:sp>
        <p:nvSpPr>
          <p:cNvPr id="23" name="Shape 16"/>
          <p:cNvSpPr/>
          <p:nvPr/>
        </p:nvSpPr>
        <p:spPr>
          <a:xfrm>
            <a:off x="2331720" y="2788920"/>
            <a:ext cx="146304" cy="146304"/>
          </a:xfrm>
          <a:prstGeom prst="ellipse">
            <a:avLst/>
          </a:prstGeom>
          <a:solidFill>
            <a:srgbClr val="2A9D8F"/>
          </a:solidFill>
          <a:ln/>
        </p:spPr>
        <p:txBody>
          <a:bodyPr/>
          <a:lstStyle/>
          <a:p>
            <a:endParaRPr/>
          </a:p>
        </p:txBody>
      </p:sp>
      <p:sp>
        <p:nvSpPr>
          <p:cNvPr id="24" name="Text 17"/>
          <p:cNvSpPr/>
          <p:nvPr/>
        </p:nvSpPr>
        <p:spPr>
          <a:xfrm>
            <a:off x="2542032" y="2743200"/>
            <a:ext cx="1554480" cy="246888"/>
          </a:xfrm>
          <a:prstGeom prst="rect">
            <a:avLst/>
          </a:prstGeom>
          <a:noFill/>
          <a:ln/>
        </p:spPr>
        <p:txBody>
          <a:bodyPr wrap="square" lIns="0" tIns="0" rIns="0" bIns="0" rtlCol="0" anchor="ctr"/>
          <a:lstStyle/>
          <a:p>
            <a:pPr marL="0" indent="0">
              <a:buNone/>
            </a:pPr>
            <a:r>
              <a:rPr lang="en-US" sz="1050" dirty="0">
                <a:solidFill>
                  <a:srgbClr val="5F6B7A"/>
                </a:solidFill>
                <a:latin typeface="Calibri" pitchFamily="34" charset="0"/>
                <a:ea typeface="Calibri" pitchFamily="34" charset="-122"/>
                <a:cs typeface="Calibri" pitchFamily="34" charset="-120"/>
              </a:rPr>
              <a:t>AI-performed step</a:t>
            </a:r>
            <a:endParaRPr lang="en-US" sz="1050" dirty="0"/>
          </a:p>
        </p:txBody>
      </p:sp>
      <p:sp>
        <p:nvSpPr>
          <p:cNvPr id="25" name="Shape 18"/>
          <p:cNvSpPr/>
          <p:nvPr/>
        </p:nvSpPr>
        <p:spPr>
          <a:xfrm>
            <a:off x="4343400" y="2788920"/>
            <a:ext cx="146304" cy="146304"/>
          </a:xfrm>
          <a:prstGeom prst="ellipse">
            <a:avLst/>
          </a:prstGeom>
          <a:solidFill>
            <a:srgbClr val="12355B"/>
          </a:solidFill>
          <a:ln/>
        </p:spPr>
        <p:txBody>
          <a:bodyPr/>
          <a:lstStyle/>
          <a:p>
            <a:endParaRPr/>
          </a:p>
        </p:txBody>
      </p:sp>
      <p:sp>
        <p:nvSpPr>
          <p:cNvPr id="26" name="Text 19"/>
          <p:cNvSpPr/>
          <p:nvPr/>
        </p:nvSpPr>
        <p:spPr>
          <a:xfrm>
            <a:off x="4553712" y="2743200"/>
            <a:ext cx="1828800" cy="246888"/>
          </a:xfrm>
          <a:prstGeom prst="rect">
            <a:avLst/>
          </a:prstGeom>
          <a:noFill/>
          <a:ln/>
        </p:spPr>
        <p:txBody>
          <a:bodyPr wrap="square" lIns="0" tIns="0" rIns="0" bIns="0" rtlCol="0" anchor="ctr"/>
          <a:lstStyle/>
          <a:p>
            <a:pPr marL="0" indent="0">
              <a:buNone/>
            </a:pPr>
            <a:r>
              <a:rPr lang="en-US" sz="1050" dirty="0">
                <a:solidFill>
                  <a:srgbClr val="5F6B7A"/>
                </a:solidFill>
                <a:latin typeface="Calibri" pitchFamily="34" charset="0"/>
                <a:ea typeface="Calibri" pitchFamily="34" charset="-122"/>
                <a:cs typeface="Calibri" pitchFamily="34" charset="-120"/>
              </a:rPr>
              <a:t>Human-performed step</a:t>
            </a:r>
            <a:endParaRPr lang="en-US" sz="1050" dirty="0"/>
          </a:p>
        </p:txBody>
      </p:sp>
      <p:sp>
        <p:nvSpPr>
          <p:cNvPr id="27" name="Shape 20"/>
          <p:cNvSpPr/>
          <p:nvPr/>
        </p:nvSpPr>
        <p:spPr>
          <a:xfrm>
            <a:off x="1371600" y="3246120"/>
            <a:ext cx="6400800" cy="1051560"/>
          </a:xfrm>
          <a:prstGeom prst="roundRect">
            <a:avLst>
              <a:gd name="adj" fmla="val 6957"/>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28" name="Text 21"/>
          <p:cNvSpPr/>
          <p:nvPr/>
        </p:nvSpPr>
        <p:spPr>
          <a:xfrm>
            <a:off x="1600200" y="3337560"/>
            <a:ext cx="2011680" cy="868680"/>
          </a:xfrm>
          <a:prstGeom prst="rect">
            <a:avLst/>
          </a:prstGeom>
          <a:noFill/>
          <a:ln/>
        </p:spPr>
        <p:txBody>
          <a:bodyPr wrap="square" lIns="0" tIns="0" rIns="0" bIns="0" rtlCol="0" anchor="ctr"/>
          <a:lstStyle/>
          <a:p>
            <a:pPr marL="0" indent="0" algn="ctr">
              <a:buNone/>
            </a:pPr>
            <a:r>
              <a:rPr lang="en-US" sz="3200" b="1" dirty="0">
                <a:solidFill>
                  <a:srgbClr val="12355B"/>
                </a:solidFill>
                <a:latin typeface="Cambria" pitchFamily="34" charset="0"/>
                <a:ea typeface="Cambria" pitchFamily="34" charset="-122"/>
                <a:cs typeface="Cambria" pitchFamily="34" charset="-120"/>
              </a:rPr>
              <a:t>~80–90%</a:t>
            </a:r>
            <a:endParaRPr lang="en-US" sz="3200" dirty="0"/>
          </a:p>
        </p:txBody>
      </p:sp>
      <p:sp>
        <p:nvSpPr>
          <p:cNvPr id="29" name="Text 22"/>
          <p:cNvSpPr/>
          <p:nvPr/>
        </p:nvSpPr>
        <p:spPr>
          <a:xfrm>
            <a:off x="3749040" y="3319272"/>
            <a:ext cx="3840480" cy="914400"/>
          </a:xfrm>
          <a:prstGeom prst="rect">
            <a:avLst/>
          </a:prstGeom>
          <a:noFill/>
          <a:ln/>
        </p:spPr>
        <p:txBody>
          <a:bodyPr wrap="square" lIns="0" tIns="0" rIns="0" bIns="0" rtlCol="0" anchor="ctr"/>
          <a:lstStyle/>
          <a:p>
            <a:pPr marL="0" indent="0">
              <a:lnSpc>
                <a:spcPct val="120000"/>
              </a:lnSpc>
              <a:buNone/>
            </a:pPr>
            <a:r>
              <a:rPr lang="en-US" sz="1100" dirty="0">
                <a:solidFill>
                  <a:srgbClr val="5F6B7A"/>
                </a:solidFill>
                <a:latin typeface="Calibri" pitchFamily="34" charset="0"/>
                <a:ea typeface="Calibri" pitchFamily="34" charset="-122"/>
                <a:cs typeface="Calibri" pitchFamily="34" charset="-120"/>
              </a:rPr>
              <a:t>estimated reduction in end-to-end cycle time versus the current 9–15 day manual process, per the future-state workflow analysis</a:t>
            </a:r>
            <a:endParaRPr lang="en-US" sz="1100" dirty="0"/>
          </a:p>
        </p:txBody>
      </p:sp>
      <p:sp>
        <p:nvSpPr>
          <p:cNvPr id="30" name="Text 23"/>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31" name="Text 24"/>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600" b="1" dirty="0">
                <a:solidFill>
                  <a:srgbClr val="12355B"/>
                </a:solidFill>
                <a:latin typeface="Cambria" pitchFamily="34" charset="0"/>
                <a:ea typeface="Cambria" pitchFamily="34" charset="-122"/>
                <a:cs typeface="Cambria" pitchFamily="34" charset="-120"/>
              </a:rPr>
              <a:t>Two Scenarios, One Governance Principle</a:t>
            </a:r>
            <a:endParaRPr lang="en-US" sz="2600" dirty="0"/>
          </a:p>
        </p:txBody>
      </p:sp>
      <p:sp>
        <p:nvSpPr>
          <p:cNvPr id="4" name="Text 2"/>
          <p:cNvSpPr/>
          <p:nvPr/>
        </p:nvSpPr>
        <p:spPr>
          <a:xfrm>
            <a:off x="548640" y="1170432"/>
            <a:ext cx="7863840" cy="45720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Both scenarios run the same AI workflow — they differ only in what happens when engineering information is incomplete.</a:t>
            </a:r>
            <a:endParaRPr lang="en-US" sz="1300" dirty="0"/>
          </a:p>
        </p:txBody>
      </p:sp>
      <p:sp>
        <p:nvSpPr>
          <p:cNvPr id="5" name="Shape 3"/>
          <p:cNvSpPr/>
          <p:nvPr/>
        </p:nvSpPr>
        <p:spPr>
          <a:xfrm>
            <a:off x="548640" y="1828800"/>
            <a:ext cx="3794760" cy="2788920"/>
          </a:xfrm>
          <a:prstGeom prst="roundRect">
            <a:avLst>
              <a:gd name="adj" fmla="val 2623"/>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4800600" y="1828800"/>
            <a:ext cx="3794760" cy="2788920"/>
          </a:xfrm>
          <a:prstGeom prst="roundRect">
            <a:avLst>
              <a:gd name="adj" fmla="val 2623"/>
            </a:avLst>
          </a:prstGeom>
          <a:solidFill>
            <a:srgbClr val="FBF0E3"/>
          </a:solidFill>
          <a:ln/>
          <a:effectLst>
            <a:outerShdw blurRad="101600" dist="38100" dir="5400000" algn="bl" rotWithShape="0">
              <a:srgbClr val="0B2745">
                <a:alpha val="12000"/>
              </a:srgbClr>
            </a:outerShdw>
          </a:effectLst>
        </p:spPr>
        <p:txBody>
          <a:bodyPr/>
          <a:lstStyle/>
          <a:p>
            <a:endParaRPr/>
          </a:p>
        </p:txBody>
      </p:sp>
      <p:pic>
        <p:nvPicPr>
          <p:cNvPr id="7" name="Image 0" descr="preencoded.png"/>
          <p:cNvPicPr>
            <a:picLocks noChangeAspect="1"/>
          </p:cNvPicPr>
          <p:nvPr/>
        </p:nvPicPr>
        <p:blipFill>
          <a:blip r:embed="rId3"/>
          <a:stretch>
            <a:fillRect/>
          </a:stretch>
        </p:blipFill>
        <p:spPr>
          <a:xfrm>
            <a:off x="777240" y="2057400"/>
            <a:ext cx="457200" cy="457200"/>
          </a:xfrm>
          <a:prstGeom prst="rect">
            <a:avLst/>
          </a:prstGeom>
        </p:spPr>
      </p:pic>
      <p:sp>
        <p:nvSpPr>
          <p:cNvPr id="8" name="Text 5"/>
          <p:cNvSpPr/>
          <p:nvPr/>
        </p:nvSpPr>
        <p:spPr>
          <a:xfrm>
            <a:off x="1325880" y="2103120"/>
            <a:ext cx="2971800"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Scenario 1: Feature Release</a:t>
            </a:r>
            <a:endParaRPr lang="en-US" sz="1500" dirty="0"/>
          </a:p>
        </p:txBody>
      </p:sp>
      <p:sp>
        <p:nvSpPr>
          <p:cNvPr id="9" name="Text 6"/>
          <p:cNvSpPr/>
          <p:nvPr/>
        </p:nvSpPr>
        <p:spPr>
          <a:xfrm>
            <a:off x="777240" y="2697480"/>
            <a:ext cx="3337560" cy="1737360"/>
          </a:xfrm>
          <a:prstGeom prst="rect">
            <a:avLst/>
          </a:prstGeom>
          <a:noFill/>
          <a:ln/>
        </p:spPr>
        <p:txBody>
          <a:bodyPr wrap="square" lIns="0" tIns="0" rIns="0" bIns="0" rtlCol="0" anchor="ctr"/>
          <a:lstStyle/>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Complete engineering information in YouTrack</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AI drafts a complete, publish-ready note</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Demonstrates the automation gain</a:t>
            </a:r>
            <a:endParaRPr lang="en-US" sz="1250" dirty="0"/>
          </a:p>
        </p:txBody>
      </p:sp>
      <p:pic>
        <p:nvPicPr>
          <p:cNvPr id="10" name="Image 1" descr="preencoded.png"/>
          <p:cNvPicPr>
            <a:picLocks noChangeAspect="1"/>
          </p:cNvPicPr>
          <p:nvPr/>
        </p:nvPicPr>
        <p:blipFill>
          <a:blip r:embed="rId4"/>
          <a:stretch>
            <a:fillRect/>
          </a:stretch>
        </p:blipFill>
        <p:spPr>
          <a:xfrm>
            <a:off x="5029200" y="2057400"/>
            <a:ext cx="457200" cy="457200"/>
          </a:xfrm>
          <a:prstGeom prst="rect">
            <a:avLst/>
          </a:prstGeom>
        </p:spPr>
      </p:pic>
      <p:sp>
        <p:nvSpPr>
          <p:cNvPr id="11" name="Text 7"/>
          <p:cNvSpPr/>
          <p:nvPr/>
        </p:nvSpPr>
        <p:spPr>
          <a:xfrm>
            <a:off x="5577840" y="2103120"/>
            <a:ext cx="2971800"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Scenario 2: Mixed Release</a:t>
            </a:r>
            <a:endParaRPr lang="en-US" sz="1500" dirty="0"/>
          </a:p>
        </p:txBody>
      </p:sp>
      <p:sp>
        <p:nvSpPr>
          <p:cNvPr id="12" name="Text 8"/>
          <p:cNvSpPr/>
          <p:nvPr/>
        </p:nvSpPr>
        <p:spPr>
          <a:xfrm>
            <a:off x="5029200" y="2697480"/>
            <a:ext cx="3337560" cy="1737360"/>
          </a:xfrm>
          <a:prstGeom prst="rect">
            <a:avLst/>
          </a:prstGeom>
          <a:noFill/>
          <a:ln/>
        </p:spPr>
        <p:txBody>
          <a:bodyPr wrap="square" lIns="0" tIns="0" rIns="0" bIns="0" rtlCol="0" anchor="ctr"/>
          <a:lstStyle/>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Incomplete engineering information</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AI flags the gaps instead of inventing content</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Demonstrates the responsible-AI safeguard</a:t>
            </a:r>
            <a:endParaRPr lang="en-US" sz="1250" dirty="0"/>
          </a:p>
        </p:txBody>
      </p:sp>
      <p:sp>
        <p:nvSpPr>
          <p:cNvPr id="13" name="Text 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4" name="Text 1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500" b="1" dirty="0">
                <a:solidFill>
                  <a:srgbClr val="12355B"/>
                </a:solidFill>
                <a:latin typeface="Cambria" pitchFamily="34" charset="0"/>
                <a:ea typeface="Cambria" pitchFamily="34" charset="-122"/>
                <a:cs typeface="Cambria" pitchFamily="34" charset="-120"/>
              </a:rPr>
              <a:t>Scenario 1: Feature Release Walkthrough</a:t>
            </a:r>
            <a:endParaRPr lang="en-US" sz="2500" dirty="0"/>
          </a:p>
        </p:txBody>
      </p:sp>
      <p:sp>
        <p:nvSpPr>
          <p:cNvPr id="4" name="Text 2"/>
          <p:cNvSpPr/>
          <p:nvPr/>
        </p:nvSpPr>
        <p:spPr>
          <a:xfrm>
            <a:off x="548640" y="1170432"/>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Complete ticket information flows straight through to a human-approved draft.</a:t>
            </a:r>
            <a:endParaRPr lang="en-US" sz="1300" dirty="0"/>
          </a:p>
        </p:txBody>
      </p:sp>
      <p:sp>
        <p:nvSpPr>
          <p:cNvPr id="5" name="Shape 3"/>
          <p:cNvSpPr/>
          <p:nvPr/>
        </p:nvSpPr>
        <p:spPr>
          <a:xfrm>
            <a:off x="54864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1. Extract</a:t>
            </a:r>
            <a:endParaRPr lang="en-US" sz="1250" dirty="0"/>
          </a:p>
        </p:txBody>
      </p:sp>
      <p:sp>
        <p:nvSpPr>
          <p:cNvPr id="9" name="Text 6"/>
          <p:cNvSpPr/>
          <p:nvPr/>
        </p:nvSpPr>
        <p:spPr>
          <a:xfrm>
            <a:off x="69494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reads the YouTrack issue: title, description, and resolution notes.</a:t>
            </a:r>
            <a:endParaRPr lang="en-US" sz="1000" dirty="0"/>
          </a:p>
        </p:txBody>
      </p:sp>
      <p:sp>
        <p:nvSpPr>
          <p:cNvPr id="10" name="Shape 7"/>
          <p:cNvSpPr/>
          <p:nvPr/>
        </p:nvSpPr>
        <p:spPr>
          <a:xfrm>
            <a:off x="2404872" y="3223260"/>
            <a:ext cx="146304" cy="0"/>
          </a:xfrm>
          <a:prstGeom prst="line">
            <a:avLst/>
          </a:prstGeom>
          <a:noFill/>
          <a:ln w="19050">
            <a:solidFill>
              <a:srgbClr val="5F6B7A"/>
            </a:solidFill>
            <a:prstDash val="solid"/>
            <a:tailEnd type="triangle"/>
          </a:ln>
        </p:spPr>
        <p:txBody>
          <a:bodyPr/>
          <a:lstStyle/>
          <a:p>
            <a:endParaRPr/>
          </a:p>
        </p:txBody>
      </p:sp>
      <p:sp>
        <p:nvSpPr>
          <p:cNvPr id="11" name="Shape 8"/>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2" name="Shape 9"/>
          <p:cNvSpPr/>
          <p:nvPr/>
        </p:nvSpPr>
        <p:spPr>
          <a:xfrm>
            <a:off x="3191256" y="2020824"/>
            <a:ext cx="585216" cy="585216"/>
          </a:xfrm>
          <a:prstGeom prst="ellipse">
            <a:avLst/>
          </a:prstGeom>
          <a:solidFill>
            <a:srgbClr val="FFFFFF"/>
          </a:solidFill>
          <a:ln/>
        </p:spPr>
        <p:txBody>
          <a:bodyPr/>
          <a:lstStyle/>
          <a:p>
            <a:endParaRPr/>
          </a:p>
        </p:txBody>
      </p:sp>
      <p:pic>
        <p:nvPicPr>
          <p:cNvPr id="13"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4" name="Text 10"/>
          <p:cNvSpPr/>
          <p:nvPr/>
        </p:nvSpPr>
        <p:spPr>
          <a:xfrm>
            <a:off x="265176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2. Draft</a:t>
            </a:r>
            <a:endParaRPr lang="en-US" sz="1250" dirty="0"/>
          </a:p>
        </p:txBody>
      </p:sp>
      <p:sp>
        <p:nvSpPr>
          <p:cNvPr id="15" name="Text 11"/>
          <p:cNvSpPr/>
          <p:nvPr/>
        </p:nvSpPr>
        <p:spPr>
          <a:xfrm>
            <a:off x="270662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Skill applies the release-note style guide to produce a structured draft.</a:t>
            </a:r>
            <a:endParaRPr lang="en-US" sz="1000" dirty="0"/>
          </a:p>
        </p:txBody>
      </p:sp>
      <p:sp>
        <p:nvSpPr>
          <p:cNvPr id="16" name="Shape 12"/>
          <p:cNvSpPr/>
          <p:nvPr/>
        </p:nvSpPr>
        <p:spPr>
          <a:xfrm>
            <a:off x="4416552" y="3223260"/>
            <a:ext cx="146304" cy="0"/>
          </a:xfrm>
          <a:prstGeom prst="line">
            <a:avLst/>
          </a:prstGeom>
          <a:noFill/>
          <a:ln w="19050">
            <a:solidFill>
              <a:srgbClr val="5F6B7A"/>
            </a:solidFill>
            <a:prstDash val="solid"/>
            <a:tailEnd type="triangle"/>
          </a:ln>
        </p:spPr>
        <p:txBody>
          <a:bodyPr/>
          <a:lstStyle/>
          <a:p>
            <a:endParaRPr/>
          </a:p>
        </p:txBody>
      </p:sp>
      <p:sp>
        <p:nvSpPr>
          <p:cNvPr id="17" name="Shape 13"/>
          <p:cNvSpPr/>
          <p:nvPr/>
        </p:nvSpPr>
        <p:spPr>
          <a:xfrm>
            <a:off x="457200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8" name="Shape 14"/>
          <p:cNvSpPr/>
          <p:nvPr/>
        </p:nvSpPr>
        <p:spPr>
          <a:xfrm>
            <a:off x="5202936" y="2020824"/>
            <a:ext cx="585216" cy="585216"/>
          </a:xfrm>
          <a:prstGeom prst="ellipse">
            <a:avLst/>
          </a:prstGeom>
          <a:solidFill>
            <a:srgbClr val="FFFFFF"/>
          </a:solidFill>
          <a:ln/>
        </p:spPr>
        <p:txBody>
          <a:bodyPr/>
          <a:lstStyle/>
          <a:p>
            <a:endParaRPr/>
          </a:p>
        </p:txBody>
      </p:sp>
      <p:pic>
        <p:nvPicPr>
          <p:cNvPr id="19"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20" name="Text 15"/>
          <p:cNvSpPr/>
          <p:nvPr/>
        </p:nvSpPr>
        <p:spPr>
          <a:xfrm>
            <a:off x="466344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3. Self-Review</a:t>
            </a:r>
            <a:endParaRPr lang="en-US" sz="1250" dirty="0"/>
          </a:p>
        </p:txBody>
      </p:sp>
      <p:sp>
        <p:nvSpPr>
          <p:cNvPr id="21" name="Text 16"/>
          <p:cNvSpPr/>
          <p:nvPr/>
        </p:nvSpPr>
        <p:spPr>
          <a:xfrm>
            <a:off x="471830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checks its own draft against the source ticket for accuracy.</a:t>
            </a:r>
            <a:endParaRPr lang="en-US" sz="1000" dirty="0"/>
          </a:p>
        </p:txBody>
      </p:sp>
      <p:sp>
        <p:nvSpPr>
          <p:cNvPr id="22" name="Shape 17"/>
          <p:cNvSpPr/>
          <p:nvPr/>
        </p:nvSpPr>
        <p:spPr>
          <a:xfrm>
            <a:off x="6428232" y="3223260"/>
            <a:ext cx="146304" cy="0"/>
          </a:xfrm>
          <a:prstGeom prst="line">
            <a:avLst/>
          </a:prstGeom>
          <a:noFill/>
          <a:ln w="19050">
            <a:solidFill>
              <a:srgbClr val="5F6B7A"/>
            </a:solidFill>
            <a:prstDash val="solid"/>
            <a:tailEnd type="triangle"/>
          </a:ln>
        </p:spPr>
        <p:txBody>
          <a:bodyPr/>
          <a:lstStyle/>
          <a:p>
            <a:endParaRPr/>
          </a:p>
        </p:txBody>
      </p:sp>
      <p:sp>
        <p:nvSpPr>
          <p:cNvPr id="23" name="Shape 18"/>
          <p:cNvSpPr/>
          <p:nvPr/>
        </p:nvSpPr>
        <p:spPr>
          <a:xfrm>
            <a:off x="658368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24" name="Shape 19"/>
          <p:cNvSpPr/>
          <p:nvPr/>
        </p:nvSpPr>
        <p:spPr>
          <a:xfrm>
            <a:off x="7214616" y="2020824"/>
            <a:ext cx="585216" cy="585216"/>
          </a:xfrm>
          <a:prstGeom prst="ellipse">
            <a:avLst/>
          </a:prstGeom>
          <a:solidFill>
            <a:srgbClr val="FFFFFF"/>
          </a:solidFill>
          <a:ln/>
        </p:spPr>
        <p:txBody>
          <a:bodyPr/>
          <a:lstStyle/>
          <a:p>
            <a:endParaRPr/>
          </a:p>
        </p:txBody>
      </p:sp>
      <p:pic>
        <p:nvPicPr>
          <p:cNvPr id="25"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6" name="Text 20"/>
          <p:cNvSpPr/>
          <p:nvPr/>
        </p:nvSpPr>
        <p:spPr>
          <a:xfrm>
            <a:off x="667512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4. Human Approval</a:t>
            </a:r>
            <a:endParaRPr lang="en-US" sz="1250" dirty="0"/>
          </a:p>
        </p:txBody>
      </p:sp>
      <p:sp>
        <p:nvSpPr>
          <p:cNvPr id="27" name="Text 21"/>
          <p:cNvSpPr/>
          <p:nvPr/>
        </p:nvSpPr>
        <p:spPr>
          <a:xfrm>
            <a:off x="672998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Writer reviews, edits if needed, and gives the final sign-off.</a:t>
            </a:r>
            <a:endParaRPr lang="en-US" sz="1000" dirty="0"/>
          </a:p>
        </p:txBody>
      </p:sp>
      <p:sp>
        <p:nvSpPr>
          <p:cNvPr id="28" name="Text 22"/>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9" name="Text 23"/>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700" b="1" dirty="0">
                <a:solidFill>
                  <a:srgbClr val="12355B"/>
                </a:solidFill>
                <a:latin typeface="Cambria" pitchFamily="34" charset="0"/>
                <a:ea typeface="Cambria" pitchFamily="34" charset="-122"/>
                <a:cs typeface="Cambria" pitchFamily="34" charset="-120"/>
              </a:rPr>
              <a:t>Scenario 1 Result: Before &amp; After</a:t>
            </a:r>
            <a:endParaRPr lang="en-US" sz="2700" dirty="0"/>
          </a:p>
        </p:txBody>
      </p:sp>
      <p:sp>
        <p:nvSpPr>
          <p:cNvPr id="4" name="Shape 2"/>
          <p:cNvSpPr/>
          <p:nvPr/>
        </p:nvSpPr>
        <p:spPr>
          <a:xfrm>
            <a:off x="548640" y="1371600"/>
            <a:ext cx="3794760" cy="3246120"/>
          </a:xfrm>
          <a:prstGeom prst="roundRect">
            <a:avLst>
              <a:gd name="adj" fmla="val 2254"/>
            </a:avLst>
          </a:prstGeom>
          <a:solidFill>
            <a:srgbClr val="EEF1F3"/>
          </a:solidFill>
          <a:ln/>
        </p:spPr>
        <p:txBody>
          <a:bodyPr/>
          <a:lstStyle/>
          <a:p>
            <a:endParaRPr/>
          </a:p>
        </p:txBody>
      </p:sp>
      <p:sp>
        <p:nvSpPr>
          <p:cNvPr id="5" name="Text 3"/>
          <p:cNvSpPr/>
          <p:nvPr/>
        </p:nvSpPr>
        <p:spPr>
          <a:xfrm>
            <a:off x="777240" y="1536192"/>
            <a:ext cx="3383280" cy="320040"/>
          </a:xfrm>
          <a:prstGeom prst="rect">
            <a:avLst/>
          </a:prstGeom>
          <a:noFill/>
          <a:ln/>
        </p:spPr>
        <p:txBody>
          <a:bodyPr wrap="square" lIns="0" tIns="0" rIns="0" bIns="0" rtlCol="0" anchor="ctr"/>
          <a:lstStyle/>
          <a:p>
            <a:pPr marL="0" indent="0">
              <a:buNone/>
            </a:pPr>
            <a:r>
              <a:rPr lang="en-US" sz="1250" b="1" dirty="0">
                <a:solidFill>
                  <a:srgbClr val="5F6B7A"/>
                </a:solidFill>
                <a:latin typeface="Calibri" pitchFamily="34" charset="0"/>
                <a:ea typeface="Calibri" pitchFamily="34" charset="-122"/>
                <a:cs typeface="Calibri" pitchFamily="34" charset="-120"/>
              </a:rPr>
              <a:t>BEFORE — Raw Ticket Fragments</a:t>
            </a:r>
            <a:endParaRPr lang="en-US" sz="1250" dirty="0"/>
          </a:p>
        </p:txBody>
      </p:sp>
      <p:sp>
        <p:nvSpPr>
          <p:cNvPr id="6" name="Text 4"/>
          <p:cNvSpPr/>
          <p:nvPr/>
        </p:nvSpPr>
        <p:spPr>
          <a:xfrm>
            <a:off x="777240" y="1965960"/>
            <a:ext cx="3337560" cy="2377440"/>
          </a:xfrm>
          <a:prstGeom prst="rect">
            <a:avLst/>
          </a:prstGeom>
          <a:noFill/>
          <a:ln/>
        </p:spPr>
        <p:txBody>
          <a:bodyPr wrap="square" lIns="0" tIns="0" rIns="0" bIns="0" rtlCol="0" anchor="ctr"/>
          <a:lstStyle/>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YT-4021: bulk export button, CSV only, added retry logic</a:t>
            </a:r>
            <a:endParaRPr lang="en-US" sz="1150" dirty="0"/>
          </a:p>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Status: Resolved, no customer-facing summary written</a:t>
            </a:r>
            <a:endParaRPr lang="en-US" sz="1150" dirty="0"/>
          </a:p>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Component: Reporting module</a:t>
            </a:r>
            <a:endParaRPr lang="en-US" sz="1150" dirty="0"/>
          </a:p>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Resolution note: “fixed timeout on large exports”</a:t>
            </a:r>
            <a:endParaRPr lang="en-US" sz="1150" dirty="0"/>
          </a:p>
        </p:txBody>
      </p:sp>
      <p:sp>
        <p:nvSpPr>
          <p:cNvPr id="7" name="Shape 5"/>
          <p:cNvSpPr/>
          <p:nvPr/>
        </p:nvSpPr>
        <p:spPr>
          <a:xfrm>
            <a:off x="4800600" y="1371600"/>
            <a:ext cx="3794760" cy="3246120"/>
          </a:xfrm>
          <a:prstGeom prst="roundRect">
            <a:avLst>
              <a:gd name="adj" fmla="val 2254"/>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8" name="Text 6"/>
          <p:cNvSpPr/>
          <p:nvPr/>
        </p:nvSpPr>
        <p:spPr>
          <a:xfrm>
            <a:off x="5029200" y="1536192"/>
            <a:ext cx="3383280" cy="320040"/>
          </a:xfrm>
          <a:prstGeom prst="rect">
            <a:avLst/>
          </a:prstGeom>
          <a:noFill/>
          <a:ln/>
        </p:spPr>
        <p:txBody>
          <a:bodyPr wrap="square" lIns="0" tIns="0" rIns="0" bIns="0" rtlCol="0" anchor="ctr"/>
          <a:lstStyle/>
          <a:p>
            <a:pPr marL="0" indent="0">
              <a:buNone/>
            </a:pPr>
            <a:r>
              <a:rPr lang="en-US" sz="1250" b="1" dirty="0">
                <a:solidFill>
                  <a:srgbClr val="12355B"/>
                </a:solidFill>
                <a:latin typeface="Calibri" pitchFamily="34" charset="0"/>
                <a:ea typeface="Calibri" pitchFamily="34" charset="-122"/>
                <a:cs typeface="Calibri" pitchFamily="34" charset="-120"/>
              </a:rPr>
              <a:t>AFTER — Human-Approved Draft</a:t>
            </a:r>
            <a:endParaRPr lang="en-US" sz="1250" dirty="0"/>
          </a:p>
        </p:txBody>
      </p:sp>
      <p:sp>
        <p:nvSpPr>
          <p:cNvPr id="9" name="Text 7"/>
          <p:cNvSpPr/>
          <p:nvPr/>
        </p:nvSpPr>
        <p:spPr>
          <a:xfrm>
            <a:off x="5029200" y="1965960"/>
            <a:ext cx="3337560" cy="2377440"/>
          </a:xfrm>
          <a:prstGeom prst="rect">
            <a:avLst/>
          </a:prstGeom>
          <a:noFill/>
          <a:ln/>
        </p:spPr>
        <p:txBody>
          <a:bodyPr wrap="square" lIns="0" tIns="0" rIns="0" bIns="0" rtlCol="0" anchor="ctr"/>
          <a:lstStyle/>
          <a:p>
            <a:pPr marL="0" indent="0">
              <a:lnSpc>
                <a:spcPct val="130000"/>
              </a:lnSpc>
              <a:buNone/>
            </a:pPr>
            <a:r>
              <a:rPr lang="en-US" sz="1150" b="1" dirty="0">
                <a:solidFill>
                  <a:srgbClr val="12355B"/>
                </a:solidFill>
                <a:latin typeface="Calibri" pitchFamily="34" charset="0"/>
                <a:ea typeface="Calibri" pitchFamily="34" charset="-122"/>
                <a:cs typeface="Calibri" pitchFamily="34" charset="-120"/>
              </a:rPr>
              <a:t>Bulk Export Improvements</a:t>
            </a:r>
            <a:endParaRPr lang="en-US" sz="1150" dirty="0"/>
          </a:p>
          <a:p>
            <a:pPr marL="0" indent="0">
              <a:lnSpc>
                <a:spcPct val="130000"/>
              </a:lnSpc>
              <a:buNone/>
            </a:pPr>
            <a:r>
              <a:rPr lang="en-US" sz="1150" dirty="0">
                <a:solidFill>
                  <a:srgbClr val="1C2530"/>
                </a:solidFill>
                <a:latin typeface="Calibri" pitchFamily="34" charset="0"/>
                <a:ea typeface="Calibri" pitchFamily="34" charset="-122"/>
                <a:cs typeface="Calibri" pitchFamily="34" charset="-120"/>
              </a:rPr>
              <a:t>You can now export large reports to CSV more reliably. We fixed a timeout issue that affected bulk exports and added automatic retry logic to reduce failed downloads.</a:t>
            </a:r>
            <a:endParaRPr lang="en-US" sz="1150" dirty="0"/>
          </a:p>
          <a:p>
            <a:pPr marL="0" indent="0">
              <a:lnSpc>
                <a:spcPct val="130000"/>
              </a:lnSpc>
              <a:buNone/>
            </a:pPr>
            <a:r>
              <a:rPr lang="en-US" sz="1150" i="1" dirty="0">
                <a:solidFill>
                  <a:srgbClr val="5F6B7A"/>
                </a:solidFill>
                <a:latin typeface="Calibri" pitchFamily="34" charset="0"/>
                <a:ea typeface="Calibri" pitchFamily="34" charset="-122"/>
                <a:cs typeface="Calibri" pitchFamily="34" charset="-120"/>
              </a:rPr>
              <a:t>Component: Reporting</a:t>
            </a:r>
            <a:endParaRPr lang="en-US" sz="1150" dirty="0"/>
          </a:p>
        </p:txBody>
      </p:sp>
      <p:sp>
        <p:nvSpPr>
          <p:cNvPr id="10" name="Text 8"/>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1" name="Text 9"/>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500" b="1" dirty="0">
                <a:solidFill>
                  <a:srgbClr val="12355B"/>
                </a:solidFill>
                <a:latin typeface="Cambria" pitchFamily="34" charset="0"/>
                <a:ea typeface="Cambria" pitchFamily="34" charset="-122"/>
                <a:cs typeface="Cambria" pitchFamily="34" charset="-120"/>
              </a:rPr>
              <a:t>Scenario 2: Mixed Release Walkthrough</a:t>
            </a:r>
            <a:endParaRPr lang="en-US" sz="2500" dirty="0"/>
          </a:p>
        </p:txBody>
      </p:sp>
      <p:sp>
        <p:nvSpPr>
          <p:cNvPr id="4" name="Text 2"/>
          <p:cNvSpPr/>
          <p:nvPr/>
        </p:nvSpPr>
        <p:spPr>
          <a:xfrm>
            <a:off x="548640" y="1170432"/>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When information is incomplete, the AI flags the gap instead of guessing.</a:t>
            </a:r>
            <a:endParaRPr lang="en-US" sz="1300" dirty="0"/>
          </a:p>
        </p:txBody>
      </p:sp>
      <p:sp>
        <p:nvSpPr>
          <p:cNvPr id="5" name="Shape 3"/>
          <p:cNvSpPr/>
          <p:nvPr/>
        </p:nvSpPr>
        <p:spPr>
          <a:xfrm>
            <a:off x="54864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1. Extract</a:t>
            </a:r>
            <a:endParaRPr lang="en-US" sz="1150" dirty="0"/>
          </a:p>
        </p:txBody>
      </p:sp>
      <p:sp>
        <p:nvSpPr>
          <p:cNvPr id="9" name="Text 6"/>
          <p:cNvSpPr/>
          <p:nvPr/>
        </p:nvSpPr>
        <p:spPr>
          <a:xfrm>
            <a:off x="69494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reads the ticket — this one is missing a customer impact statement.</a:t>
            </a:r>
            <a:endParaRPr lang="en-US" sz="1000" dirty="0"/>
          </a:p>
        </p:txBody>
      </p:sp>
      <p:sp>
        <p:nvSpPr>
          <p:cNvPr id="10" name="Shape 7"/>
          <p:cNvSpPr/>
          <p:nvPr/>
        </p:nvSpPr>
        <p:spPr>
          <a:xfrm>
            <a:off x="2404872" y="3223260"/>
            <a:ext cx="146304" cy="0"/>
          </a:xfrm>
          <a:prstGeom prst="line">
            <a:avLst/>
          </a:prstGeom>
          <a:noFill/>
          <a:ln w="19050">
            <a:solidFill>
              <a:srgbClr val="5F6B7A"/>
            </a:solidFill>
            <a:prstDash val="solid"/>
            <a:tailEnd type="triangle"/>
          </a:ln>
        </p:spPr>
        <p:txBody>
          <a:bodyPr/>
          <a:lstStyle/>
          <a:p>
            <a:endParaRPr/>
          </a:p>
        </p:txBody>
      </p:sp>
      <p:sp>
        <p:nvSpPr>
          <p:cNvPr id="11" name="Shape 8"/>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2" name="Shape 9"/>
          <p:cNvSpPr/>
          <p:nvPr/>
        </p:nvSpPr>
        <p:spPr>
          <a:xfrm>
            <a:off x="3191256" y="2020824"/>
            <a:ext cx="585216" cy="585216"/>
          </a:xfrm>
          <a:prstGeom prst="ellipse">
            <a:avLst/>
          </a:prstGeom>
          <a:solidFill>
            <a:srgbClr val="FFFFFF"/>
          </a:solidFill>
          <a:ln/>
        </p:spPr>
        <p:txBody>
          <a:bodyPr/>
          <a:lstStyle/>
          <a:p>
            <a:endParaRPr/>
          </a:p>
        </p:txBody>
      </p:sp>
      <p:pic>
        <p:nvPicPr>
          <p:cNvPr id="13"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4" name="Text 10"/>
          <p:cNvSpPr/>
          <p:nvPr/>
        </p:nvSpPr>
        <p:spPr>
          <a:xfrm>
            <a:off x="265176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2. Gap Check</a:t>
            </a:r>
            <a:endParaRPr lang="en-US" sz="1150" dirty="0"/>
          </a:p>
        </p:txBody>
      </p:sp>
      <p:sp>
        <p:nvSpPr>
          <p:cNvPr id="15" name="Text 11"/>
          <p:cNvSpPr/>
          <p:nvPr/>
        </p:nvSpPr>
        <p:spPr>
          <a:xfrm>
            <a:off x="270662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compares available fields against what the style guide requires.</a:t>
            </a:r>
            <a:endParaRPr lang="en-US" sz="1000" dirty="0"/>
          </a:p>
        </p:txBody>
      </p:sp>
      <p:sp>
        <p:nvSpPr>
          <p:cNvPr id="16" name="Shape 12"/>
          <p:cNvSpPr/>
          <p:nvPr/>
        </p:nvSpPr>
        <p:spPr>
          <a:xfrm>
            <a:off x="4416552" y="3223260"/>
            <a:ext cx="146304" cy="0"/>
          </a:xfrm>
          <a:prstGeom prst="line">
            <a:avLst/>
          </a:prstGeom>
          <a:noFill/>
          <a:ln w="19050">
            <a:solidFill>
              <a:srgbClr val="5F6B7A"/>
            </a:solidFill>
            <a:prstDash val="solid"/>
            <a:tailEnd type="triangle"/>
          </a:ln>
        </p:spPr>
        <p:txBody>
          <a:bodyPr/>
          <a:lstStyle/>
          <a:p>
            <a:endParaRPr/>
          </a:p>
        </p:txBody>
      </p:sp>
      <p:sp>
        <p:nvSpPr>
          <p:cNvPr id="17" name="Shape 13"/>
          <p:cNvSpPr/>
          <p:nvPr/>
        </p:nvSpPr>
        <p:spPr>
          <a:xfrm>
            <a:off x="4572000" y="1783080"/>
            <a:ext cx="1847088" cy="2880360"/>
          </a:xfrm>
          <a:prstGeom prst="roundRect">
            <a:avLst>
              <a:gd name="adj" fmla="val 3960"/>
            </a:avLst>
          </a:prstGeom>
          <a:solidFill>
            <a:srgbClr val="FBF0E3"/>
          </a:solidFill>
          <a:ln/>
          <a:effectLst>
            <a:outerShdw blurRad="101600" dist="38100" dir="5400000" algn="bl" rotWithShape="0">
              <a:srgbClr val="0B2745">
                <a:alpha val="12000"/>
              </a:srgbClr>
            </a:outerShdw>
          </a:effectLst>
        </p:spPr>
        <p:txBody>
          <a:bodyPr/>
          <a:lstStyle/>
          <a:p>
            <a:endParaRPr/>
          </a:p>
        </p:txBody>
      </p:sp>
      <p:sp>
        <p:nvSpPr>
          <p:cNvPr id="18" name="Shape 14"/>
          <p:cNvSpPr/>
          <p:nvPr/>
        </p:nvSpPr>
        <p:spPr>
          <a:xfrm>
            <a:off x="5202936" y="2020824"/>
            <a:ext cx="585216" cy="585216"/>
          </a:xfrm>
          <a:prstGeom prst="ellipse">
            <a:avLst/>
          </a:prstGeom>
          <a:solidFill>
            <a:srgbClr val="FFFFFF"/>
          </a:solidFill>
          <a:ln/>
        </p:spPr>
        <p:txBody>
          <a:bodyPr/>
          <a:lstStyle/>
          <a:p>
            <a:endParaRPr/>
          </a:p>
        </p:txBody>
      </p:sp>
      <p:pic>
        <p:nvPicPr>
          <p:cNvPr id="19"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20" name="Text 15"/>
          <p:cNvSpPr/>
          <p:nvPr/>
        </p:nvSpPr>
        <p:spPr>
          <a:xfrm>
            <a:off x="466344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3. Flag, Don't Fabricate</a:t>
            </a:r>
            <a:endParaRPr lang="en-US" sz="1150" dirty="0"/>
          </a:p>
        </p:txBody>
      </p:sp>
      <p:sp>
        <p:nvSpPr>
          <p:cNvPr id="21" name="Text 16"/>
          <p:cNvSpPr/>
          <p:nvPr/>
        </p:nvSpPr>
        <p:spPr>
          <a:xfrm>
            <a:off x="471830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stops and surfaces exactly what is missing, with no invented content.</a:t>
            </a:r>
            <a:endParaRPr lang="en-US" sz="1000" dirty="0"/>
          </a:p>
        </p:txBody>
      </p:sp>
      <p:sp>
        <p:nvSpPr>
          <p:cNvPr id="22" name="Shape 17"/>
          <p:cNvSpPr/>
          <p:nvPr/>
        </p:nvSpPr>
        <p:spPr>
          <a:xfrm>
            <a:off x="6428232" y="3223260"/>
            <a:ext cx="146304" cy="0"/>
          </a:xfrm>
          <a:prstGeom prst="line">
            <a:avLst/>
          </a:prstGeom>
          <a:noFill/>
          <a:ln w="19050">
            <a:solidFill>
              <a:srgbClr val="5F6B7A"/>
            </a:solidFill>
            <a:prstDash val="solid"/>
            <a:tailEnd type="triangle"/>
          </a:ln>
        </p:spPr>
        <p:txBody>
          <a:bodyPr/>
          <a:lstStyle/>
          <a:p>
            <a:endParaRPr/>
          </a:p>
        </p:txBody>
      </p:sp>
      <p:sp>
        <p:nvSpPr>
          <p:cNvPr id="23" name="Shape 18"/>
          <p:cNvSpPr/>
          <p:nvPr/>
        </p:nvSpPr>
        <p:spPr>
          <a:xfrm>
            <a:off x="658368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4" name="Shape 19"/>
          <p:cNvSpPr/>
          <p:nvPr/>
        </p:nvSpPr>
        <p:spPr>
          <a:xfrm>
            <a:off x="7214616" y="2020824"/>
            <a:ext cx="585216" cy="585216"/>
          </a:xfrm>
          <a:prstGeom prst="ellipse">
            <a:avLst/>
          </a:prstGeom>
          <a:solidFill>
            <a:srgbClr val="FFFFFF"/>
          </a:solidFill>
          <a:ln/>
        </p:spPr>
        <p:txBody>
          <a:bodyPr/>
          <a:lstStyle/>
          <a:p>
            <a:endParaRPr/>
          </a:p>
        </p:txBody>
      </p:sp>
      <p:pic>
        <p:nvPicPr>
          <p:cNvPr id="25"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6" name="Text 20"/>
          <p:cNvSpPr/>
          <p:nvPr/>
        </p:nvSpPr>
        <p:spPr>
          <a:xfrm>
            <a:off x="667512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4. Human Follow-Up</a:t>
            </a:r>
            <a:endParaRPr lang="en-US" sz="1150" dirty="0"/>
          </a:p>
        </p:txBody>
      </p:sp>
      <p:sp>
        <p:nvSpPr>
          <p:cNvPr id="27" name="Text 21"/>
          <p:cNvSpPr/>
          <p:nvPr/>
        </p:nvSpPr>
        <p:spPr>
          <a:xfrm>
            <a:off x="672998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Writer supplies the missing detail; only then does drafting continue.</a:t>
            </a:r>
            <a:endParaRPr lang="en-US" sz="1000" dirty="0"/>
          </a:p>
        </p:txBody>
      </p:sp>
      <p:sp>
        <p:nvSpPr>
          <p:cNvPr id="28" name="Text 22"/>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9" name="Text 23"/>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Scenario 2 Result: The Gap-Flag in Action</a:t>
            </a:r>
            <a:endParaRPr lang="en-US" sz="2400" dirty="0"/>
          </a:p>
        </p:txBody>
      </p:sp>
      <p:sp>
        <p:nvSpPr>
          <p:cNvPr id="4" name="Shape 2"/>
          <p:cNvSpPr/>
          <p:nvPr/>
        </p:nvSpPr>
        <p:spPr>
          <a:xfrm>
            <a:off x="548640" y="1371600"/>
            <a:ext cx="8046720" cy="1417320"/>
          </a:xfrm>
          <a:prstGeom prst="roundRect">
            <a:avLst>
              <a:gd name="adj" fmla="val 5161"/>
            </a:avLst>
          </a:prstGeom>
          <a:solidFill>
            <a:srgbClr val="FBF0E3"/>
          </a:solidFill>
          <a:ln/>
          <a:effectLst>
            <a:outerShdw blurRad="101600" dist="38100" dir="5400000" algn="bl" rotWithShape="0">
              <a:srgbClr val="0B2745">
                <a:alpha val="12000"/>
              </a:srgbClr>
            </a:outerShdw>
          </a:effectLst>
        </p:spPr>
        <p:txBody>
          <a:bodyPr/>
          <a:lstStyle/>
          <a:p>
            <a:endParaRPr/>
          </a:p>
        </p:txBody>
      </p:sp>
      <p:pic>
        <p:nvPicPr>
          <p:cNvPr id="5" name="Image 0" descr="preencoded.png"/>
          <p:cNvPicPr>
            <a:picLocks noChangeAspect="1"/>
          </p:cNvPicPr>
          <p:nvPr/>
        </p:nvPicPr>
        <p:blipFill>
          <a:blip r:embed="rId3"/>
          <a:stretch>
            <a:fillRect/>
          </a:stretch>
        </p:blipFill>
        <p:spPr>
          <a:xfrm>
            <a:off x="822960" y="1691640"/>
            <a:ext cx="502920" cy="502920"/>
          </a:xfrm>
          <a:prstGeom prst="rect">
            <a:avLst/>
          </a:prstGeom>
        </p:spPr>
      </p:pic>
      <p:sp>
        <p:nvSpPr>
          <p:cNvPr id="6" name="Text 3"/>
          <p:cNvSpPr/>
          <p:nvPr/>
        </p:nvSpPr>
        <p:spPr>
          <a:xfrm>
            <a:off x="1508760" y="1572768"/>
            <a:ext cx="6858000" cy="1005840"/>
          </a:xfrm>
          <a:prstGeom prst="rect">
            <a:avLst/>
          </a:prstGeom>
          <a:noFill/>
          <a:ln/>
        </p:spPr>
        <p:txBody>
          <a:bodyPr wrap="square" lIns="0" tIns="0" rIns="0" bIns="0" rtlCol="0" anchor="ctr"/>
          <a:lstStyle/>
          <a:p>
            <a:pPr marL="0" indent="0">
              <a:lnSpc>
                <a:spcPct val="130000"/>
              </a:lnSpc>
              <a:buNone/>
            </a:pPr>
            <a:r>
              <a:rPr lang="en-US" sz="1300" b="1" dirty="0">
                <a:solidFill>
                  <a:srgbClr val="12355B"/>
                </a:solidFill>
                <a:latin typeface="Calibri" pitchFamily="34" charset="0"/>
                <a:ea typeface="Calibri" pitchFamily="34" charset="-122"/>
                <a:cs typeface="Calibri" pitchFamily="34" charset="-120"/>
              </a:rPr>
              <a:t>Gap Detected — Cannot Complete Draft</a:t>
            </a:r>
            <a:endParaRPr lang="en-US" sz="1300" dirty="0"/>
          </a:p>
          <a:p>
            <a:pPr marL="0" indent="0">
              <a:lnSpc>
                <a:spcPct val="130000"/>
              </a:lnSpc>
              <a:buNone/>
            </a:pPr>
            <a:r>
              <a:rPr lang="en-US" sz="1300" dirty="0">
                <a:solidFill>
                  <a:srgbClr val="1C2530"/>
                </a:solidFill>
                <a:latin typeface="Calibri" pitchFamily="34" charset="0"/>
                <a:ea typeface="Calibri" pitchFamily="34" charset="-122"/>
                <a:cs typeface="Calibri" pitchFamily="34" charset="-120"/>
              </a:rPr>
              <a:t>Missing: customer impact statement for YT-4108 (Reporting module). Please provide before I continue drafting.</a:t>
            </a:r>
            <a:endParaRPr lang="en-US" sz="1300" dirty="0"/>
          </a:p>
        </p:txBody>
      </p:sp>
      <p:sp>
        <p:nvSpPr>
          <p:cNvPr id="7" name="Shape 4"/>
          <p:cNvSpPr/>
          <p:nvPr/>
        </p:nvSpPr>
        <p:spPr>
          <a:xfrm>
            <a:off x="548640" y="3063240"/>
            <a:ext cx="2606040" cy="1417320"/>
          </a:xfrm>
          <a:prstGeom prst="roundRect">
            <a:avLst>
              <a:gd name="adj" fmla="val 5161"/>
            </a:avLst>
          </a:prstGeom>
          <a:solidFill>
            <a:srgbClr val="EEF1F3"/>
          </a:solidFill>
          <a:ln/>
        </p:spPr>
        <p:txBody>
          <a:bodyPr/>
          <a:lstStyle/>
          <a:p>
            <a:endParaRPr/>
          </a:p>
        </p:txBody>
      </p:sp>
      <p:pic>
        <p:nvPicPr>
          <p:cNvPr id="8" name="Image 1" descr="preencoded.png"/>
          <p:cNvPicPr>
            <a:picLocks noChangeAspect="1"/>
          </p:cNvPicPr>
          <p:nvPr/>
        </p:nvPicPr>
        <p:blipFill>
          <a:blip r:embed="rId4"/>
          <a:stretch>
            <a:fillRect/>
          </a:stretch>
        </p:blipFill>
        <p:spPr>
          <a:xfrm>
            <a:off x="731520" y="3264408"/>
            <a:ext cx="365760" cy="365760"/>
          </a:xfrm>
          <a:prstGeom prst="rect">
            <a:avLst/>
          </a:prstGeom>
        </p:spPr>
      </p:pic>
      <p:sp>
        <p:nvSpPr>
          <p:cNvPr id="9" name="Text 5"/>
          <p:cNvSpPr/>
          <p:nvPr/>
        </p:nvSpPr>
        <p:spPr>
          <a:xfrm>
            <a:off x="731520" y="3721608"/>
            <a:ext cx="2240280" cy="685800"/>
          </a:xfrm>
          <a:prstGeom prst="rect">
            <a:avLst/>
          </a:prstGeom>
          <a:noFill/>
          <a:ln/>
        </p:spPr>
        <p:txBody>
          <a:bodyPr wrap="square" lIns="0" tIns="0" rIns="0" bIns="0" rtlCol="0" anchor="ctr"/>
          <a:lstStyle/>
          <a:p>
            <a:pPr marL="0" indent="0">
              <a:lnSpc>
                <a:spcPct val="120000"/>
              </a:lnSpc>
              <a:buNone/>
            </a:pPr>
            <a:r>
              <a:rPr lang="en-US" sz="1150" dirty="0">
                <a:solidFill>
                  <a:srgbClr val="1C2530"/>
                </a:solidFill>
                <a:latin typeface="Calibri" pitchFamily="34" charset="0"/>
                <a:ea typeface="Calibri" pitchFamily="34" charset="-122"/>
                <a:cs typeface="Calibri" pitchFamily="34" charset="-120"/>
              </a:rPr>
              <a:t>No content is invented to fill the silence</a:t>
            </a:r>
            <a:endParaRPr lang="en-US" sz="1150" dirty="0"/>
          </a:p>
        </p:txBody>
      </p:sp>
      <p:sp>
        <p:nvSpPr>
          <p:cNvPr id="10" name="Shape 6"/>
          <p:cNvSpPr/>
          <p:nvPr/>
        </p:nvSpPr>
        <p:spPr>
          <a:xfrm>
            <a:off x="3291840" y="3063240"/>
            <a:ext cx="2606040" cy="1417320"/>
          </a:xfrm>
          <a:prstGeom prst="roundRect">
            <a:avLst>
              <a:gd name="adj" fmla="val 5161"/>
            </a:avLst>
          </a:prstGeom>
          <a:solidFill>
            <a:srgbClr val="EEF1F3"/>
          </a:solidFill>
          <a:ln/>
        </p:spPr>
        <p:txBody>
          <a:bodyPr/>
          <a:lstStyle/>
          <a:p>
            <a:endParaRPr/>
          </a:p>
        </p:txBody>
      </p:sp>
      <p:pic>
        <p:nvPicPr>
          <p:cNvPr id="11" name="Image 2" descr="preencoded.png"/>
          <p:cNvPicPr>
            <a:picLocks noChangeAspect="1"/>
          </p:cNvPicPr>
          <p:nvPr/>
        </p:nvPicPr>
        <p:blipFill>
          <a:blip r:embed="rId5"/>
          <a:stretch>
            <a:fillRect/>
          </a:stretch>
        </p:blipFill>
        <p:spPr>
          <a:xfrm>
            <a:off x="3474720" y="3264408"/>
            <a:ext cx="365760" cy="365760"/>
          </a:xfrm>
          <a:prstGeom prst="rect">
            <a:avLst/>
          </a:prstGeom>
        </p:spPr>
      </p:pic>
      <p:sp>
        <p:nvSpPr>
          <p:cNvPr id="12" name="Text 7"/>
          <p:cNvSpPr/>
          <p:nvPr/>
        </p:nvSpPr>
        <p:spPr>
          <a:xfrm>
            <a:off x="3474720" y="3721608"/>
            <a:ext cx="2240280" cy="685800"/>
          </a:xfrm>
          <a:prstGeom prst="rect">
            <a:avLst/>
          </a:prstGeom>
          <a:noFill/>
          <a:ln/>
        </p:spPr>
        <p:txBody>
          <a:bodyPr wrap="square" lIns="0" tIns="0" rIns="0" bIns="0" rtlCol="0" anchor="ctr"/>
          <a:lstStyle/>
          <a:p>
            <a:pPr marL="0" indent="0">
              <a:lnSpc>
                <a:spcPct val="120000"/>
              </a:lnSpc>
              <a:buNone/>
            </a:pPr>
            <a:r>
              <a:rPr lang="en-US" sz="1150" dirty="0">
                <a:solidFill>
                  <a:srgbClr val="1C2530"/>
                </a:solidFill>
                <a:latin typeface="Calibri" pitchFamily="34" charset="0"/>
                <a:ea typeface="Calibri" pitchFamily="34" charset="-122"/>
                <a:cs typeface="Calibri" pitchFamily="34" charset="-120"/>
              </a:rPr>
              <a:t>Draft pauses and routes back to the writer</a:t>
            </a:r>
            <a:endParaRPr lang="en-US" sz="1150" dirty="0"/>
          </a:p>
        </p:txBody>
      </p:sp>
      <p:sp>
        <p:nvSpPr>
          <p:cNvPr id="13" name="Shape 8"/>
          <p:cNvSpPr/>
          <p:nvPr/>
        </p:nvSpPr>
        <p:spPr>
          <a:xfrm>
            <a:off x="6035040" y="3063240"/>
            <a:ext cx="2606040" cy="1417320"/>
          </a:xfrm>
          <a:prstGeom prst="roundRect">
            <a:avLst>
              <a:gd name="adj" fmla="val 5161"/>
            </a:avLst>
          </a:prstGeom>
          <a:solidFill>
            <a:srgbClr val="EEF1F3"/>
          </a:solidFill>
          <a:ln/>
        </p:spPr>
        <p:txBody>
          <a:bodyPr/>
          <a:lstStyle/>
          <a:p>
            <a:endParaRPr/>
          </a:p>
        </p:txBody>
      </p:sp>
      <p:pic>
        <p:nvPicPr>
          <p:cNvPr id="14" name="Image 3" descr="preencoded.png"/>
          <p:cNvPicPr>
            <a:picLocks noChangeAspect="1"/>
          </p:cNvPicPr>
          <p:nvPr/>
        </p:nvPicPr>
        <p:blipFill>
          <a:blip r:embed="rId6"/>
          <a:stretch>
            <a:fillRect/>
          </a:stretch>
        </p:blipFill>
        <p:spPr>
          <a:xfrm>
            <a:off x="6217920" y="3264408"/>
            <a:ext cx="365760" cy="365760"/>
          </a:xfrm>
          <a:prstGeom prst="rect">
            <a:avLst/>
          </a:prstGeom>
        </p:spPr>
      </p:pic>
      <p:sp>
        <p:nvSpPr>
          <p:cNvPr id="15" name="Text 9"/>
          <p:cNvSpPr/>
          <p:nvPr/>
        </p:nvSpPr>
        <p:spPr>
          <a:xfrm>
            <a:off x="6217920" y="3721608"/>
            <a:ext cx="2240280" cy="685800"/>
          </a:xfrm>
          <a:prstGeom prst="rect">
            <a:avLst/>
          </a:prstGeom>
          <a:noFill/>
          <a:ln/>
        </p:spPr>
        <p:txBody>
          <a:bodyPr wrap="square" lIns="0" tIns="0" rIns="0" bIns="0" rtlCol="0" anchor="ctr"/>
          <a:lstStyle/>
          <a:p>
            <a:pPr marL="0" indent="0">
              <a:lnSpc>
                <a:spcPct val="120000"/>
              </a:lnSpc>
              <a:buNone/>
            </a:pPr>
            <a:r>
              <a:rPr lang="en-US" sz="1150" dirty="0">
                <a:solidFill>
                  <a:srgbClr val="1C2530"/>
                </a:solidFill>
                <a:latin typeface="Calibri" pitchFamily="34" charset="0"/>
                <a:ea typeface="Calibri" pitchFamily="34" charset="-122"/>
                <a:cs typeface="Calibri" pitchFamily="34" charset="-120"/>
              </a:rPr>
              <a:t>Resumes only once the human supplies the fact</a:t>
            </a:r>
            <a:endParaRPr lang="en-US" sz="1150" dirty="0"/>
          </a:p>
        </p:txBody>
      </p:sp>
      <p:sp>
        <p:nvSpPr>
          <p:cNvPr id="16" name="Text 10"/>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7" name="Text 11"/>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6858000" cy="169277"/>
          </a:xfrm>
          <a:prstGeom prst="rect">
            <a:avLst/>
          </a:prstGeom>
          <a:noFill/>
        </p:spPr>
        <p:txBody>
          <a:bodyPr wrap="square" lIns="0" tIns="0" rIns="0" bIns="0">
            <a:spAutoFit/>
          </a:bodyPr>
          <a:lstStyle/>
          <a:p>
            <a:pPr algn="l"/>
            <a:r>
              <a:rPr sz="1100" b="1" i="0" dirty="0">
                <a:solidFill>
                  <a:srgbClr val="2A9D8F"/>
                </a:solidFill>
                <a:latin typeface="Calibri"/>
              </a:rPr>
              <a:t>SECTION 2  · DEMONSTRATION</a:t>
            </a:r>
          </a:p>
        </p:txBody>
      </p:sp>
      <p:sp>
        <p:nvSpPr>
          <p:cNvPr id="3" name="TextBox 2"/>
          <p:cNvSpPr txBox="1"/>
          <p:nvPr/>
        </p:nvSpPr>
        <p:spPr>
          <a:xfrm>
            <a:off x="548640" y="594360"/>
            <a:ext cx="8046720" cy="594360"/>
          </a:xfrm>
          <a:prstGeom prst="rect">
            <a:avLst/>
          </a:prstGeom>
          <a:noFill/>
        </p:spPr>
        <p:txBody>
          <a:bodyPr wrap="square" lIns="0" tIns="0" rIns="0" bIns="0">
            <a:spAutoFit/>
          </a:bodyPr>
          <a:lstStyle/>
          <a:p>
            <a:pPr algn="l"/>
            <a:r>
              <a:rPr sz="2400" b="1" i="0">
                <a:solidFill>
                  <a:srgbClr val="12355B"/>
                </a:solidFill>
                <a:latin typeface="Cambria"/>
              </a:rPr>
              <a:t>Watch It Run: Both Scenarios End to End</a:t>
            </a:r>
          </a:p>
        </p:txBody>
      </p:sp>
      <p:sp>
        <p:nvSpPr>
          <p:cNvPr id="4" name="TextBox 3"/>
          <p:cNvSpPr txBox="1"/>
          <p:nvPr/>
        </p:nvSpPr>
        <p:spPr>
          <a:xfrm>
            <a:off x="548640" y="1161288"/>
            <a:ext cx="7863840" cy="365760"/>
          </a:xfrm>
          <a:prstGeom prst="rect">
            <a:avLst/>
          </a:prstGeom>
          <a:noFill/>
        </p:spPr>
        <p:txBody>
          <a:bodyPr wrap="square" lIns="0" tIns="0" rIns="0" bIns="0">
            <a:spAutoFit/>
          </a:bodyPr>
          <a:lstStyle/>
          <a:p>
            <a:pPr algn="l"/>
            <a:r>
              <a:rPr sz="1300" b="0" i="0">
                <a:solidFill>
                  <a:srgbClr val="5F6B7A"/>
                </a:solidFill>
                <a:latin typeface="Calibri"/>
              </a:rPr>
              <a:t>A recorded run of the interactive workflow walkthrough — Feature Release, then Mixed Release.</a:t>
            </a:r>
          </a:p>
        </p:txBody>
      </p:sp>
      <p:pic>
        <p:nvPicPr>
          <p:cNvPr id="5" name="walkthrough.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411730" y="1691640"/>
            <a:ext cx="4320540" cy="2880360"/>
          </a:xfrm>
          <a:prstGeom prst="rect">
            <a:avLst/>
          </a:prstGeom>
        </p:spPr>
      </p:pic>
      <p:sp>
        <p:nvSpPr>
          <p:cNvPr id="6" name="TextBox 5"/>
          <p:cNvSpPr txBox="1"/>
          <p:nvPr/>
        </p:nvSpPr>
        <p:spPr>
          <a:xfrm>
            <a:off x="457200" y="4846320"/>
            <a:ext cx="5486400" cy="228600"/>
          </a:xfrm>
          <a:prstGeom prst="rect">
            <a:avLst/>
          </a:prstGeom>
          <a:noFill/>
        </p:spPr>
        <p:txBody>
          <a:bodyPr wrap="square" lIns="0" tIns="0" rIns="0" bIns="0">
            <a:spAutoFit/>
          </a:bodyPr>
          <a:lstStyle/>
          <a:p>
            <a:pPr algn="l"/>
            <a:r>
              <a:rPr sz="900" b="0" i="0">
                <a:solidFill>
                  <a:srgbClr val="70798A"/>
                </a:solidFill>
                <a:latin typeface="Calibri"/>
              </a:rPr>
              <a:t>AI-Assisted Documentation Workflow Automation</a:t>
            </a:r>
          </a:p>
        </p:txBody>
      </p:sp>
      <p:sp>
        <p:nvSpPr>
          <p:cNvPr id="7" name="TextBox 6"/>
          <p:cNvSpPr txBox="1"/>
          <p:nvPr/>
        </p:nvSpPr>
        <p:spPr>
          <a:xfrm>
            <a:off x="8412480" y="4846320"/>
            <a:ext cx="274320" cy="228600"/>
          </a:xfrm>
          <a:prstGeom prst="rect">
            <a:avLst/>
          </a:prstGeom>
          <a:noFill/>
        </p:spPr>
        <p:txBody>
          <a:bodyPr wrap="square" lIns="0" tIns="0" rIns="0" bIns="0">
            <a:spAutoFit/>
          </a:bodyPr>
          <a:lstStyle/>
          <a:p>
            <a:pPr algn="r"/>
            <a:r>
              <a:rPr sz="900" b="0" i="0">
                <a:solidFill>
                  <a:srgbClr val="70798A"/>
                </a:solidFill>
                <a:latin typeface="Calibri"/>
              </a:rPr>
              <a:t>12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3  ·  VALIDATION &amp; ROADMAP</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500" b="1" dirty="0">
                <a:solidFill>
                  <a:srgbClr val="12355B"/>
                </a:solidFill>
                <a:latin typeface="Cambria" pitchFamily="34" charset="0"/>
                <a:ea typeface="Cambria" pitchFamily="34" charset="-122"/>
                <a:cs typeface="Cambria" pitchFamily="34" charset="-120"/>
              </a:rPr>
              <a:t>Responsible AI: Four Governance Principles</a:t>
            </a:r>
            <a:endParaRPr lang="en-US" sz="2500" dirty="0"/>
          </a:p>
        </p:txBody>
      </p:sp>
      <p:sp>
        <p:nvSpPr>
          <p:cNvPr id="4" name="Text 2"/>
          <p:cNvSpPr/>
          <p:nvPr/>
        </p:nvSpPr>
        <p:spPr>
          <a:xfrm>
            <a:off x="548640" y="1161288"/>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Every principle traces back to one idea: AI assists, humans decide.</a:t>
            </a:r>
            <a:endParaRPr lang="en-US" sz="1300" dirty="0"/>
          </a:p>
        </p:txBody>
      </p:sp>
      <p:sp>
        <p:nvSpPr>
          <p:cNvPr id="5" name="Shape 3"/>
          <p:cNvSpPr/>
          <p:nvPr/>
        </p:nvSpPr>
        <p:spPr>
          <a:xfrm>
            <a:off x="54864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Final Approval is Human</a:t>
            </a:r>
            <a:endParaRPr lang="en-US" sz="1200" dirty="0"/>
          </a:p>
        </p:txBody>
      </p:sp>
      <p:sp>
        <p:nvSpPr>
          <p:cNvPr id="9" name="Text 6"/>
          <p:cNvSpPr/>
          <p:nvPr/>
        </p:nvSpPr>
        <p:spPr>
          <a:xfrm>
            <a:off x="69494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No draft reaches customers without explicit sign-off from a person.</a:t>
            </a:r>
            <a:endParaRPr lang="en-US" sz="1020" dirty="0"/>
          </a:p>
        </p:txBody>
      </p:sp>
      <p:sp>
        <p:nvSpPr>
          <p:cNvPr id="10" name="Shape 7"/>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Shape 8"/>
          <p:cNvSpPr/>
          <p:nvPr/>
        </p:nvSpPr>
        <p:spPr>
          <a:xfrm>
            <a:off x="3191256" y="2020824"/>
            <a:ext cx="585216" cy="585216"/>
          </a:xfrm>
          <a:prstGeom prst="ellipse">
            <a:avLst/>
          </a:prstGeom>
          <a:solidFill>
            <a:srgbClr val="FFFFFF"/>
          </a:solidFill>
          <a:ln/>
        </p:spPr>
        <p:txBody>
          <a:bodyPr/>
          <a:lstStyle/>
          <a:p>
            <a:endParaRPr/>
          </a:p>
        </p:txBody>
      </p:sp>
      <p:pic>
        <p:nvPicPr>
          <p:cNvPr id="12"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3" name="Text 9"/>
          <p:cNvSpPr/>
          <p:nvPr/>
        </p:nvSpPr>
        <p:spPr>
          <a:xfrm>
            <a:off x="265176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No Fabrication</a:t>
            </a:r>
            <a:endParaRPr lang="en-US" sz="1200" dirty="0"/>
          </a:p>
        </p:txBody>
      </p:sp>
      <p:sp>
        <p:nvSpPr>
          <p:cNvPr id="14" name="Text 10"/>
          <p:cNvSpPr/>
          <p:nvPr/>
        </p:nvSpPr>
        <p:spPr>
          <a:xfrm>
            <a:off x="270662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When information is missing, the AI flags it — it never invents detail.</a:t>
            </a:r>
            <a:endParaRPr lang="en-US" sz="1020" dirty="0"/>
          </a:p>
        </p:txBody>
      </p:sp>
      <p:sp>
        <p:nvSpPr>
          <p:cNvPr id="15" name="Shape 11"/>
          <p:cNvSpPr/>
          <p:nvPr/>
        </p:nvSpPr>
        <p:spPr>
          <a:xfrm>
            <a:off x="457200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16" name="Shape 12"/>
          <p:cNvSpPr/>
          <p:nvPr/>
        </p:nvSpPr>
        <p:spPr>
          <a:xfrm>
            <a:off x="5202936" y="2020824"/>
            <a:ext cx="585216" cy="585216"/>
          </a:xfrm>
          <a:prstGeom prst="ellipse">
            <a:avLst/>
          </a:prstGeom>
          <a:solidFill>
            <a:srgbClr val="FFFFFF"/>
          </a:solidFill>
          <a:ln/>
        </p:spPr>
        <p:txBody>
          <a:bodyPr/>
          <a:lstStyle/>
          <a:p>
            <a:endParaRPr/>
          </a:p>
        </p:txBody>
      </p:sp>
      <p:pic>
        <p:nvPicPr>
          <p:cNvPr id="17"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18" name="Text 13"/>
          <p:cNvSpPr/>
          <p:nvPr/>
        </p:nvSpPr>
        <p:spPr>
          <a:xfrm>
            <a:off x="466344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Transparent Reasoning</a:t>
            </a:r>
            <a:endParaRPr lang="en-US" sz="1200" dirty="0"/>
          </a:p>
        </p:txBody>
      </p:sp>
      <p:sp>
        <p:nvSpPr>
          <p:cNvPr id="19" name="Text 14"/>
          <p:cNvSpPr/>
          <p:nvPr/>
        </p:nvSpPr>
        <p:spPr>
          <a:xfrm>
            <a:off x="471830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Every AI output can be traced back to the source ticket it drew from.</a:t>
            </a:r>
            <a:endParaRPr lang="en-US" sz="1020" dirty="0"/>
          </a:p>
        </p:txBody>
      </p:sp>
      <p:sp>
        <p:nvSpPr>
          <p:cNvPr id="20" name="Shape 15"/>
          <p:cNvSpPr/>
          <p:nvPr/>
        </p:nvSpPr>
        <p:spPr>
          <a:xfrm>
            <a:off x="658368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1" name="Shape 16"/>
          <p:cNvSpPr/>
          <p:nvPr/>
        </p:nvSpPr>
        <p:spPr>
          <a:xfrm>
            <a:off x="7214616" y="2020824"/>
            <a:ext cx="585216" cy="585216"/>
          </a:xfrm>
          <a:prstGeom prst="ellipse">
            <a:avLst/>
          </a:prstGeom>
          <a:solidFill>
            <a:srgbClr val="FFFFFF"/>
          </a:solidFill>
          <a:ln/>
        </p:spPr>
        <p:txBody>
          <a:bodyPr/>
          <a:lstStyle/>
          <a:p>
            <a:endParaRPr/>
          </a:p>
        </p:txBody>
      </p:sp>
      <p:pic>
        <p:nvPicPr>
          <p:cNvPr id="22"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3" name="Text 17"/>
          <p:cNvSpPr/>
          <p:nvPr/>
        </p:nvSpPr>
        <p:spPr>
          <a:xfrm>
            <a:off x="667512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Auditable Trail</a:t>
            </a:r>
            <a:endParaRPr lang="en-US" sz="1200" dirty="0"/>
          </a:p>
        </p:txBody>
      </p:sp>
      <p:sp>
        <p:nvSpPr>
          <p:cNvPr id="24" name="Text 18"/>
          <p:cNvSpPr/>
          <p:nvPr/>
        </p:nvSpPr>
        <p:spPr>
          <a:xfrm>
            <a:off x="672998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Each draft, edit, and approval is logged for review after the fact.</a:t>
            </a:r>
            <a:endParaRPr lang="en-US" sz="1020" dirty="0"/>
          </a:p>
        </p:txBody>
      </p:sp>
      <p:sp>
        <p:nvSpPr>
          <p:cNvPr id="25"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6" name="Text 2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3  ·  VALIDATION &amp; ROADMAP</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600" b="1" dirty="0">
                <a:solidFill>
                  <a:srgbClr val="12355B"/>
                </a:solidFill>
                <a:latin typeface="Cambria" pitchFamily="34" charset="0"/>
                <a:ea typeface="Cambria" pitchFamily="34" charset="-122"/>
                <a:cs typeface="Cambria" pitchFamily="34" charset="-120"/>
              </a:rPr>
              <a:t>What This Proof of Concept Validated</a:t>
            </a:r>
            <a:endParaRPr lang="en-US" sz="2600" dirty="0"/>
          </a:p>
        </p:txBody>
      </p:sp>
      <p:pic>
        <p:nvPicPr>
          <p:cNvPr id="4" name="Image 0" descr="preencoded.png"/>
          <p:cNvPicPr>
            <a:picLocks noChangeAspect="1"/>
          </p:cNvPicPr>
          <p:nvPr/>
        </p:nvPicPr>
        <p:blipFill>
          <a:blip r:embed="rId3"/>
          <a:stretch>
            <a:fillRect/>
          </a:stretch>
        </p:blipFill>
        <p:spPr>
          <a:xfrm>
            <a:off x="548640" y="1746504"/>
            <a:ext cx="274320" cy="274320"/>
          </a:xfrm>
          <a:prstGeom prst="rect">
            <a:avLst/>
          </a:prstGeom>
        </p:spPr>
      </p:pic>
      <p:sp>
        <p:nvSpPr>
          <p:cNvPr id="5" name="Text 2"/>
          <p:cNvSpPr/>
          <p:nvPr/>
        </p:nvSpPr>
        <p:spPr>
          <a:xfrm>
            <a:off x="932688" y="1691640"/>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End-to-end workflow automation, ticket to draft</a:t>
            </a:r>
            <a:endParaRPr lang="en-US" sz="1250" dirty="0"/>
          </a:p>
        </p:txBody>
      </p:sp>
      <p:pic>
        <p:nvPicPr>
          <p:cNvPr id="6" name="Image 1" descr="preencoded.png"/>
          <p:cNvPicPr>
            <a:picLocks noChangeAspect="1"/>
          </p:cNvPicPr>
          <p:nvPr/>
        </p:nvPicPr>
        <p:blipFill>
          <a:blip r:embed="rId3"/>
          <a:stretch>
            <a:fillRect/>
          </a:stretch>
        </p:blipFill>
        <p:spPr>
          <a:xfrm>
            <a:off x="548640" y="2404872"/>
            <a:ext cx="274320" cy="274320"/>
          </a:xfrm>
          <a:prstGeom prst="rect">
            <a:avLst/>
          </a:prstGeom>
        </p:spPr>
      </p:pic>
      <p:sp>
        <p:nvSpPr>
          <p:cNvPr id="7" name="Text 3"/>
          <p:cNvSpPr/>
          <p:nvPr/>
        </p:nvSpPr>
        <p:spPr>
          <a:xfrm>
            <a:off x="932688" y="2350008"/>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AI-assisted information extraction from YouTrack</a:t>
            </a:r>
            <a:endParaRPr lang="en-US" sz="1250" dirty="0"/>
          </a:p>
        </p:txBody>
      </p:sp>
      <p:pic>
        <p:nvPicPr>
          <p:cNvPr id="8" name="Image 2" descr="preencoded.png"/>
          <p:cNvPicPr>
            <a:picLocks noChangeAspect="1"/>
          </p:cNvPicPr>
          <p:nvPr/>
        </p:nvPicPr>
        <p:blipFill>
          <a:blip r:embed="rId3"/>
          <a:stretch>
            <a:fillRect/>
          </a:stretch>
        </p:blipFill>
        <p:spPr>
          <a:xfrm>
            <a:off x="548640" y="3063240"/>
            <a:ext cx="274320" cy="274320"/>
          </a:xfrm>
          <a:prstGeom prst="rect">
            <a:avLst/>
          </a:prstGeom>
        </p:spPr>
      </p:pic>
      <p:sp>
        <p:nvSpPr>
          <p:cNvPr id="9" name="Text 4"/>
          <p:cNvSpPr/>
          <p:nvPr/>
        </p:nvSpPr>
        <p:spPr>
          <a:xfrm>
            <a:off x="932688" y="3008376"/>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Release note generation via Commands and Skills</a:t>
            </a:r>
            <a:endParaRPr lang="en-US" sz="1250" dirty="0"/>
          </a:p>
        </p:txBody>
      </p:sp>
      <p:pic>
        <p:nvPicPr>
          <p:cNvPr id="10" name="Image 3" descr="preencoded.png"/>
          <p:cNvPicPr>
            <a:picLocks noChangeAspect="1"/>
          </p:cNvPicPr>
          <p:nvPr/>
        </p:nvPicPr>
        <p:blipFill>
          <a:blip r:embed="rId3"/>
          <a:stretch>
            <a:fillRect/>
          </a:stretch>
        </p:blipFill>
        <p:spPr>
          <a:xfrm>
            <a:off x="548640" y="3721608"/>
            <a:ext cx="274320" cy="274320"/>
          </a:xfrm>
          <a:prstGeom prst="rect">
            <a:avLst/>
          </a:prstGeom>
        </p:spPr>
      </p:pic>
      <p:sp>
        <p:nvSpPr>
          <p:cNvPr id="11" name="Text 5"/>
          <p:cNvSpPr/>
          <p:nvPr/>
        </p:nvSpPr>
        <p:spPr>
          <a:xfrm>
            <a:off x="932688" y="3666744"/>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AI self-review and quality checks before handoff</a:t>
            </a:r>
            <a:endParaRPr lang="en-US" sz="1250" dirty="0"/>
          </a:p>
        </p:txBody>
      </p:sp>
      <p:pic>
        <p:nvPicPr>
          <p:cNvPr id="12" name="Image 4" descr="preencoded.png"/>
          <p:cNvPicPr>
            <a:picLocks noChangeAspect="1"/>
          </p:cNvPicPr>
          <p:nvPr/>
        </p:nvPicPr>
        <p:blipFill>
          <a:blip r:embed="rId3"/>
          <a:stretch>
            <a:fillRect/>
          </a:stretch>
        </p:blipFill>
        <p:spPr>
          <a:xfrm>
            <a:off x="4846320" y="1746504"/>
            <a:ext cx="274320" cy="274320"/>
          </a:xfrm>
          <a:prstGeom prst="rect">
            <a:avLst/>
          </a:prstGeom>
        </p:spPr>
      </p:pic>
      <p:sp>
        <p:nvSpPr>
          <p:cNvPr id="13" name="Text 6"/>
          <p:cNvSpPr/>
          <p:nvPr/>
        </p:nvSpPr>
        <p:spPr>
          <a:xfrm>
            <a:off x="5230368" y="1691640"/>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Human review checkpoint enforced at every run</a:t>
            </a:r>
            <a:endParaRPr lang="en-US" sz="1250" dirty="0"/>
          </a:p>
        </p:txBody>
      </p:sp>
      <p:pic>
        <p:nvPicPr>
          <p:cNvPr id="14" name="Image 5" descr="preencoded.png"/>
          <p:cNvPicPr>
            <a:picLocks noChangeAspect="1"/>
          </p:cNvPicPr>
          <p:nvPr/>
        </p:nvPicPr>
        <p:blipFill>
          <a:blip r:embed="rId3"/>
          <a:stretch>
            <a:fillRect/>
          </a:stretch>
        </p:blipFill>
        <p:spPr>
          <a:xfrm>
            <a:off x="4846320" y="2404872"/>
            <a:ext cx="274320" cy="274320"/>
          </a:xfrm>
          <a:prstGeom prst="rect">
            <a:avLst/>
          </a:prstGeom>
        </p:spPr>
      </p:pic>
      <p:sp>
        <p:nvSpPr>
          <p:cNvPr id="15" name="Text 7"/>
          <p:cNvSpPr/>
          <p:nvPr/>
        </p:nvSpPr>
        <p:spPr>
          <a:xfrm>
            <a:off x="5230368" y="2350008"/>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Gap-flagging instead of fabrication on incomplete data</a:t>
            </a:r>
            <a:endParaRPr lang="en-US" sz="1250" dirty="0"/>
          </a:p>
        </p:txBody>
      </p:sp>
      <p:pic>
        <p:nvPicPr>
          <p:cNvPr id="16" name="Image 6" descr="preencoded.png"/>
          <p:cNvPicPr>
            <a:picLocks noChangeAspect="1"/>
          </p:cNvPicPr>
          <p:nvPr/>
        </p:nvPicPr>
        <p:blipFill>
          <a:blip r:embed="rId3"/>
          <a:stretch>
            <a:fillRect/>
          </a:stretch>
        </p:blipFill>
        <p:spPr>
          <a:xfrm>
            <a:off x="4846320" y="3063240"/>
            <a:ext cx="274320" cy="274320"/>
          </a:xfrm>
          <a:prstGeom prst="rect">
            <a:avLst/>
          </a:prstGeom>
        </p:spPr>
      </p:pic>
      <p:sp>
        <p:nvSpPr>
          <p:cNvPr id="17" name="Text 8"/>
          <p:cNvSpPr/>
          <p:nvPr/>
        </p:nvSpPr>
        <p:spPr>
          <a:xfrm>
            <a:off x="5230368" y="3008376"/>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Documented known limitations and open questions</a:t>
            </a:r>
            <a:endParaRPr lang="en-US" sz="1250" dirty="0"/>
          </a:p>
        </p:txBody>
      </p:sp>
      <p:pic>
        <p:nvPicPr>
          <p:cNvPr id="18" name="Image 7" descr="preencoded.png"/>
          <p:cNvPicPr>
            <a:picLocks noChangeAspect="1"/>
          </p:cNvPicPr>
          <p:nvPr/>
        </p:nvPicPr>
        <p:blipFill>
          <a:blip r:embed="rId3"/>
          <a:stretch>
            <a:fillRect/>
          </a:stretch>
        </p:blipFill>
        <p:spPr>
          <a:xfrm>
            <a:off x="4846320" y="3721608"/>
            <a:ext cx="274320" cy="274320"/>
          </a:xfrm>
          <a:prstGeom prst="rect">
            <a:avLst/>
          </a:prstGeom>
        </p:spPr>
      </p:pic>
      <p:sp>
        <p:nvSpPr>
          <p:cNvPr id="19" name="Text 9"/>
          <p:cNvSpPr/>
          <p:nvPr/>
        </p:nvSpPr>
        <p:spPr>
          <a:xfrm>
            <a:off x="5230368" y="3666744"/>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Concept-level MCP integration path identified</a:t>
            </a:r>
            <a:endParaRPr lang="en-US" sz="1250" dirty="0"/>
          </a:p>
        </p:txBody>
      </p:sp>
      <p:sp>
        <p:nvSpPr>
          <p:cNvPr id="20" name="Shape 10"/>
          <p:cNvSpPr/>
          <p:nvPr/>
        </p:nvSpPr>
        <p:spPr>
          <a:xfrm>
            <a:off x="4617720" y="1737360"/>
            <a:ext cx="0" cy="2148840"/>
          </a:xfrm>
          <a:prstGeom prst="line">
            <a:avLst/>
          </a:prstGeom>
          <a:noFill/>
          <a:ln w="19050">
            <a:solidFill>
              <a:srgbClr val="EEF1F3"/>
            </a:solidFill>
            <a:prstDash val="solid"/>
          </a:ln>
        </p:spPr>
        <p:txBody>
          <a:bodyPr/>
          <a:lstStyle/>
          <a:p>
            <a:endParaRPr/>
          </a:p>
        </p:txBody>
      </p:sp>
      <p:sp>
        <p:nvSpPr>
          <p:cNvPr id="21" name="Text 11"/>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2" name="Text 12"/>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3  ·  VALIDATION &amp; ROADMAP</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Roadmap: From Proof of Concept to Practice</a:t>
            </a:r>
            <a:endParaRPr lang="en-US" sz="2400" dirty="0"/>
          </a:p>
        </p:txBody>
      </p:sp>
      <p:sp>
        <p:nvSpPr>
          <p:cNvPr id="4" name="Shape 2"/>
          <p:cNvSpPr/>
          <p:nvPr/>
        </p:nvSpPr>
        <p:spPr>
          <a:xfrm>
            <a:off x="548640" y="1691640"/>
            <a:ext cx="2514600" cy="2880360"/>
          </a:xfrm>
          <a:prstGeom prst="roundRect">
            <a:avLst>
              <a:gd name="adj" fmla="val 2909"/>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5" name="Text 3"/>
          <p:cNvSpPr/>
          <p:nvPr/>
        </p:nvSpPr>
        <p:spPr>
          <a:xfrm>
            <a:off x="731520" y="1874520"/>
            <a:ext cx="2148840" cy="274320"/>
          </a:xfrm>
          <a:prstGeom prst="rect">
            <a:avLst/>
          </a:prstGeom>
          <a:noFill/>
          <a:ln/>
        </p:spPr>
        <p:txBody>
          <a:bodyPr wrap="square" lIns="0" tIns="0" rIns="0" bIns="0" rtlCol="0" anchor="ctr"/>
          <a:lstStyle/>
          <a:p>
            <a:pPr marL="0" indent="0">
              <a:buNone/>
            </a:pPr>
            <a:r>
              <a:rPr lang="en-US" sz="1050" b="1" kern="0" spc="150" dirty="0">
                <a:solidFill>
                  <a:srgbClr val="2A9D8F"/>
                </a:solidFill>
                <a:latin typeface="Calibri" pitchFamily="34" charset="0"/>
                <a:ea typeface="Calibri" pitchFamily="34" charset="-122"/>
                <a:cs typeface="Calibri" pitchFamily="34" charset="-120"/>
              </a:rPr>
              <a:t>NOW</a:t>
            </a:r>
            <a:endParaRPr lang="en-US" sz="1050" dirty="0"/>
          </a:p>
        </p:txBody>
      </p:sp>
      <p:pic>
        <p:nvPicPr>
          <p:cNvPr id="6" name="Image 0" descr="preencoded.png"/>
          <p:cNvPicPr>
            <a:picLocks noChangeAspect="1"/>
          </p:cNvPicPr>
          <p:nvPr/>
        </p:nvPicPr>
        <p:blipFill>
          <a:blip r:embed="rId3"/>
          <a:stretch>
            <a:fillRect/>
          </a:stretch>
        </p:blipFill>
        <p:spPr>
          <a:xfrm>
            <a:off x="731520" y="2240280"/>
            <a:ext cx="457200" cy="457200"/>
          </a:xfrm>
          <a:prstGeom prst="rect">
            <a:avLst/>
          </a:prstGeom>
        </p:spPr>
      </p:pic>
      <p:sp>
        <p:nvSpPr>
          <p:cNvPr id="7" name="Text 4"/>
          <p:cNvSpPr/>
          <p:nvPr/>
        </p:nvSpPr>
        <p:spPr>
          <a:xfrm>
            <a:off x="731520" y="2834640"/>
            <a:ext cx="2148840" cy="41148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Proof of Concept</a:t>
            </a:r>
            <a:endParaRPr lang="en-US" sz="1400" dirty="0"/>
          </a:p>
        </p:txBody>
      </p:sp>
      <p:sp>
        <p:nvSpPr>
          <p:cNvPr id="8" name="Text 5"/>
          <p:cNvSpPr/>
          <p:nvPr/>
        </p:nvSpPr>
        <p:spPr>
          <a:xfrm>
            <a:off x="731520" y="3291840"/>
            <a:ext cx="2148840" cy="1188720"/>
          </a:xfrm>
          <a:prstGeom prst="rect">
            <a:avLst/>
          </a:prstGeom>
          <a:noFill/>
          <a:ln/>
        </p:spPr>
        <p:txBody>
          <a:bodyPr wrap="square" lIns="0" tIns="0" rIns="0" bIns="0" rtlCol="0" anchor="ctr"/>
          <a:lstStyle/>
          <a:p>
            <a:pPr marL="0" indent="0">
              <a:lnSpc>
                <a:spcPct val="125000"/>
              </a:lnSpc>
              <a:buNone/>
            </a:pPr>
            <a:r>
              <a:rPr lang="en-US" sz="1100" dirty="0">
                <a:solidFill>
                  <a:srgbClr val="5F6B7A"/>
                </a:solidFill>
                <a:latin typeface="Calibri" pitchFamily="34" charset="0"/>
                <a:ea typeface="Calibri" pitchFamily="34" charset="-122"/>
                <a:cs typeface="Calibri" pitchFamily="34" charset="-120"/>
              </a:rPr>
              <a:t>Two validated scenarios; Commands, Skills, and Agent patterns demonstrated in Claude.ai.</a:t>
            </a:r>
            <a:endParaRPr lang="en-US" sz="1100" dirty="0"/>
          </a:p>
        </p:txBody>
      </p:sp>
      <p:sp>
        <p:nvSpPr>
          <p:cNvPr id="9" name="Shape 6"/>
          <p:cNvSpPr/>
          <p:nvPr/>
        </p:nvSpPr>
        <p:spPr>
          <a:xfrm>
            <a:off x="3090672" y="3131820"/>
            <a:ext cx="173736" cy="0"/>
          </a:xfrm>
          <a:prstGeom prst="line">
            <a:avLst/>
          </a:prstGeom>
          <a:noFill/>
          <a:ln w="19050">
            <a:solidFill>
              <a:srgbClr val="5F6B7A"/>
            </a:solidFill>
            <a:prstDash val="solid"/>
            <a:tailEnd type="triangle"/>
          </a:ln>
        </p:spPr>
        <p:txBody>
          <a:bodyPr/>
          <a:lstStyle/>
          <a:p>
            <a:endParaRPr/>
          </a:p>
        </p:txBody>
      </p:sp>
      <p:sp>
        <p:nvSpPr>
          <p:cNvPr id="10" name="Shape 7"/>
          <p:cNvSpPr/>
          <p:nvPr/>
        </p:nvSpPr>
        <p:spPr>
          <a:xfrm>
            <a:off x="3291840" y="1691640"/>
            <a:ext cx="2514600" cy="2880360"/>
          </a:xfrm>
          <a:prstGeom prst="roundRect">
            <a:avLst>
              <a:gd name="adj" fmla="val 2909"/>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Text 8"/>
          <p:cNvSpPr/>
          <p:nvPr/>
        </p:nvSpPr>
        <p:spPr>
          <a:xfrm>
            <a:off x="3474720" y="1874520"/>
            <a:ext cx="2148840" cy="274320"/>
          </a:xfrm>
          <a:prstGeom prst="rect">
            <a:avLst/>
          </a:prstGeom>
          <a:noFill/>
          <a:ln/>
        </p:spPr>
        <p:txBody>
          <a:bodyPr wrap="square" lIns="0" tIns="0" rIns="0" bIns="0" rtlCol="0" anchor="ctr"/>
          <a:lstStyle/>
          <a:p>
            <a:pPr marL="0" indent="0">
              <a:buNone/>
            </a:pPr>
            <a:r>
              <a:rPr lang="en-US" sz="1050" b="1" kern="0" spc="150" dirty="0">
                <a:solidFill>
                  <a:srgbClr val="2A9D8F"/>
                </a:solidFill>
                <a:latin typeface="Calibri" pitchFamily="34" charset="0"/>
                <a:ea typeface="Calibri" pitchFamily="34" charset="-122"/>
                <a:cs typeface="Calibri" pitchFamily="34" charset="-120"/>
              </a:rPr>
              <a:t>NEXT</a:t>
            </a:r>
            <a:endParaRPr lang="en-US" sz="1050" dirty="0"/>
          </a:p>
        </p:txBody>
      </p:sp>
      <p:pic>
        <p:nvPicPr>
          <p:cNvPr id="12" name="Image 1" descr="preencoded.png"/>
          <p:cNvPicPr>
            <a:picLocks noChangeAspect="1"/>
          </p:cNvPicPr>
          <p:nvPr/>
        </p:nvPicPr>
        <p:blipFill>
          <a:blip r:embed="rId4"/>
          <a:stretch>
            <a:fillRect/>
          </a:stretch>
        </p:blipFill>
        <p:spPr>
          <a:xfrm>
            <a:off x="3474720" y="2240280"/>
            <a:ext cx="457200" cy="457200"/>
          </a:xfrm>
          <a:prstGeom prst="rect">
            <a:avLst/>
          </a:prstGeom>
        </p:spPr>
      </p:pic>
      <p:sp>
        <p:nvSpPr>
          <p:cNvPr id="13" name="Text 9"/>
          <p:cNvSpPr/>
          <p:nvPr/>
        </p:nvSpPr>
        <p:spPr>
          <a:xfrm>
            <a:off x="3474720" y="2834640"/>
            <a:ext cx="2148840" cy="41148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MCP Integration</a:t>
            </a:r>
            <a:endParaRPr lang="en-US" sz="1400" dirty="0"/>
          </a:p>
        </p:txBody>
      </p:sp>
      <p:sp>
        <p:nvSpPr>
          <p:cNvPr id="14" name="Text 10"/>
          <p:cNvSpPr/>
          <p:nvPr/>
        </p:nvSpPr>
        <p:spPr>
          <a:xfrm>
            <a:off x="3474720" y="3291840"/>
            <a:ext cx="2148840" cy="1188720"/>
          </a:xfrm>
          <a:prstGeom prst="rect">
            <a:avLst/>
          </a:prstGeom>
          <a:noFill/>
          <a:ln/>
        </p:spPr>
        <p:txBody>
          <a:bodyPr wrap="square" lIns="0" tIns="0" rIns="0" bIns="0" rtlCol="0" anchor="ctr"/>
          <a:lstStyle/>
          <a:p>
            <a:pPr marL="0" indent="0">
              <a:lnSpc>
                <a:spcPct val="125000"/>
              </a:lnSpc>
              <a:buNone/>
            </a:pPr>
            <a:r>
              <a:rPr lang="en-US" sz="1100" dirty="0">
                <a:solidFill>
                  <a:srgbClr val="5F6B7A"/>
                </a:solidFill>
                <a:latin typeface="Calibri" pitchFamily="34" charset="0"/>
                <a:ea typeface="Calibri" pitchFamily="34" charset="-122"/>
                <a:cs typeface="Calibri" pitchFamily="34" charset="-120"/>
              </a:rPr>
              <a:t>Direct connectors to YouTrack and GitHub for automated draft retrieval, removing manual data pulls.</a:t>
            </a:r>
            <a:endParaRPr lang="en-US" sz="1100" dirty="0"/>
          </a:p>
        </p:txBody>
      </p:sp>
      <p:sp>
        <p:nvSpPr>
          <p:cNvPr id="15" name="Shape 11"/>
          <p:cNvSpPr/>
          <p:nvPr/>
        </p:nvSpPr>
        <p:spPr>
          <a:xfrm>
            <a:off x="5833872" y="3131820"/>
            <a:ext cx="173736" cy="0"/>
          </a:xfrm>
          <a:prstGeom prst="line">
            <a:avLst/>
          </a:prstGeom>
          <a:noFill/>
          <a:ln w="19050">
            <a:solidFill>
              <a:srgbClr val="5F6B7A"/>
            </a:solidFill>
            <a:prstDash val="solid"/>
            <a:tailEnd type="triangle"/>
          </a:ln>
        </p:spPr>
        <p:txBody>
          <a:bodyPr/>
          <a:lstStyle/>
          <a:p>
            <a:endParaRPr/>
          </a:p>
        </p:txBody>
      </p:sp>
      <p:sp>
        <p:nvSpPr>
          <p:cNvPr id="16" name="Shape 12"/>
          <p:cNvSpPr/>
          <p:nvPr/>
        </p:nvSpPr>
        <p:spPr>
          <a:xfrm>
            <a:off x="6035040" y="1691640"/>
            <a:ext cx="2514600" cy="2880360"/>
          </a:xfrm>
          <a:prstGeom prst="roundRect">
            <a:avLst>
              <a:gd name="adj" fmla="val 2909"/>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7" name="Text 13"/>
          <p:cNvSpPr/>
          <p:nvPr/>
        </p:nvSpPr>
        <p:spPr>
          <a:xfrm>
            <a:off x="6217920" y="1874520"/>
            <a:ext cx="2148840" cy="274320"/>
          </a:xfrm>
          <a:prstGeom prst="rect">
            <a:avLst/>
          </a:prstGeom>
          <a:noFill/>
          <a:ln/>
        </p:spPr>
        <p:txBody>
          <a:bodyPr wrap="square" lIns="0" tIns="0" rIns="0" bIns="0" rtlCol="0" anchor="ctr"/>
          <a:lstStyle/>
          <a:p>
            <a:pPr marL="0" indent="0">
              <a:buNone/>
            </a:pPr>
            <a:r>
              <a:rPr lang="en-US" sz="1050" b="1" kern="0" spc="150" dirty="0">
                <a:solidFill>
                  <a:srgbClr val="2A9D8F"/>
                </a:solidFill>
                <a:latin typeface="Calibri" pitchFamily="34" charset="0"/>
                <a:ea typeface="Calibri" pitchFamily="34" charset="-122"/>
                <a:cs typeface="Calibri" pitchFamily="34" charset="-120"/>
              </a:rPr>
              <a:t>LATER</a:t>
            </a:r>
            <a:endParaRPr lang="en-US" sz="1050" dirty="0"/>
          </a:p>
        </p:txBody>
      </p:sp>
      <p:pic>
        <p:nvPicPr>
          <p:cNvPr id="18" name="Image 2" descr="preencoded.png"/>
          <p:cNvPicPr>
            <a:picLocks noChangeAspect="1"/>
          </p:cNvPicPr>
          <p:nvPr/>
        </p:nvPicPr>
        <p:blipFill>
          <a:blip r:embed="rId5"/>
          <a:stretch>
            <a:fillRect/>
          </a:stretch>
        </p:blipFill>
        <p:spPr>
          <a:xfrm>
            <a:off x="6217920" y="2240280"/>
            <a:ext cx="457200" cy="457200"/>
          </a:xfrm>
          <a:prstGeom prst="rect">
            <a:avLst/>
          </a:prstGeom>
        </p:spPr>
      </p:pic>
      <p:sp>
        <p:nvSpPr>
          <p:cNvPr id="19" name="Text 14"/>
          <p:cNvSpPr/>
          <p:nvPr/>
        </p:nvSpPr>
        <p:spPr>
          <a:xfrm>
            <a:off x="6217920" y="2834640"/>
            <a:ext cx="2148840" cy="41148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Scale &amp; Extend</a:t>
            </a:r>
            <a:endParaRPr lang="en-US" sz="1400" dirty="0"/>
          </a:p>
        </p:txBody>
      </p:sp>
      <p:sp>
        <p:nvSpPr>
          <p:cNvPr id="20" name="Text 15"/>
          <p:cNvSpPr/>
          <p:nvPr/>
        </p:nvSpPr>
        <p:spPr>
          <a:xfrm>
            <a:off x="6217920" y="3291840"/>
            <a:ext cx="2148840" cy="1188720"/>
          </a:xfrm>
          <a:prstGeom prst="rect">
            <a:avLst/>
          </a:prstGeom>
          <a:noFill/>
          <a:ln/>
        </p:spPr>
        <p:txBody>
          <a:bodyPr wrap="square" lIns="0" tIns="0" rIns="0" bIns="0" rtlCol="0" anchor="ctr"/>
          <a:lstStyle/>
          <a:p>
            <a:pPr marL="0" indent="0">
              <a:lnSpc>
                <a:spcPct val="125000"/>
              </a:lnSpc>
              <a:buNone/>
            </a:pPr>
            <a:r>
              <a:rPr lang="en-US" sz="1100" dirty="0">
                <a:solidFill>
                  <a:srgbClr val="5F6B7A"/>
                </a:solidFill>
                <a:latin typeface="Calibri" pitchFamily="34" charset="0"/>
                <a:ea typeface="Calibri" pitchFamily="34" charset="-122"/>
                <a:cs typeface="Calibri" pitchFamily="34" charset="-120"/>
              </a:rPr>
              <a:t>Apply the same AI-assisted pattern to other documentation types beyond release notes.</a:t>
            </a:r>
            <a:endParaRPr lang="en-US" sz="1100" dirty="0"/>
          </a:p>
        </p:txBody>
      </p:sp>
      <p:sp>
        <p:nvSpPr>
          <p:cNvPr id="21" name="Text 16"/>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2" name="Text 17"/>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645920" y="2377440"/>
            <a:ext cx="3840480" cy="3840480"/>
          </a:xfrm>
          <a:prstGeom prst="ellipse">
            <a:avLst/>
          </a:prstGeom>
          <a:solidFill>
            <a:srgbClr val="2A9D8F">
              <a:alpha val="16000"/>
            </a:srgbClr>
          </a:solidFill>
          <a:ln/>
        </p:spPr>
        <p:txBody>
          <a:bodyPr/>
          <a:lstStyle/>
          <a:p>
            <a:endParaRPr/>
          </a:p>
        </p:txBody>
      </p:sp>
      <p:sp>
        <p:nvSpPr>
          <p:cNvPr id="3" name="Shape 1"/>
          <p:cNvSpPr/>
          <p:nvPr/>
        </p:nvSpPr>
        <p:spPr>
          <a:xfrm>
            <a:off x="-914400" y="3017520"/>
            <a:ext cx="2377440" cy="2377440"/>
          </a:xfrm>
          <a:prstGeom prst="ellipse">
            <a:avLst/>
          </a:prstGeom>
          <a:solidFill>
            <a:srgbClr val="2A9D8F">
              <a:alpha val="28000"/>
            </a:srgbClr>
          </a:solidFill>
          <a:ln/>
        </p:spPr>
        <p:txBody>
          <a:bodyPr/>
          <a:lstStyle/>
          <a:p>
            <a:endParaRPr/>
          </a:p>
        </p:txBody>
      </p:sp>
      <p:sp>
        <p:nvSpPr>
          <p:cNvPr id="4" name="Text 2"/>
          <p:cNvSpPr/>
          <p:nvPr/>
        </p:nvSpPr>
        <p:spPr>
          <a:xfrm>
            <a:off x="822960" y="777240"/>
            <a:ext cx="7498080" cy="1554480"/>
          </a:xfrm>
          <a:prstGeom prst="rect">
            <a:avLst/>
          </a:prstGeom>
          <a:noFill/>
          <a:ln/>
        </p:spPr>
        <p:txBody>
          <a:bodyPr wrap="square" lIns="0" tIns="0" rIns="0" bIns="0" rtlCol="0" anchor="ctr"/>
          <a:lstStyle/>
          <a:p>
            <a:pPr marL="0" indent="0">
              <a:lnSpc>
                <a:spcPct val="110000"/>
              </a:lnSpc>
              <a:buNone/>
            </a:pPr>
            <a:r>
              <a:rPr lang="en-US" sz="3200" b="1" i="1" dirty="0">
                <a:solidFill>
                  <a:srgbClr val="FFFFFF"/>
                </a:solidFill>
                <a:latin typeface="Cambria" pitchFamily="34" charset="0"/>
                <a:ea typeface="Cambria" pitchFamily="34" charset="-122"/>
                <a:cs typeface="Cambria" pitchFamily="34" charset="-120"/>
              </a:rPr>
              <a:t>“This makes people faster,</a:t>
            </a:r>
            <a:endParaRPr lang="en-US" sz="3200" dirty="0"/>
          </a:p>
          <a:p>
            <a:pPr marL="0" indent="0">
              <a:lnSpc>
                <a:spcPct val="110000"/>
              </a:lnSpc>
              <a:buNone/>
            </a:pPr>
            <a:r>
              <a:rPr lang="en-US" sz="3200" b="1" i="1" dirty="0">
                <a:solidFill>
                  <a:srgbClr val="FFFFFF"/>
                </a:solidFill>
                <a:latin typeface="Cambria" pitchFamily="34" charset="0"/>
                <a:ea typeface="Cambria" pitchFamily="34" charset="-122"/>
                <a:cs typeface="Cambria" pitchFamily="34" charset="-120"/>
              </a:rPr>
              <a:t>not redundant.”</a:t>
            </a:r>
            <a:endParaRPr lang="en-US" sz="3200" dirty="0"/>
          </a:p>
        </p:txBody>
      </p:sp>
      <p:sp>
        <p:nvSpPr>
          <p:cNvPr id="5" name="Shape 3"/>
          <p:cNvSpPr/>
          <p:nvPr/>
        </p:nvSpPr>
        <p:spPr>
          <a:xfrm>
            <a:off x="841248" y="2331720"/>
            <a:ext cx="1280160" cy="0"/>
          </a:xfrm>
          <a:prstGeom prst="line">
            <a:avLst/>
          </a:prstGeom>
          <a:noFill/>
          <a:ln w="25400">
            <a:solidFill>
              <a:srgbClr val="2A9D8F"/>
            </a:solidFill>
            <a:prstDash val="solid"/>
          </a:ln>
        </p:spPr>
        <p:txBody>
          <a:bodyPr/>
          <a:lstStyle/>
          <a:p>
            <a:endParaRPr/>
          </a:p>
        </p:txBody>
      </p:sp>
      <p:sp>
        <p:nvSpPr>
          <p:cNvPr id="6" name="Text 4"/>
          <p:cNvSpPr/>
          <p:nvPr/>
        </p:nvSpPr>
        <p:spPr>
          <a:xfrm>
            <a:off x="822960" y="2514600"/>
            <a:ext cx="7315200" cy="640080"/>
          </a:xfrm>
          <a:prstGeom prst="rect">
            <a:avLst/>
          </a:prstGeom>
          <a:noFill/>
          <a:ln/>
        </p:spPr>
        <p:txBody>
          <a:bodyPr wrap="square" lIns="0" tIns="0" rIns="0" bIns="0" rtlCol="0" anchor="ctr"/>
          <a:lstStyle/>
          <a:p>
            <a:pPr marL="0" indent="0">
              <a:lnSpc>
                <a:spcPct val="125000"/>
              </a:lnSpc>
              <a:buNone/>
            </a:pPr>
            <a:r>
              <a:rPr lang="en-US" sz="1400" dirty="0">
                <a:solidFill>
                  <a:srgbClr val="CFE3E0"/>
                </a:solidFill>
                <a:latin typeface="Calibri" pitchFamily="34" charset="0"/>
                <a:ea typeface="Calibri" pitchFamily="34" charset="-122"/>
                <a:cs typeface="Calibri" pitchFamily="34" charset="-120"/>
              </a:rPr>
              <a:t>AI extracts, drafts, and reviews. People decide, approve, and publish. That division of labor is the proof of concept.</a:t>
            </a:r>
            <a:endParaRPr lang="en-US" sz="1400" dirty="0"/>
          </a:p>
        </p:txBody>
      </p:sp>
      <p:sp>
        <p:nvSpPr>
          <p:cNvPr id="7" name="Text 5"/>
          <p:cNvSpPr/>
          <p:nvPr/>
        </p:nvSpPr>
        <p:spPr>
          <a:xfrm>
            <a:off x="822960" y="3383280"/>
            <a:ext cx="7315200" cy="274320"/>
          </a:xfrm>
          <a:prstGeom prst="rect">
            <a:avLst/>
          </a:prstGeom>
          <a:noFill/>
          <a:ln/>
        </p:spPr>
        <p:txBody>
          <a:bodyPr wrap="square" lIns="0" tIns="0" rIns="0" bIns="0" rtlCol="0" anchor="ctr"/>
          <a:lstStyle/>
          <a:p>
            <a:pPr marL="0" indent="0">
              <a:buNone/>
            </a:pPr>
            <a:r>
              <a:rPr lang="en-US" sz="1100" b="1" kern="0" spc="100" dirty="0">
                <a:solidFill>
                  <a:srgbClr val="2A9D8F"/>
                </a:solidFill>
                <a:latin typeface="Calibri" pitchFamily="34" charset="0"/>
                <a:ea typeface="Calibri" pitchFamily="34" charset="-122"/>
                <a:cs typeface="Calibri" pitchFamily="34" charset="-120"/>
              </a:rPr>
              <a:t>With thanks to the project team</a:t>
            </a:r>
            <a:endParaRPr lang="en-US" sz="1100" dirty="0"/>
          </a:p>
        </p:txBody>
      </p:sp>
      <p:sp>
        <p:nvSpPr>
          <p:cNvPr id="9" name="Text 7"/>
          <p:cNvSpPr/>
          <p:nvPr/>
        </p:nvSpPr>
        <p:spPr>
          <a:xfrm>
            <a:off x="822960" y="452628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Thank you</a:t>
            </a:r>
            <a:endParaRPr lang="en-US" sz="1600" dirty="0"/>
          </a:p>
        </p:txBody>
      </p:sp>
      <p:sp>
        <p:nvSpPr>
          <p:cNvPr id="11" name="Text 6">
            <a:extLst>
              <a:ext uri="{FF2B5EF4-FFF2-40B4-BE49-F238E27FC236}">
                <a16:creationId xmlns:a16="http://schemas.microsoft.com/office/drawing/2014/main" id="{1CC49009-00A7-EBB7-AD09-0BDAE84DE052}"/>
              </a:ext>
            </a:extLst>
          </p:cNvPr>
          <p:cNvSpPr/>
          <p:nvPr/>
        </p:nvSpPr>
        <p:spPr>
          <a:xfrm>
            <a:off x="822960" y="3657600"/>
            <a:ext cx="7498080" cy="822960"/>
          </a:xfrm>
          <a:prstGeom prst="rect">
            <a:avLst/>
          </a:prstGeom>
          <a:noFill/>
          <a:ln/>
        </p:spPr>
        <p:txBody>
          <a:bodyPr wrap="square" lIns="0" tIns="0" rIns="0" bIns="0" rtlCol="0" anchor="ctr"/>
          <a:lstStyle/>
          <a:p>
            <a:pPr>
              <a:lnSpc>
                <a:spcPct val="150000"/>
              </a:lnSpc>
            </a:pPr>
            <a:r>
              <a:rPr lang="en-US" sz="1100" dirty="0">
                <a:solidFill>
                  <a:srgbClr val="AFC3D6"/>
                </a:solidFill>
                <a:latin typeface="Calibri" pitchFamily="34" charset="0"/>
                <a:ea typeface="Calibri" pitchFamily="34" charset="-122"/>
                <a:cs typeface="Calibri" pitchFamily="34" charset="-120"/>
              </a:rPr>
              <a:t>Riffat Wyne · Sulekha · Anubhav · Srividya · Bhargavi · Shubh Karman · Divin · Devika</a:t>
            </a:r>
            <a:endParaRPr lang="en-US" sz="1100" dirty="0"/>
          </a:p>
        </p:txBody>
      </p:sp>
      <p:pic>
        <p:nvPicPr>
          <p:cNvPr id="10" name="Picture 9">
            <a:extLst>
              <a:ext uri="{FF2B5EF4-FFF2-40B4-BE49-F238E27FC236}">
                <a16:creationId xmlns:a16="http://schemas.microsoft.com/office/drawing/2014/main" id="{72429A9B-C033-5380-D4CB-D638C152D901}"/>
              </a:ext>
            </a:extLst>
          </p:cNvPr>
          <p:cNvPicPr>
            <a:picLocks noChangeAspect="1"/>
          </p:cNvPicPr>
          <p:nvPr/>
        </p:nvPicPr>
        <p:blipFill>
          <a:blip r:embed="rId3"/>
          <a:stretch>
            <a:fillRect/>
          </a:stretch>
        </p:blipFill>
        <p:spPr>
          <a:xfrm>
            <a:off x="0" y="-1"/>
            <a:ext cx="9144000" cy="514350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C2BBE6-9C5A-CEA4-89F4-6E268142DE69}"/>
              </a:ext>
            </a:extLst>
          </p:cNvPr>
          <p:cNvPicPr>
            <a:picLocks noChangeAspect="1"/>
          </p:cNvPicPr>
          <p:nvPr/>
        </p:nvPicPr>
        <p:blipFill>
          <a:blip r:embed="rId2"/>
          <a:stretch>
            <a:fillRect/>
          </a:stretch>
        </p:blipFill>
        <p:spPr>
          <a:xfrm>
            <a:off x="0" y="-1"/>
            <a:ext cx="9144000" cy="5143501"/>
          </a:xfrm>
          <a:prstGeom prst="rect">
            <a:avLst/>
          </a:prstGeom>
        </p:spPr>
      </p:pic>
    </p:spTree>
    <p:extLst>
      <p:ext uri="{BB962C8B-B14F-4D97-AF65-F5344CB8AC3E}">
        <p14:creationId xmlns:p14="http://schemas.microsoft.com/office/powerpoint/2010/main" val="1804580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1087</TotalTime>
  <Words>3543</Words>
  <Application>Microsoft Office PowerPoint</Application>
  <PresentationFormat>On-screen Show (16:9)</PresentationFormat>
  <Paragraphs>368</Paragraphs>
  <Slides>26</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Release Note Generation</dc:title>
  <dc:subject>PptxGenJS Presentation</dc:subject>
  <dc:creator>Riffat Wyne</dc:creator>
  <cp:lastModifiedBy>Riffat Wyne</cp:lastModifiedBy>
  <cp:revision>4</cp:revision>
  <dcterms:created xsi:type="dcterms:W3CDTF">2026-07-02T15:31:33Z</dcterms:created>
  <dcterms:modified xsi:type="dcterms:W3CDTF">2026-07-03T09:55:58Z</dcterms:modified>
</cp:coreProperties>
</file>