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23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E6099-4C65-9025-9062-6D19E03D7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CCCC0-F5CA-A0A9-D424-BADA35ED1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1C137B-D96A-2C7B-336C-6B4AC8A9A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C3998-881F-F98A-994F-CCFE1793D4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8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ffat786/ai-relesase-note-workflow/blob/Shubh-kamran/demo/TWT_Demo_Final.zi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5669280" cy="5669280"/>
          </a:xfrm>
          <a:prstGeom prst="ellipse">
            <a:avLst/>
          </a:prstGeom>
          <a:solidFill>
            <a:srgbClr val="2A9D8F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AFC3D6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 ·  RELEASE NOTE AUTOMATION  ·  ARCHITECTURE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Note Pipeline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 — from a labeled GitHub issue to a published, brand-compliant Help Centre article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23774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AFC3D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43708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4892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82112" y="4297680"/>
            <a:ext cx="23774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AFC3D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182112" y="43708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182112" y="4892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24144" y="4297680"/>
            <a:ext cx="23774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AFC3D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724144" y="43708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724144" y="4892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66176" y="4297680"/>
            <a:ext cx="23774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AFC3D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66176" y="43708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66176" y="4892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per run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July 2026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 Karman Dhaliwal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Labeled Issue to Published Note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command turns labeled GitHub issues into publication-ready, brand-compliant release notes and help topics — no manual drafting.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066544" cy="33375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47572" y="2263140"/>
            <a:ext cx="777240" cy="77724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pptx_work/icons/githu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882" y="245745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Fetch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3611880"/>
            <a:ext cx="1700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issues in the v1.0 milestone from GitHub via MCP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24912" y="1965960"/>
            <a:ext cx="2066544" cy="33375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369564" y="2263140"/>
            <a:ext cx="777240" cy="77724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pptx_work/icons/ge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74" y="245745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62072" y="32004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Classify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907792" y="3611880"/>
            <a:ext cx="1700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labels to What's New, Enhancements, Bug Fixes, Known Issues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946904" y="1965960"/>
            <a:ext cx="2066544" cy="33375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5591556" y="2263140"/>
            <a:ext cx="777240" cy="77724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pptx_work/icons/pe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5866" y="245745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84064" y="32004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Draft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129784" y="3611880"/>
            <a:ext cx="1700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+ Help-Topic agents draft brand-voice HTML &amp; Markdown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168896" y="1965960"/>
            <a:ext cx="2066544" cy="33375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7813548" y="2263140"/>
            <a:ext cx="777240" cy="77724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pptx_work/icons/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7858" y="2457450"/>
            <a:ext cx="388620" cy="3886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06056" y="32004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Review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351776" y="3611880"/>
            <a:ext cx="1700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agent checks structure, tone, branding &amp; links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390888" y="1965960"/>
            <a:ext cx="2066544" cy="33375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10035540" y="2263140"/>
            <a:ext cx="777240" cy="77724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/home/claude/pptx_work/icons/fold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9850" y="2457450"/>
            <a:ext cx="388620" cy="3886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528048" y="32004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Publish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9573768" y="3611880"/>
            <a:ext cx="1700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Auto-fixed files land in output/, ready for the Help Centre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02920" y="5577840"/>
            <a:ext cx="11201400" cy="685800"/>
          </a:xfrm>
          <a:prstGeom prst="rect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4"/>
          <p:cNvSpPr/>
          <p:nvPr/>
        </p:nvSpPr>
        <p:spPr>
          <a:xfrm>
            <a:off x="777240" y="55778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 </a:t>
            </a:r>
            <a:r>
              <a:rPr lang="en-US" sz="11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 the only live data source. Everything in sample-data/ is a benchmark, never a runtime input.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Release Note Pipeline</a:t>
            </a: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			</a:t>
            </a: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Technical Writing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ORGANIZED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Functional Layers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Configuration, orchestration logic, standards, and run output each live in their own place.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51760" cy="37947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22376" y="2185416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pptx_work/icons/plu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3500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34747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.mcp.json — GitHub MCP config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 Claude Code guidance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7560" y="1965960"/>
            <a:ext cx="2651760" cy="37947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557016" y="2185416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pptx_work/icons/ge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23500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Logic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84448" y="34747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 — orchestrator + 3 sub-agents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commands/ — generate &amp; review triggers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skills/ — writer, reviewer, classifier, branding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72200" y="1965960"/>
            <a:ext cx="2651760" cy="37947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391656" y="2185416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pptx_work/icons/boo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235000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 &amp; Samples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19088" y="34747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sample-data/ — 2 benchmark outputs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sample-data/ — 2 local sample inputs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mcp-plugin-concept/ — integration doc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06840" y="1965960"/>
            <a:ext cx="2651760" cy="37947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9226296" y="2185416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pptx_work/icons/folde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0888" y="235000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544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Output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253728" y="34747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output/ — every generated file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Regenerated fresh on each pipeline run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permanent deliverables per release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Release Note Pipeline</a:t>
            </a: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			</a:t>
            </a: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Technical Writing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GitHub Issue to Published Package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is the only agent that talks to GitHub —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 works from data it resolves once.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331720" cy="91440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58368" y="21945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pptx_work/icons/githu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30428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6152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216152" y="2514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ShubhKN/WealthWise · v1.0</a:t>
            </a:r>
            <a:endParaRPr lang="en-US" sz="850" dirty="0"/>
          </a:p>
        </p:txBody>
      </p:sp>
      <p:pic>
        <p:nvPicPr>
          <p:cNvPr id="10" name="Image 1" descr="/home/claude/pptx_work/icons/arrow_right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233172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10128" y="192024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3465576" y="21945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/home/claude/pptx_work/icons/gea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304" y="230428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23360" y="20116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4023360" y="25603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→ classify → delegate</a:t>
            </a:r>
            <a:endParaRPr lang="en-US" sz="850" dirty="0"/>
          </a:p>
        </p:txBody>
      </p:sp>
      <p:pic>
        <p:nvPicPr>
          <p:cNvPr id="16" name="Image 3" descr="/home/claude/pptx_work/icons/arrow_right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2331720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63640" y="160020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2"/>
          <p:cNvSpPr/>
          <p:nvPr/>
        </p:nvSpPr>
        <p:spPr>
          <a:xfrm>
            <a:off x="6419088" y="18059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4" descr="/home/claude/pptx_work/icons/pe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1915668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76872" y="16916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writer-agent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6976872" y="210312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release-note-*.md / .html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6263640" y="2587752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6"/>
          <p:cNvSpPr/>
          <p:nvPr/>
        </p:nvSpPr>
        <p:spPr>
          <a:xfrm>
            <a:off x="6419088" y="2793492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5" descr="/home/claude/pptx_work/icons/robo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816" y="2903220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76872" y="26791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help-topic-writer-agent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6976872" y="309067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help-topic-*.md / .html × per feature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6263640" y="3575304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0"/>
          <p:cNvSpPr/>
          <p:nvPr/>
        </p:nvSpPr>
        <p:spPr>
          <a:xfrm>
            <a:off x="6419088" y="3781044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6" descr="/home/claude/pptx_work/icons/che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8816" y="3890772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976872" y="366674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reviewer-agent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6976872" y="407822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release-note-review-report.md</a:t>
            </a:r>
            <a:endParaRPr lang="en-US" sz="850" dirty="0"/>
          </a:p>
        </p:txBody>
      </p:sp>
      <p:sp>
        <p:nvSpPr>
          <p:cNvPr id="32" name="Shape 23"/>
          <p:cNvSpPr/>
          <p:nvPr/>
        </p:nvSpPr>
        <p:spPr>
          <a:xfrm>
            <a:off x="4544568" y="2926080"/>
            <a:ext cx="0" cy="457200"/>
          </a:xfrm>
          <a:prstGeom prst="line">
            <a:avLst/>
          </a:prstGeom>
          <a:noFill/>
          <a:ln w="12700">
            <a:solidFill>
              <a:srgbClr val="70798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4"/>
          <p:cNvSpPr/>
          <p:nvPr/>
        </p:nvSpPr>
        <p:spPr>
          <a:xfrm>
            <a:off x="3310128" y="3383280"/>
            <a:ext cx="2468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5"/>
          <p:cNvSpPr/>
          <p:nvPr/>
        </p:nvSpPr>
        <p:spPr>
          <a:xfrm>
            <a:off x="3465576" y="35661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7" descr="/home/claude/pptx_work/icons/databas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5304" y="3675888"/>
            <a:ext cx="237744" cy="23774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023360" y="3474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 cache</a:t>
            </a:r>
            <a:endParaRPr lang="en-US" sz="1150" dirty="0"/>
          </a:p>
        </p:txBody>
      </p:sp>
      <p:sp>
        <p:nvSpPr>
          <p:cNvPr id="37" name="Text 27"/>
          <p:cNvSpPr/>
          <p:nvPr/>
        </p:nvSpPr>
        <p:spPr>
          <a:xfrm>
            <a:off x="4023360" y="3840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classified / agent-ready JSON</a:t>
            </a:r>
            <a:endParaRPr lang="en-US" sz="850" dirty="0"/>
          </a:p>
        </p:txBody>
      </p:sp>
      <p:sp>
        <p:nvSpPr>
          <p:cNvPr id="38" name="Shape 28"/>
          <p:cNvSpPr/>
          <p:nvPr/>
        </p:nvSpPr>
        <p:spPr>
          <a:xfrm>
            <a:off x="8961120" y="4443984"/>
            <a:ext cx="0" cy="292608"/>
          </a:xfrm>
          <a:prstGeom prst="line">
            <a:avLst/>
          </a:prstGeom>
          <a:noFill/>
          <a:ln w="12700">
            <a:solidFill>
              <a:srgbClr val="70798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29"/>
          <p:cNvSpPr/>
          <p:nvPr/>
        </p:nvSpPr>
        <p:spPr>
          <a:xfrm>
            <a:off x="6263640" y="4736592"/>
            <a:ext cx="5394960" cy="86868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0"/>
          <p:cNvSpPr/>
          <p:nvPr/>
        </p:nvSpPr>
        <p:spPr>
          <a:xfrm>
            <a:off x="6419088" y="4942332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8" descr="/home/claude/pptx_work/icons/folder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8816" y="5052060"/>
            <a:ext cx="237744" cy="237744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976872" y="482803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output/ — final package</a:t>
            </a:r>
            <a:endParaRPr lang="en-US" sz="1150" dirty="0"/>
          </a:p>
        </p:txBody>
      </p:sp>
      <p:sp>
        <p:nvSpPr>
          <p:cNvPr id="43" name="Text 32"/>
          <p:cNvSpPr/>
          <p:nvPr/>
        </p:nvSpPr>
        <p:spPr>
          <a:xfrm>
            <a:off x="6976872" y="52395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files, ready for the Help Centre</a:t>
            </a:r>
            <a:endParaRPr lang="en-US" sz="850" dirty="0"/>
          </a:p>
        </p:txBody>
      </p:sp>
      <p:sp>
        <p:nvSpPr>
          <p:cNvPr id="44" name="Shape 33"/>
          <p:cNvSpPr/>
          <p:nvPr/>
        </p:nvSpPr>
        <p:spPr>
          <a:xfrm>
            <a:off x="502920" y="5623560"/>
            <a:ext cx="11201400" cy="621792"/>
          </a:xfrm>
          <a:prstGeom prst="rect">
            <a:avLst/>
          </a:prstGeom>
          <a:solidFill>
            <a:srgbClr val="E8F5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34"/>
          <p:cNvSpPr/>
          <p:nvPr/>
        </p:nvSpPr>
        <p:spPr>
          <a:xfrm>
            <a:off x="777240" y="5623560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 loop:  </a:t>
            </a: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High/Medium reviewer findings are written back into output/ before the pipeline reports complete.</a:t>
            </a:r>
            <a:endParaRPr lang="en-US" sz="1100" dirty="0"/>
          </a:p>
        </p:txBody>
      </p:sp>
      <p:sp>
        <p:nvSpPr>
          <p:cNvPr id="46" name="Text 35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Release Note Pipeline</a:t>
            </a: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			</a:t>
            </a: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Technical Writing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Label-to-Category Mapping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fixed release note categories, driven entirely by GitHub labels.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1201400" cy="566928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feature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589520" y="2048256"/>
            <a:ext cx="3931920" cy="402336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589520" y="204825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697480"/>
            <a:ext cx="11201400" cy="566928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enhancement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0" y="2779776"/>
            <a:ext cx="3931920" cy="402336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589520" y="277977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429000"/>
            <a:ext cx="11201400" cy="566928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342900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bug  (closed, no known-issue label)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3511296"/>
            <a:ext cx="3931920" cy="402336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589520" y="351129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160520"/>
            <a:ext cx="11201400" cy="566928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416052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bug  +  status: known-issue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0" y="4242816"/>
            <a:ext cx="3931920" cy="402336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589520" y="424281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892040"/>
            <a:ext cx="11201400" cy="566928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489204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bug  (open, unresolved)  ·  tracking issues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0" y="4974336"/>
            <a:ext cx="3931920" cy="402336"/>
          </a:xfrm>
          <a:prstGeom prst="rect">
            <a:avLst/>
          </a:prstGeom>
          <a:solidFill>
            <a:srgbClr val="DADF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589520" y="497433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— not in release notes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5733288"/>
            <a:ext cx="11201400" cy="566928"/>
          </a:xfrm>
          <a:prstGeom prst="rect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77240" y="57332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tag rule:  </a:t>
            </a:r>
            <a:r>
              <a:rPr lang="en-US" sz="10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item labeled component: ai-advisor gets a dedicated AI badge in the brand-teal accent — reserved exclusively for AI-driven functionality.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Release Note Pipeline</a:t>
            </a: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			</a:t>
            </a: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Technical Writing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Agents, One Job Each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does a single task — modular, easy to test, and simple to extend.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2606040" cy="35661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22376" y="2276856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22376" y="2276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" y="301752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release-note-orchestrator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3657600"/>
            <a:ext cx="22037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GitHub issues, resolves runtime variables, classifies them, and delegates to the sub-agents below.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2057400"/>
            <a:ext cx="2606040" cy="35661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511296" y="2276856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11296" y="2276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08" y="301752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release-note-writer-agent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93008" y="3657600"/>
            <a:ext cx="22037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consolidated release note covering all four categories, in HTML and Markdown.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2057400"/>
            <a:ext cx="2606040" cy="35661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300216" y="2276856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00216" y="2276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help-topic-writer-agent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81928" y="3657600"/>
            <a:ext cx="22037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one branded help topic per What's New feature, with Overview, Workflow, and a back-link.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869680" y="2057400"/>
            <a:ext cx="2606040" cy="35661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089136" y="2276856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089136" y="2276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70848" y="301752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release-note-reviewer-agent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070848" y="3657600"/>
            <a:ext cx="22037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every drafted file against the QA checklist and branding rules — reports only, never edits.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5806440"/>
            <a:ext cx="11201400" cy="566928"/>
          </a:xfrm>
          <a:prstGeom prst="rect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77240" y="58064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 </a:t>
            </a:r>
            <a:r>
              <a:rPr lang="en-US" sz="10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is the only agent that talks to GitHub. Every sub-agent works from data it resolves once.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Release Note Pipeline</a:t>
            </a: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			</a:t>
            </a: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Technical Writing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WORKFLOW RUNS 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Used in the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data connection, plus three categories of reusable, version-controlled reference material.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51760" cy="37947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22376" y="2185416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pptx_work/icons/plu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3500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34747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.mcp.json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MCP — live issue data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ShubhKN/WealthWise, milestone v1.0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7560" y="1965960"/>
            <a:ext cx="2651760" cy="37947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557016" y="2185416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pptx_work/icons/boo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23500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(4)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84448" y="34747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Writer, Reviewer, Branding, GitHub Classifier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voice, QA &amp; style rules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72200" y="1965960"/>
            <a:ext cx="2651760" cy="37947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391656" y="2185416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pptx_work/icons/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235000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19088" y="34747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structure benchmarks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local sample inputs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 — never live data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06840" y="1965960"/>
            <a:ext cx="2651760" cy="37947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9226296" y="2185416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pptx_work/icons/termina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0888" y="235000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544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Commands (2)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253728" y="34747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command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review command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Single-prompt pipeline triggers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Release Note Pipeline</a:t>
            </a: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			</a:t>
            </a: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Technical Writing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Types of Outputs, Every Run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artifact type is a matched Markdown + HTML pair — Markdown for version control, HTML for publishing.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05840" y="2011680"/>
            <a:ext cx="3429000" cy="31089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354580" y="2267712"/>
            <a:ext cx="731520" cy="7315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pptx_work/icons/fileal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460" y="245059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Note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88720" y="35478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release-note-1-0-whats-new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280160" y="3977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— all 4 categories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80160" y="4434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pair per release</a:t>
            </a:r>
            <a:endParaRPr lang="en-US" sz="950" dirty="0"/>
          </a:p>
        </p:txBody>
      </p:sp>
      <p:pic>
        <p:nvPicPr>
          <p:cNvPr id="12" name="Image 1" descr="/home/claude/pptx_work/icons/arrow_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3465576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754880" y="2011680"/>
            <a:ext cx="3429000" cy="31089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6103620" y="2267712"/>
            <a:ext cx="731520" cy="7315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pptx_work/icons/boo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45059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3776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Topic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937760" y="35478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help-topic-[slug]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5029200" y="3977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What's New feature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029200" y="4434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pairs in Release 1.0</a:t>
            </a:r>
            <a:endParaRPr lang="en-US" sz="950" dirty="0"/>
          </a:p>
        </p:txBody>
      </p:sp>
      <p:pic>
        <p:nvPicPr>
          <p:cNvPr id="20" name="Image 3" descr="/home/claude/pptx_work/icons/arrow_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3465576"/>
            <a:ext cx="201168" cy="20116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503920" y="2011680"/>
            <a:ext cx="3429000" cy="310896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9852660" y="2267712"/>
            <a:ext cx="731520" cy="7315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/home/claude/pptx_work/icons/clipboar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5540" y="2450592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68680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Report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8686800" y="35478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release-note-review-report.md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8778240" y="3977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findings + scorecard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8778240" y="4434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run, Markdown only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502920" y="5486400"/>
            <a:ext cx="11201400" cy="777240"/>
          </a:xfrm>
          <a:prstGeom prst="rect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2"/>
          <p:cNvSpPr/>
          <p:nvPr/>
        </p:nvSpPr>
        <p:spPr>
          <a:xfrm>
            <a:off x="777240" y="54864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permanent deliverables per release.  </a:t>
            </a:r>
            <a:r>
              <a:rPr lang="en-US" sz="11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cache (raw / classified / agent-ready JSON) is generated alongside these but is disposable between runs.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Release Note Pipeline</a:t>
            </a: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			</a:t>
            </a: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Technical Writing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Parameters for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draft is publication-ready until it clears five checks. The reviewer agent reports; the orchestrator applies the fix.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2066544" cy="324612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225296" y="2313432"/>
            <a:ext cx="621792" cy="621792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225296" y="23134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" y="3108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7512" y="36576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release note &amp; help topic benchmarks — fixed category order, required sections.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24912" y="2057400"/>
            <a:ext cx="2066544" cy="324612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47288" y="2313432"/>
            <a:ext cx="621792" cy="621792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47288" y="23134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52928" y="3108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Accuracy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89504" y="36576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content, no internal IDs beyond Bug ID, no severity labels, correct AI tagging.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46904" y="2057400"/>
            <a:ext cx="2066544" cy="324612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669280" y="2313432"/>
            <a:ext cx="621792" cy="621792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669280" y="23134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74920" y="3108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Standards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11496" y="36576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person, active voice, sentence case, correct tense, number &amp; currency formatting.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68896" y="2057400"/>
            <a:ext cx="2066544" cy="324612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891272" y="2313432"/>
            <a:ext cx="621792" cy="621792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891272" y="23134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96912" y="3108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Branding Compliance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33488" y="36576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palette, font stack, required header/footer, category icons, AI tag colour.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390888" y="2057400"/>
            <a:ext cx="2066544" cy="3246120"/>
          </a:xfrm>
          <a:prstGeom prst="rect">
            <a:avLst/>
          </a:prstGeom>
          <a:solidFill>
            <a:srgbClr val="EEF1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0113264" y="2313432"/>
            <a:ext cx="621792" cy="621792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113264" y="23134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518904" y="3108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Hyperlink Integrity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555480" y="36576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What's New entry links to its help topic; every help topic links back correctly.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5532120"/>
            <a:ext cx="11201400" cy="777240"/>
          </a:xfrm>
          <a:prstGeom prst="rect">
            <a:avLst/>
          </a:prstGeom>
          <a:solidFill>
            <a:srgbClr val="1235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77240" y="5532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principle:  </a:t>
            </a:r>
            <a:r>
              <a:rPr lang="en-US" sz="11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v1.0 run scored 32/37 on its first pass and was correctly held back for revision — the gate caught real defects before publication.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Release Note Pipeline</a:t>
            </a: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			</a:t>
            </a: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Technical Writing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B964B-3EE2-FA00-B323-9A2307A7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585B16-065C-A6B9-2F1F-CC42CA5AEB6A}"/>
              </a:ext>
            </a:extLst>
          </p:cNvPr>
          <p:cNvSpPr/>
          <p:nvPr/>
        </p:nvSpPr>
        <p:spPr>
          <a:xfrm>
            <a:off x="2773680" y="1635760"/>
            <a:ext cx="5516880" cy="3942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a-IN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D820C4D-112B-1161-F23C-5F3A6355E58A}"/>
              </a:ext>
            </a:extLst>
          </p:cNvPr>
          <p:cNvSpPr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16C7F5-DAB9-7122-E8F0-1B5396105F21}"/>
              </a:ext>
            </a:extLst>
          </p:cNvPr>
          <p:cNvSpPr/>
          <p:nvPr/>
        </p:nvSpPr>
        <p:spPr>
          <a:xfrm>
            <a:off x="502920" y="7132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</a:t>
            </a:r>
            <a:endParaRPr lang="en-US" sz="2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8929982-7D63-13A7-C4C2-5C2C2ABBEF5C}"/>
              </a:ext>
            </a:extLst>
          </p:cNvPr>
          <p:cNvSpPr/>
          <p:nvPr/>
        </p:nvSpPr>
        <p:spPr>
          <a:xfrm>
            <a:off x="1225296" y="23134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4E1C3AB-D00E-40E6-A1C6-5C89DC0E75A5}"/>
              </a:ext>
            </a:extLst>
          </p:cNvPr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Release Note Pipeline</a:t>
            </a: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			</a:t>
            </a: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WealthWise Technical Writing</a:t>
            </a:r>
            <a:endParaRPr lang="en-US" sz="9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B425849-F06F-426B-B28D-8088DC1032BE}"/>
              </a:ext>
            </a:extLst>
          </p:cNvPr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9" name="Graphic 8" descr="Chevron arrows with solid fill">
            <a:hlinkClick r:id="rId3"/>
            <a:extLst>
              <a:ext uri="{FF2B5EF4-FFF2-40B4-BE49-F238E27FC236}">
                <a16:creationId xmlns:a16="http://schemas.microsoft.com/office/drawing/2014/main" id="{679518DA-CEB9-3585-8487-A36ECED7A6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4920" y="3025386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E2EA4D-25B3-3BA9-4F16-E5F73ECB9E83}"/>
              </a:ext>
            </a:extLst>
          </p:cNvPr>
          <p:cNvSpPr txBox="1"/>
          <p:nvPr/>
        </p:nvSpPr>
        <p:spPr>
          <a:xfrm>
            <a:off x="3616960" y="2217142"/>
            <a:ext cx="429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Ctrl+click</a:t>
            </a:r>
            <a:r>
              <a:rPr lang="en-IN" b="1" dirty="0"/>
              <a:t> </a:t>
            </a:r>
            <a:r>
              <a:rPr lang="en-IN" dirty="0"/>
              <a:t>the arrow to watch the video!</a:t>
            </a:r>
            <a:endParaRPr lang="pa-IN" dirty="0"/>
          </a:p>
        </p:txBody>
      </p:sp>
    </p:spTree>
    <p:extLst>
      <p:ext uri="{BB962C8B-B14F-4D97-AF65-F5344CB8AC3E}">
        <p14:creationId xmlns:p14="http://schemas.microsoft.com/office/powerpoint/2010/main" val="390384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1085</Words>
  <Application>Microsoft Office PowerPoint</Application>
  <PresentationFormat>Widescreen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WealthWise Release Note Pipeline — Architecture</dc:title>
  <dc:subject>PptxGenJS Presentation</dc:subject>
  <dc:creator>WealthWise Technical Writing</dc:creator>
  <cp:lastModifiedBy>Shubh Karman</cp:lastModifiedBy>
  <cp:revision>9</cp:revision>
  <dcterms:created xsi:type="dcterms:W3CDTF">2026-07-03T18:52:27Z</dcterms:created>
  <dcterms:modified xsi:type="dcterms:W3CDTF">2026-07-03T20:48:08Z</dcterms:modified>
</cp:coreProperties>
</file>