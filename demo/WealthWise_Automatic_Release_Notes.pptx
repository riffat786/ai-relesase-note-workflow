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57239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E6099-4C65-9025-9062-6D19E03D77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DCCCC0-F5CA-A0A9-D424-BADA35ED1D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1C137B-D96A-2C7B-336C-6B4AC8A9A7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AC3998-881F-F98A-994F-CCFE1793D4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281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10" Type="http://schemas.openxmlformats.org/officeDocument/2006/relationships/image" Target="../media/image5.png"/><Relationship Id="rId4" Type="http://schemas.openxmlformats.org/officeDocument/2006/relationships/image" Target="../media/image8.pn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7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iffat786/ai-relesase-note-workflow/blob/Shubh-kamran/demo/TWT_Demo_Final.zip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5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377440"/>
            <a:ext cx="5669280" cy="5669280"/>
          </a:xfrm>
          <a:prstGeom prst="ellipse">
            <a:avLst/>
          </a:prstGeom>
          <a:solidFill>
            <a:srgbClr val="2A9D8F">
              <a:alpha val="18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-2377440" y="4206240"/>
            <a:ext cx="4754880" cy="4754880"/>
          </a:xfrm>
          <a:prstGeom prst="ellipse">
            <a:avLst/>
          </a:prstGeom>
          <a:solidFill>
            <a:srgbClr val="AFC3D6">
              <a:alpha val="18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F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WEALTHWISE  ·  RELEASE NOTE AUTOMATION  ·  ARCHITECTURE OVERVIEW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23774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Note Pipeline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3246120"/>
            <a:ext cx="8961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F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architecture — from a labeled GitHub issue to a published, brand-compliant Help Centre article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4297680"/>
            <a:ext cx="2377440" cy="1005840"/>
          </a:xfrm>
          <a:prstGeom prst="rect">
            <a:avLst/>
          </a:prstGeom>
          <a:solidFill>
            <a:srgbClr val="FFFFFF">
              <a:alpha val="8000"/>
            </a:srgbClr>
          </a:solidFill>
          <a:ln w="9525">
            <a:solidFill>
              <a:srgbClr val="AFC3D6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640080" y="437083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40080" y="48920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F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182112" y="4297680"/>
            <a:ext cx="2377440" cy="1005840"/>
          </a:xfrm>
          <a:prstGeom prst="rect">
            <a:avLst/>
          </a:prstGeom>
          <a:solidFill>
            <a:srgbClr val="FFFFFF">
              <a:alpha val="8000"/>
            </a:srgbClr>
          </a:solidFill>
          <a:ln w="9525">
            <a:solidFill>
              <a:srgbClr val="AFC3D6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3182112" y="437083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3182112" y="48920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F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724144" y="4297680"/>
            <a:ext cx="2377440" cy="1005840"/>
          </a:xfrm>
          <a:prstGeom prst="rect">
            <a:avLst/>
          </a:prstGeom>
          <a:solidFill>
            <a:srgbClr val="FFFFFF">
              <a:alpha val="8000"/>
            </a:srgbClr>
          </a:solidFill>
          <a:ln w="9525">
            <a:solidFill>
              <a:srgbClr val="AFC3D6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5724144" y="437083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5724144" y="48920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F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266176" y="4297680"/>
            <a:ext cx="2377440" cy="1005840"/>
          </a:xfrm>
          <a:prstGeom prst="rect">
            <a:avLst/>
          </a:prstGeom>
          <a:solidFill>
            <a:srgbClr val="FFFFFF">
              <a:alpha val="8000"/>
            </a:srgbClr>
          </a:solidFill>
          <a:ln w="9525">
            <a:solidFill>
              <a:srgbClr val="AFC3D6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8266176" y="437083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266176" y="48920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F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per run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0080" y="6126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F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July 2026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008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Shubh Karman Dhaliwal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Labeled Issue to Published Note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command turns labeled GitHub issues into publication-ready, brand-compliant release notes and help topics — no manual drafting.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965960"/>
            <a:ext cx="2066544" cy="3337560"/>
          </a:xfrm>
          <a:prstGeom prst="rect">
            <a:avLst/>
          </a:prstGeom>
          <a:solidFill>
            <a:srgbClr val="EEF1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1147572" y="2263140"/>
            <a:ext cx="777240" cy="777240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7" name="Image 0" descr="/home/claude/pptx_work/icons/github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1882" y="2457450"/>
            <a:ext cx="388620" cy="3886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20040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Fetch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85800" y="3611880"/>
            <a:ext cx="17007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all issues in the v1.0 milestone from GitHub via MCP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724912" y="1965960"/>
            <a:ext cx="2066544" cy="3337560"/>
          </a:xfrm>
          <a:prstGeom prst="rect">
            <a:avLst/>
          </a:prstGeom>
          <a:solidFill>
            <a:srgbClr val="EEF1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8"/>
          <p:cNvSpPr/>
          <p:nvPr/>
        </p:nvSpPr>
        <p:spPr>
          <a:xfrm>
            <a:off x="3369564" y="2263140"/>
            <a:ext cx="777240" cy="777240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2" name="Image 1" descr="/home/claude/pptx_work/icons/gear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3874" y="2457450"/>
            <a:ext cx="388620" cy="3886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862072" y="320040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Classify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2907792" y="3611880"/>
            <a:ext cx="17007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labels to What's New, Enhancements, Bug Fixes, Known Issues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4946904" y="1965960"/>
            <a:ext cx="2066544" cy="3337560"/>
          </a:xfrm>
          <a:prstGeom prst="rect">
            <a:avLst/>
          </a:prstGeom>
          <a:solidFill>
            <a:srgbClr val="EEF1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hape 12"/>
          <p:cNvSpPr/>
          <p:nvPr/>
        </p:nvSpPr>
        <p:spPr>
          <a:xfrm>
            <a:off x="5591556" y="2263140"/>
            <a:ext cx="777240" cy="777240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7" name="Image 2" descr="/home/claude/pptx_work/icons/pen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85866" y="2457450"/>
            <a:ext cx="388620" cy="3886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5084064" y="320040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Draft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5129784" y="3611880"/>
            <a:ext cx="17007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 + Help-Topic agents draft brand-voice HTML &amp; Markdown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7168896" y="1965960"/>
            <a:ext cx="2066544" cy="3337560"/>
          </a:xfrm>
          <a:prstGeom prst="rect">
            <a:avLst/>
          </a:prstGeom>
          <a:solidFill>
            <a:srgbClr val="EEF1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Shape 16"/>
          <p:cNvSpPr/>
          <p:nvPr/>
        </p:nvSpPr>
        <p:spPr>
          <a:xfrm>
            <a:off x="7813548" y="2263140"/>
            <a:ext cx="777240" cy="777240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2" name="Image 3" descr="/home/claude/pptx_work/icons/chec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7858" y="2457450"/>
            <a:ext cx="388620" cy="3886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306056" y="320040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Review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7351776" y="3611880"/>
            <a:ext cx="17007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 agent checks structure, tone, branding &amp; links</a:t>
            </a:r>
            <a:endParaRPr 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9390888" y="1965960"/>
            <a:ext cx="2066544" cy="3337560"/>
          </a:xfrm>
          <a:prstGeom prst="rect">
            <a:avLst/>
          </a:prstGeom>
          <a:solidFill>
            <a:srgbClr val="EEF1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Shape 20"/>
          <p:cNvSpPr/>
          <p:nvPr/>
        </p:nvSpPr>
        <p:spPr>
          <a:xfrm>
            <a:off x="10035540" y="2263140"/>
            <a:ext cx="777240" cy="777240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7" name="Image 4" descr="/home/claude/pptx_work/icons/folder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29850" y="2457450"/>
            <a:ext cx="388620" cy="38862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9528048" y="320040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 Publish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9573768" y="3611880"/>
            <a:ext cx="17007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Auto-fixed files land in output/, ready for the Help Centre</a:t>
            </a:r>
            <a:endParaRPr lang="en-US" sz="1000" dirty="0"/>
          </a:p>
        </p:txBody>
      </p:sp>
      <p:sp>
        <p:nvSpPr>
          <p:cNvPr id="30" name="Shape 23"/>
          <p:cNvSpPr/>
          <p:nvPr/>
        </p:nvSpPr>
        <p:spPr>
          <a:xfrm>
            <a:off x="502920" y="5577840"/>
            <a:ext cx="11201400" cy="685800"/>
          </a:xfrm>
          <a:prstGeom prst="rect">
            <a:avLst/>
          </a:prstGeom>
          <a:solidFill>
            <a:srgbClr val="12355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1" name="Text 24"/>
          <p:cNvSpPr/>
          <p:nvPr/>
        </p:nvSpPr>
        <p:spPr>
          <a:xfrm>
            <a:off x="777240" y="557784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principle:  </a:t>
            </a:r>
            <a:r>
              <a:rPr lang="en-US" sz="1150" dirty="0">
                <a:solidFill>
                  <a:srgbClr val="AF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is the only live data source. Everything in sample-data/ is a benchmark, never a runtime input.</a:t>
            </a:r>
            <a:endParaRPr lang="en-US" sz="1150" dirty="0"/>
          </a:p>
        </p:txBody>
      </p:sp>
      <p:sp>
        <p:nvSpPr>
          <p:cNvPr id="32" name="Text 25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07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WealthWise Release Note Pipeline</a:t>
            </a:r>
            <a:r>
              <a:rPr lang="en-US" sz="9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					</a:t>
            </a:r>
            <a:r>
              <a:rPr lang="en-US" sz="900" dirty="0">
                <a:solidFill>
                  <a:srgbClr val="707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WealthWise Technical Writing</a:t>
            </a:r>
            <a:endParaRPr lang="en-US" sz="900" dirty="0"/>
          </a:p>
        </p:txBody>
      </p:sp>
      <p:sp>
        <p:nvSpPr>
          <p:cNvPr id="33" name="Text 26"/>
          <p:cNvSpPr/>
          <p:nvPr/>
        </p:nvSpPr>
        <p:spPr>
          <a:xfrm>
            <a:off x="1122883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07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IT'S ORGANIZED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Functional Layers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Configuration, orchestration logic, standards, and run output each live in their own place.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965960"/>
            <a:ext cx="2651760" cy="3794760"/>
          </a:xfrm>
          <a:prstGeom prst="rect">
            <a:avLst/>
          </a:prstGeom>
          <a:solidFill>
            <a:srgbClr val="EEF1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722376" y="2185416"/>
            <a:ext cx="658368" cy="658368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7" name="Image 0" descr="/home/claude/pptx_work/icons/plug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2350008"/>
            <a:ext cx="329184" cy="32918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31520" y="3017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Configuration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49808" y="3474720"/>
            <a:ext cx="21945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.mcp.json — GitHub MCP config</a:t>
            </a:r>
            <a:endParaRPr lang="en-US" sz="10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 — Claude Code guidance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337560" y="1965960"/>
            <a:ext cx="2651760" cy="3794760"/>
          </a:xfrm>
          <a:prstGeom prst="rect">
            <a:avLst/>
          </a:prstGeom>
          <a:solidFill>
            <a:srgbClr val="EEF1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8"/>
          <p:cNvSpPr/>
          <p:nvPr/>
        </p:nvSpPr>
        <p:spPr>
          <a:xfrm>
            <a:off x="3557016" y="2185416"/>
            <a:ext cx="658368" cy="658368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2" name="Image 1" descr="/home/claude/pptx_work/icons/gear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1608" y="2350008"/>
            <a:ext cx="329184" cy="32918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66160" y="3017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 Logic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3584448" y="3474720"/>
            <a:ext cx="21945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agents/ — orchestrator + 3 sub-agents</a:t>
            </a:r>
            <a:endParaRPr lang="en-US" sz="10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commands/ — generate &amp; review triggers</a:t>
            </a:r>
            <a:endParaRPr lang="en-US" sz="10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skills/ — writer, reviewer, classifier, branding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6172200" y="1965960"/>
            <a:ext cx="2651760" cy="3794760"/>
          </a:xfrm>
          <a:prstGeom prst="rect">
            <a:avLst/>
          </a:prstGeom>
          <a:solidFill>
            <a:srgbClr val="EEF1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hape 12"/>
          <p:cNvSpPr/>
          <p:nvPr/>
        </p:nvSpPr>
        <p:spPr>
          <a:xfrm>
            <a:off x="6391656" y="2185416"/>
            <a:ext cx="658368" cy="658368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7" name="Image 2" descr="/home/claude/pptx_work/icons/boo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6248" y="2350008"/>
            <a:ext cx="329184" cy="32918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00800" y="3017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Standards &amp; Samples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19088" y="3474720"/>
            <a:ext cx="21945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sample-data/ — 2 benchmark outputs</a:t>
            </a:r>
            <a:endParaRPr lang="en-US" sz="10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sample-data/ — 2 local sample inputs</a:t>
            </a:r>
            <a:endParaRPr lang="en-US" sz="10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mcp-plugin-concept/ — integration doc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9006840" y="1965960"/>
            <a:ext cx="2651760" cy="3794760"/>
          </a:xfrm>
          <a:prstGeom prst="rect">
            <a:avLst/>
          </a:prstGeom>
          <a:solidFill>
            <a:srgbClr val="EEF1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Shape 16"/>
          <p:cNvSpPr/>
          <p:nvPr/>
        </p:nvSpPr>
        <p:spPr>
          <a:xfrm>
            <a:off x="9226296" y="2185416"/>
            <a:ext cx="658368" cy="658368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2" name="Image 3" descr="/home/claude/pptx_work/icons/folder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90888" y="2350008"/>
            <a:ext cx="329184" cy="329184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35440" y="3017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Output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9253728" y="3474720"/>
            <a:ext cx="21945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output/ — every generated file</a:t>
            </a:r>
            <a:endParaRPr lang="en-US" sz="10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Regenerated fresh on each pipeline run</a:t>
            </a:r>
            <a:endParaRPr lang="en-US" sz="10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permanent deliverables per release</a:t>
            </a:r>
            <a:endParaRPr lang="en-US" sz="1050" dirty="0"/>
          </a:p>
        </p:txBody>
      </p:sp>
      <p:sp>
        <p:nvSpPr>
          <p:cNvPr id="25" name="Text 19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07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WealthWise Release Note Pipeline</a:t>
            </a:r>
            <a:r>
              <a:rPr lang="en-US" sz="9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					</a:t>
            </a:r>
            <a:r>
              <a:rPr lang="en-US" sz="900" dirty="0">
                <a:solidFill>
                  <a:srgbClr val="707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WealthWise Technical Writing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22883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07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GitHub Issue to Published Package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5760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orchestrator is the only agent that talks to GitHub —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downstream works from data it resolves once.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965960"/>
            <a:ext cx="2331720" cy="914400"/>
          </a:xfrm>
          <a:prstGeom prst="rect">
            <a:avLst/>
          </a:prstGeom>
          <a:solidFill>
            <a:srgbClr val="12355B"/>
          </a:solidFill>
          <a:ln w="12700">
            <a:solidFill>
              <a:srgbClr val="12355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658368" y="2194560"/>
            <a:ext cx="457200" cy="457200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7" name="Image 0" descr="/home/claude/pptx_work/icons/github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2304288"/>
            <a:ext cx="237744" cy="23774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16152" y="20574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 repo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216152" y="25146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F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ShubhKN/WealthWise · v1.0</a:t>
            </a:r>
            <a:endParaRPr lang="en-US" sz="850" dirty="0"/>
          </a:p>
        </p:txBody>
      </p:sp>
      <p:pic>
        <p:nvPicPr>
          <p:cNvPr id="10" name="Image 1" descr="/home/claude/pptx_work/icons/arrow_right_gr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4368" y="2331720"/>
            <a:ext cx="256032" cy="256032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310128" y="1920240"/>
            <a:ext cx="2468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8"/>
          <p:cNvSpPr/>
          <p:nvPr/>
        </p:nvSpPr>
        <p:spPr>
          <a:xfrm>
            <a:off x="3465576" y="2194560"/>
            <a:ext cx="457200" cy="457200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3" name="Image 2" descr="/home/claude/pptx_work/icons/gear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5304" y="230428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023360" y="201168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15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orchestrator</a:t>
            </a:r>
            <a:endParaRPr lang="en-US" sz="1150" dirty="0"/>
          </a:p>
        </p:txBody>
      </p:sp>
      <p:sp>
        <p:nvSpPr>
          <p:cNvPr id="15" name="Text 10"/>
          <p:cNvSpPr/>
          <p:nvPr/>
        </p:nvSpPr>
        <p:spPr>
          <a:xfrm>
            <a:off x="4023360" y="256032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→ classify → delegate</a:t>
            </a:r>
            <a:endParaRPr lang="en-US" sz="850" dirty="0"/>
          </a:p>
        </p:txBody>
      </p:sp>
      <p:pic>
        <p:nvPicPr>
          <p:cNvPr id="16" name="Image 3" descr="/home/claude/pptx_work/icons/arrow_right_gr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8736" y="2331720"/>
            <a:ext cx="256032" cy="256032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6263640" y="1600200"/>
            <a:ext cx="5394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Shape 12"/>
          <p:cNvSpPr/>
          <p:nvPr/>
        </p:nvSpPr>
        <p:spPr>
          <a:xfrm>
            <a:off x="6419088" y="1805940"/>
            <a:ext cx="457200" cy="457200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9" name="Image 4" descr="/home/claude/pptx_work/icons/pen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8816" y="1915668"/>
            <a:ext cx="237744" cy="237744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6976872" y="169164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15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writer-agent</a:t>
            </a:r>
            <a:endParaRPr lang="en-US" sz="1150" dirty="0"/>
          </a:p>
        </p:txBody>
      </p:sp>
      <p:sp>
        <p:nvSpPr>
          <p:cNvPr id="21" name="Text 14"/>
          <p:cNvSpPr/>
          <p:nvPr/>
        </p:nvSpPr>
        <p:spPr>
          <a:xfrm>
            <a:off x="6976872" y="2103120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release-note-*.md / .html</a:t>
            </a:r>
            <a:endParaRPr lang="en-US" sz="850" dirty="0"/>
          </a:p>
        </p:txBody>
      </p:sp>
      <p:sp>
        <p:nvSpPr>
          <p:cNvPr id="22" name="Shape 15"/>
          <p:cNvSpPr/>
          <p:nvPr/>
        </p:nvSpPr>
        <p:spPr>
          <a:xfrm>
            <a:off x="6263640" y="2587752"/>
            <a:ext cx="5394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16"/>
          <p:cNvSpPr/>
          <p:nvPr/>
        </p:nvSpPr>
        <p:spPr>
          <a:xfrm>
            <a:off x="6419088" y="2793492"/>
            <a:ext cx="457200" cy="457200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4" name="Image 5" descr="/home/claude/pptx_work/icons/robot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8816" y="2903220"/>
            <a:ext cx="237744" cy="237744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6976872" y="2679192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15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help-topic-writer-agent</a:t>
            </a:r>
            <a:endParaRPr lang="en-US" sz="1150" dirty="0"/>
          </a:p>
        </p:txBody>
      </p:sp>
      <p:sp>
        <p:nvSpPr>
          <p:cNvPr id="26" name="Text 18"/>
          <p:cNvSpPr/>
          <p:nvPr/>
        </p:nvSpPr>
        <p:spPr>
          <a:xfrm>
            <a:off x="6976872" y="3090672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help-topic-*.md / .html × per feature</a:t>
            </a:r>
            <a:endParaRPr lang="en-US" sz="850" dirty="0"/>
          </a:p>
        </p:txBody>
      </p:sp>
      <p:sp>
        <p:nvSpPr>
          <p:cNvPr id="27" name="Shape 19"/>
          <p:cNvSpPr/>
          <p:nvPr/>
        </p:nvSpPr>
        <p:spPr>
          <a:xfrm>
            <a:off x="6263640" y="3575304"/>
            <a:ext cx="5394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Shape 20"/>
          <p:cNvSpPr/>
          <p:nvPr/>
        </p:nvSpPr>
        <p:spPr>
          <a:xfrm>
            <a:off x="6419088" y="3781044"/>
            <a:ext cx="457200" cy="457200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9" name="Image 6" descr="/home/claude/pptx_work/icons/check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28816" y="3890772"/>
            <a:ext cx="237744" cy="237744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6976872" y="3666744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15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reviewer-agent</a:t>
            </a:r>
            <a:endParaRPr lang="en-US" sz="1150" dirty="0"/>
          </a:p>
        </p:txBody>
      </p:sp>
      <p:sp>
        <p:nvSpPr>
          <p:cNvPr id="31" name="Text 22"/>
          <p:cNvSpPr/>
          <p:nvPr/>
        </p:nvSpPr>
        <p:spPr>
          <a:xfrm>
            <a:off x="6976872" y="4078224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release-note-review-report.md</a:t>
            </a:r>
            <a:endParaRPr lang="en-US" sz="850" dirty="0"/>
          </a:p>
        </p:txBody>
      </p:sp>
      <p:sp>
        <p:nvSpPr>
          <p:cNvPr id="32" name="Shape 23"/>
          <p:cNvSpPr/>
          <p:nvPr/>
        </p:nvSpPr>
        <p:spPr>
          <a:xfrm>
            <a:off x="4544568" y="2926080"/>
            <a:ext cx="0" cy="457200"/>
          </a:xfrm>
          <a:prstGeom prst="line">
            <a:avLst/>
          </a:prstGeom>
          <a:noFill/>
          <a:ln w="12700">
            <a:solidFill>
              <a:srgbClr val="70798A"/>
            </a:solidFill>
            <a:prstDash val="dash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24"/>
          <p:cNvSpPr/>
          <p:nvPr/>
        </p:nvSpPr>
        <p:spPr>
          <a:xfrm>
            <a:off x="3310128" y="3383280"/>
            <a:ext cx="24688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Shape 25"/>
          <p:cNvSpPr/>
          <p:nvPr/>
        </p:nvSpPr>
        <p:spPr>
          <a:xfrm>
            <a:off x="3465576" y="3566160"/>
            <a:ext cx="457200" cy="457200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5" name="Image 7" descr="/home/claude/pptx_work/icons/database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75304" y="3675888"/>
            <a:ext cx="237744" cy="237744"/>
          </a:xfrm>
          <a:prstGeom prst="rect">
            <a:avLst/>
          </a:prstGeom>
        </p:spPr>
      </p:pic>
      <p:sp>
        <p:nvSpPr>
          <p:cNvPr id="36" name="Text 26"/>
          <p:cNvSpPr/>
          <p:nvPr/>
        </p:nvSpPr>
        <p:spPr>
          <a:xfrm>
            <a:off x="4023360" y="347472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15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Intermediate cache</a:t>
            </a:r>
            <a:endParaRPr lang="en-US" sz="1150" dirty="0"/>
          </a:p>
        </p:txBody>
      </p:sp>
      <p:sp>
        <p:nvSpPr>
          <p:cNvPr id="37" name="Text 27"/>
          <p:cNvSpPr/>
          <p:nvPr/>
        </p:nvSpPr>
        <p:spPr>
          <a:xfrm>
            <a:off x="4023360" y="384048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/ classified / agent-ready JSON</a:t>
            </a:r>
            <a:endParaRPr lang="en-US" sz="850" dirty="0"/>
          </a:p>
        </p:txBody>
      </p:sp>
      <p:sp>
        <p:nvSpPr>
          <p:cNvPr id="38" name="Shape 28"/>
          <p:cNvSpPr/>
          <p:nvPr/>
        </p:nvSpPr>
        <p:spPr>
          <a:xfrm>
            <a:off x="8961120" y="4443984"/>
            <a:ext cx="0" cy="292608"/>
          </a:xfrm>
          <a:prstGeom prst="line">
            <a:avLst/>
          </a:prstGeom>
          <a:noFill/>
          <a:ln w="12700">
            <a:solidFill>
              <a:srgbClr val="70798A"/>
            </a:solidFill>
            <a:prstDash val="dash"/>
          </a:ln>
        </p:spPr>
        <p:txBody>
          <a:bodyPr/>
          <a:lstStyle/>
          <a:p>
            <a:endParaRPr lang="en-IN"/>
          </a:p>
        </p:txBody>
      </p:sp>
      <p:sp>
        <p:nvSpPr>
          <p:cNvPr id="39" name="Shape 29"/>
          <p:cNvSpPr/>
          <p:nvPr/>
        </p:nvSpPr>
        <p:spPr>
          <a:xfrm>
            <a:off x="6263640" y="4736592"/>
            <a:ext cx="5394960" cy="868680"/>
          </a:xfrm>
          <a:prstGeom prst="rect">
            <a:avLst/>
          </a:prstGeom>
          <a:solidFill>
            <a:srgbClr val="12355B"/>
          </a:solidFill>
          <a:ln w="12700">
            <a:solidFill>
              <a:srgbClr val="12355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Shape 30"/>
          <p:cNvSpPr/>
          <p:nvPr/>
        </p:nvSpPr>
        <p:spPr>
          <a:xfrm>
            <a:off x="6419088" y="4942332"/>
            <a:ext cx="457200" cy="457200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1" name="Image 8" descr="/home/claude/pptx_work/icons/folder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28816" y="5052060"/>
            <a:ext cx="237744" cy="237744"/>
          </a:xfrm>
          <a:prstGeom prst="rect">
            <a:avLst/>
          </a:prstGeom>
        </p:spPr>
      </p:pic>
      <p:sp>
        <p:nvSpPr>
          <p:cNvPr id="42" name="Text 31"/>
          <p:cNvSpPr/>
          <p:nvPr/>
        </p:nvSpPr>
        <p:spPr>
          <a:xfrm>
            <a:off x="6976872" y="4828032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output/ — final package</a:t>
            </a:r>
            <a:endParaRPr lang="en-US" sz="1150" dirty="0"/>
          </a:p>
        </p:txBody>
      </p:sp>
      <p:sp>
        <p:nvSpPr>
          <p:cNvPr id="43" name="Text 32"/>
          <p:cNvSpPr/>
          <p:nvPr/>
        </p:nvSpPr>
        <p:spPr>
          <a:xfrm>
            <a:off x="6976872" y="5239512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F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files, ready for the Help Centre</a:t>
            </a:r>
            <a:endParaRPr lang="en-US" sz="850" dirty="0"/>
          </a:p>
        </p:txBody>
      </p:sp>
      <p:sp>
        <p:nvSpPr>
          <p:cNvPr id="44" name="Shape 33"/>
          <p:cNvSpPr/>
          <p:nvPr/>
        </p:nvSpPr>
        <p:spPr>
          <a:xfrm>
            <a:off x="502920" y="5623560"/>
            <a:ext cx="11201400" cy="621792"/>
          </a:xfrm>
          <a:prstGeom prst="rect">
            <a:avLst/>
          </a:prstGeom>
          <a:solidFill>
            <a:srgbClr val="E8F5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5" name="Text 34"/>
          <p:cNvSpPr/>
          <p:nvPr/>
        </p:nvSpPr>
        <p:spPr>
          <a:xfrm>
            <a:off x="777240" y="5623560"/>
            <a:ext cx="10698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Auto-fix loop:  </a:t>
            </a: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High/Medium reviewer findings are written back into output/ before the pipeline reports complete.</a:t>
            </a:r>
            <a:endParaRPr lang="en-US" sz="1100" dirty="0"/>
          </a:p>
        </p:txBody>
      </p:sp>
      <p:sp>
        <p:nvSpPr>
          <p:cNvPr id="46" name="Text 35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07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WealthWise Release Note Pipeline</a:t>
            </a:r>
            <a:r>
              <a:rPr lang="en-US" sz="9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					</a:t>
            </a:r>
            <a:r>
              <a:rPr lang="en-US" sz="900" dirty="0">
                <a:solidFill>
                  <a:srgbClr val="707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WealthWise Technical Writing</a:t>
            </a:r>
            <a:endParaRPr lang="en-US" sz="900" dirty="0"/>
          </a:p>
        </p:txBody>
      </p:sp>
      <p:sp>
        <p:nvSpPr>
          <p:cNvPr id="47" name="Text 36"/>
          <p:cNvSpPr/>
          <p:nvPr/>
        </p:nvSpPr>
        <p:spPr>
          <a:xfrm>
            <a:off x="1122883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07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RULES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Label-to-Category Mapping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fixed release note categories, driven entirely by GitHub labels.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965960"/>
            <a:ext cx="11201400" cy="566928"/>
          </a:xfrm>
          <a:prstGeom prst="rect">
            <a:avLst/>
          </a:prstGeom>
          <a:solidFill>
            <a:srgbClr val="EEF1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777240" y="1965960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35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type: feature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589520" y="2048256"/>
            <a:ext cx="3931920" cy="402336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7589520" y="2048256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New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2697480"/>
            <a:ext cx="11201400" cy="566928"/>
          </a:xfrm>
          <a:prstGeom prst="rect">
            <a:avLst/>
          </a:prstGeom>
          <a:solidFill>
            <a:srgbClr val="EEF1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777240" y="2697480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35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type: enhancement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589520" y="2779776"/>
            <a:ext cx="3931920" cy="402336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7589520" y="2779776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Enhancements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429000"/>
            <a:ext cx="11201400" cy="566928"/>
          </a:xfrm>
          <a:prstGeom prst="rect">
            <a:avLst/>
          </a:prstGeom>
          <a:solidFill>
            <a:srgbClr val="EEF1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777240" y="3429000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35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type: bug  (closed, no known-issue label)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589520" y="3511296"/>
            <a:ext cx="3931920" cy="402336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7589520" y="3511296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4160520"/>
            <a:ext cx="11201400" cy="566928"/>
          </a:xfrm>
          <a:prstGeom prst="rect">
            <a:avLst/>
          </a:prstGeom>
          <a:solidFill>
            <a:srgbClr val="EEF1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777240" y="4160520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35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type: bug  +  status: known-issue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589520" y="4242816"/>
            <a:ext cx="3931920" cy="402336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7589520" y="4242816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Issues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4892040"/>
            <a:ext cx="11201400" cy="566928"/>
          </a:xfrm>
          <a:prstGeom prst="rect">
            <a:avLst/>
          </a:prstGeom>
          <a:solidFill>
            <a:srgbClr val="EEF1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777240" y="4892040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35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type: bug  (open, unresolved)  ·  tracking issues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589520" y="4974336"/>
            <a:ext cx="3931920" cy="402336"/>
          </a:xfrm>
          <a:prstGeom prst="rect">
            <a:avLst/>
          </a:prstGeom>
          <a:solidFill>
            <a:srgbClr val="DADFE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7589520" y="4974336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Skipped — not in release notes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02920" y="5733288"/>
            <a:ext cx="11201400" cy="566928"/>
          </a:xfrm>
          <a:prstGeom prst="rect">
            <a:avLst/>
          </a:prstGeom>
          <a:solidFill>
            <a:srgbClr val="12355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777240" y="573328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tag rule:  </a:t>
            </a:r>
            <a:r>
              <a:rPr lang="en-US" sz="1050" dirty="0">
                <a:solidFill>
                  <a:srgbClr val="AF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item labeled component: ai-advisor gets a dedicated AI badge in the brand-teal accent — reserved exclusively for AI-driven functionality.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07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WealthWise Release Note Pipeline</a:t>
            </a:r>
            <a:r>
              <a:rPr lang="en-US" sz="9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					</a:t>
            </a:r>
            <a:r>
              <a:rPr lang="en-US" sz="900" dirty="0">
                <a:solidFill>
                  <a:srgbClr val="707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WealthWise Technical Writing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22883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07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BUILDING BLOCKS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Agents, One Job Each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does a single task — modular, easy to test, and simple to extend.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057400"/>
            <a:ext cx="2606040" cy="3566160"/>
          </a:xfrm>
          <a:prstGeom prst="rect">
            <a:avLst/>
          </a:prstGeom>
          <a:solidFill>
            <a:srgbClr val="EEF1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722376" y="2276856"/>
            <a:ext cx="566928" cy="566928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722376" y="22768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04088" y="3017520"/>
            <a:ext cx="2203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release-note-orchestrator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04088" y="3657600"/>
            <a:ext cx="220370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Fetches GitHub issues, resolves runtime variables, classifies them, and delegates to the sub-agents below.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91840" y="2057400"/>
            <a:ext cx="2606040" cy="3566160"/>
          </a:xfrm>
          <a:prstGeom prst="rect">
            <a:avLst/>
          </a:prstGeom>
          <a:solidFill>
            <a:srgbClr val="EEF1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3511296" y="2276856"/>
            <a:ext cx="566928" cy="566928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3511296" y="22768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93008" y="3017520"/>
            <a:ext cx="2203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release-note-writer-agent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493008" y="3657600"/>
            <a:ext cx="220370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the consolidated release note covering all four categories, in HTML and Markdown.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80760" y="2057400"/>
            <a:ext cx="2606040" cy="3566160"/>
          </a:xfrm>
          <a:prstGeom prst="rect">
            <a:avLst/>
          </a:prstGeom>
          <a:solidFill>
            <a:srgbClr val="EEF1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6300216" y="2276856"/>
            <a:ext cx="566928" cy="566928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6300216" y="22768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281928" y="3017520"/>
            <a:ext cx="2203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help-topic-writer-agent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281928" y="3657600"/>
            <a:ext cx="220370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one branded help topic per What's New feature, with Overview, Workflow, and a back-link.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869680" y="2057400"/>
            <a:ext cx="2606040" cy="3566160"/>
          </a:xfrm>
          <a:prstGeom prst="rect">
            <a:avLst/>
          </a:prstGeom>
          <a:solidFill>
            <a:srgbClr val="EEF1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9089136" y="2276856"/>
            <a:ext cx="566928" cy="566928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9089136" y="22768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070848" y="3017520"/>
            <a:ext cx="2203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release-note-reviewer-agent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9070848" y="3657600"/>
            <a:ext cx="220370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Audits every drafted file against the QA checklist and branding rules — reports only, never edits.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02920" y="5806440"/>
            <a:ext cx="11201400" cy="566928"/>
          </a:xfrm>
          <a:prstGeom prst="rect">
            <a:avLst/>
          </a:prstGeom>
          <a:solidFill>
            <a:srgbClr val="12355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777240" y="58064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principle:  </a:t>
            </a:r>
            <a:r>
              <a:rPr lang="en-US" sz="1050" dirty="0">
                <a:solidFill>
                  <a:srgbClr val="AF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orchestrator is the only agent that talks to GitHub. Every sub-agent works from data it resolves once.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07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WealthWise Release Note Pipeline</a:t>
            </a:r>
            <a:r>
              <a:rPr lang="en-US" sz="9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					</a:t>
            </a:r>
            <a:r>
              <a:rPr lang="en-US" sz="900" dirty="0">
                <a:solidFill>
                  <a:srgbClr val="707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WealthWise Technical Writing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22883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07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WORKFLOW RUNS 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Resources Used in the Workflow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live data connection, plus three categories of reusable, version-controlled reference material.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965960"/>
            <a:ext cx="2651760" cy="3794760"/>
          </a:xfrm>
          <a:prstGeom prst="rect">
            <a:avLst/>
          </a:prstGeom>
          <a:solidFill>
            <a:srgbClr val="EEF1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722376" y="2185416"/>
            <a:ext cx="658368" cy="658368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7" name="Image 0" descr="/home/claude/pptx_work/icons/plug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2350008"/>
            <a:ext cx="329184" cy="32918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31520" y="3017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MCP Server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49808" y="3474720"/>
            <a:ext cx="21945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.mcp.json</a:t>
            </a:r>
            <a:endParaRPr lang="en-US" sz="10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MCP — live issue data</a:t>
            </a:r>
            <a:endParaRPr lang="en-US" sz="10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Repo: ShubhKN/WealthWise, milestone v1.0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337560" y="1965960"/>
            <a:ext cx="2651760" cy="3794760"/>
          </a:xfrm>
          <a:prstGeom prst="rect">
            <a:avLst/>
          </a:prstGeom>
          <a:solidFill>
            <a:srgbClr val="EEF1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8"/>
          <p:cNvSpPr/>
          <p:nvPr/>
        </p:nvSpPr>
        <p:spPr>
          <a:xfrm>
            <a:off x="3557016" y="2185416"/>
            <a:ext cx="658368" cy="658368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2" name="Image 1" descr="/home/claude/pptx_work/icons/boo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1608" y="2350008"/>
            <a:ext cx="329184" cy="32918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66160" y="3017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 (4)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3584448" y="3474720"/>
            <a:ext cx="21945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Writer, Reviewer, Branding, GitHub Classifier</a:t>
            </a:r>
            <a:endParaRPr lang="en-US" sz="10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voice, QA &amp; style rules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6172200" y="1965960"/>
            <a:ext cx="2651760" cy="3794760"/>
          </a:xfrm>
          <a:prstGeom prst="rect">
            <a:avLst/>
          </a:prstGeom>
          <a:solidFill>
            <a:srgbClr val="EEF1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hape 12"/>
          <p:cNvSpPr/>
          <p:nvPr/>
        </p:nvSpPr>
        <p:spPr>
          <a:xfrm>
            <a:off x="6391656" y="2185416"/>
            <a:ext cx="658368" cy="658368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7" name="Image 2" descr="/home/claude/pptx_work/icons/databas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6248" y="2350008"/>
            <a:ext cx="329184" cy="32918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00800" y="3017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Sample Data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19088" y="3474720"/>
            <a:ext cx="21945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structure benchmarks</a:t>
            </a:r>
            <a:endParaRPr lang="en-US" sz="10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local sample inputs</a:t>
            </a:r>
            <a:endParaRPr lang="en-US" sz="10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only — never live data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9006840" y="1965960"/>
            <a:ext cx="2651760" cy="3794760"/>
          </a:xfrm>
          <a:prstGeom prst="rect">
            <a:avLst/>
          </a:prstGeom>
          <a:solidFill>
            <a:srgbClr val="EEF1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Shape 16"/>
          <p:cNvSpPr/>
          <p:nvPr/>
        </p:nvSpPr>
        <p:spPr>
          <a:xfrm>
            <a:off x="9226296" y="2185416"/>
            <a:ext cx="658368" cy="658368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2" name="Image 3" descr="/home/claude/pptx_work/icons/terminal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90888" y="2350008"/>
            <a:ext cx="329184" cy="329184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35440" y="3017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Commands (2)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9253728" y="3474720"/>
            <a:ext cx="21945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 command</a:t>
            </a:r>
            <a:endParaRPr lang="en-US" sz="10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 review command</a:t>
            </a:r>
            <a:endParaRPr lang="en-US" sz="10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Single-prompt pipeline triggers</a:t>
            </a:r>
            <a:endParaRPr lang="en-US" sz="1050" dirty="0"/>
          </a:p>
        </p:txBody>
      </p:sp>
      <p:sp>
        <p:nvSpPr>
          <p:cNvPr id="25" name="Text 19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07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WealthWise Release Note Pipeline</a:t>
            </a:r>
            <a:r>
              <a:rPr lang="en-US" sz="9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					</a:t>
            </a:r>
            <a:r>
              <a:rPr lang="en-US" sz="900" dirty="0">
                <a:solidFill>
                  <a:srgbClr val="707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WealthWise Technical Writing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22883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07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Types of Outputs, Every Run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artifact type is a matched Markdown + HTML pair — Markdown for version control, HTML for publishing.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1005840" y="2011680"/>
            <a:ext cx="3429000" cy="3108960"/>
          </a:xfrm>
          <a:prstGeom prst="rect">
            <a:avLst/>
          </a:prstGeom>
          <a:solidFill>
            <a:srgbClr val="EEF1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2354580" y="2267712"/>
            <a:ext cx="731520" cy="731520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7" name="Image 0" descr="/home/claude/pptx_work/icons/fileal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7460" y="2450592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88720" y="31546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Note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1188720" y="3547872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2A9D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release-note-1-0-whats-new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1280160" y="397764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Consolidated — all 4 categories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1280160" y="44348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707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pair per release</a:t>
            </a:r>
            <a:endParaRPr lang="en-US" sz="950" dirty="0"/>
          </a:p>
        </p:txBody>
      </p:sp>
      <p:pic>
        <p:nvPicPr>
          <p:cNvPr id="12" name="Image 1" descr="/home/claude/pptx_work/icons/arrow_right_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9704" y="3465576"/>
            <a:ext cx="201168" cy="201168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4754880" y="2011680"/>
            <a:ext cx="3429000" cy="3108960"/>
          </a:xfrm>
          <a:prstGeom prst="rect">
            <a:avLst/>
          </a:prstGeom>
          <a:solidFill>
            <a:srgbClr val="EEF1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Shape 10"/>
          <p:cNvSpPr/>
          <p:nvPr/>
        </p:nvSpPr>
        <p:spPr>
          <a:xfrm>
            <a:off x="6103620" y="2267712"/>
            <a:ext cx="731520" cy="731520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5" name="Image 2" descr="/home/claude/pptx_work/icons/boo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6500" y="2450592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937760" y="31546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Help Topic</a:t>
            </a:r>
            <a:endParaRPr lang="en-US" sz="1450" dirty="0"/>
          </a:p>
        </p:txBody>
      </p:sp>
      <p:sp>
        <p:nvSpPr>
          <p:cNvPr id="17" name="Text 12"/>
          <p:cNvSpPr/>
          <p:nvPr/>
        </p:nvSpPr>
        <p:spPr>
          <a:xfrm>
            <a:off x="4937760" y="3547872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2A9D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help-topic-[slug]</a:t>
            </a:r>
            <a:endParaRPr lang="en-US" sz="950" dirty="0"/>
          </a:p>
        </p:txBody>
      </p:sp>
      <p:sp>
        <p:nvSpPr>
          <p:cNvPr id="18" name="Text 13"/>
          <p:cNvSpPr/>
          <p:nvPr/>
        </p:nvSpPr>
        <p:spPr>
          <a:xfrm>
            <a:off x="5029200" y="397764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What's New feature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5029200" y="44348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707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pairs in Release 1.0</a:t>
            </a:r>
            <a:endParaRPr lang="en-US" sz="950" dirty="0"/>
          </a:p>
        </p:txBody>
      </p:sp>
      <p:pic>
        <p:nvPicPr>
          <p:cNvPr id="20" name="Image 3" descr="/home/claude/pptx_work/icons/arrow_right_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8744" y="3465576"/>
            <a:ext cx="201168" cy="201168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8503920" y="2011680"/>
            <a:ext cx="3429000" cy="3108960"/>
          </a:xfrm>
          <a:prstGeom prst="rect">
            <a:avLst/>
          </a:prstGeom>
          <a:solidFill>
            <a:srgbClr val="EEF1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Shape 16"/>
          <p:cNvSpPr/>
          <p:nvPr/>
        </p:nvSpPr>
        <p:spPr>
          <a:xfrm>
            <a:off x="9852660" y="2267712"/>
            <a:ext cx="731520" cy="731520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3" name="Image 4" descr="/home/claude/pptx_work/icons/clipboard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35540" y="2450592"/>
            <a:ext cx="365760" cy="36576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8686800" y="31546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Report</a:t>
            </a:r>
            <a:endParaRPr lang="en-US" sz="1450" dirty="0"/>
          </a:p>
        </p:txBody>
      </p:sp>
      <p:sp>
        <p:nvSpPr>
          <p:cNvPr id="25" name="Text 18"/>
          <p:cNvSpPr/>
          <p:nvPr/>
        </p:nvSpPr>
        <p:spPr>
          <a:xfrm>
            <a:off x="8686800" y="3547872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2A9D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release-note-review-report.md</a:t>
            </a:r>
            <a:endParaRPr lang="en-US" sz="950" dirty="0"/>
          </a:p>
        </p:txBody>
      </p:sp>
      <p:sp>
        <p:nvSpPr>
          <p:cNvPr id="26" name="Text 19"/>
          <p:cNvSpPr/>
          <p:nvPr/>
        </p:nvSpPr>
        <p:spPr>
          <a:xfrm>
            <a:off x="8778240" y="397764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findings + scorecard</a:t>
            </a:r>
            <a:endParaRPr lang="en-US" sz="1050" dirty="0"/>
          </a:p>
        </p:txBody>
      </p:sp>
      <p:sp>
        <p:nvSpPr>
          <p:cNvPr id="27" name="Text 20"/>
          <p:cNvSpPr/>
          <p:nvPr/>
        </p:nvSpPr>
        <p:spPr>
          <a:xfrm>
            <a:off x="8778240" y="44348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707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 run, Markdown only</a:t>
            </a:r>
            <a:endParaRPr lang="en-US" sz="950" dirty="0"/>
          </a:p>
        </p:txBody>
      </p:sp>
      <p:sp>
        <p:nvSpPr>
          <p:cNvPr id="28" name="Shape 21"/>
          <p:cNvSpPr/>
          <p:nvPr/>
        </p:nvSpPr>
        <p:spPr>
          <a:xfrm>
            <a:off x="502920" y="5486400"/>
            <a:ext cx="11201400" cy="777240"/>
          </a:xfrm>
          <a:prstGeom prst="rect">
            <a:avLst/>
          </a:prstGeom>
          <a:solidFill>
            <a:srgbClr val="12355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Text 22"/>
          <p:cNvSpPr/>
          <p:nvPr/>
        </p:nvSpPr>
        <p:spPr>
          <a:xfrm>
            <a:off x="777240" y="54864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permanent deliverables per release.  </a:t>
            </a:r>
            <a:r>
              <a:rPr lang="en-US" sz="1100" dirty="0">
                <a:solidFill>
                  <a:srgbClr val="AF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Intermediate cache (raw / classified / agent-ready JSON) is generated alongside these but is disposable between runs.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07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WealthWise Release Note Pipeline</a:t>
            </a:r>
            <a:r>
              <a:rPr lang="en-US" sz="9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					</a:t>
            </a:r>
            <a:r>
              <a:rPr lang="en-US" sz="900" dirty="0">
                <a:solidFill>
                  <a:srgbClr val="707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WealthWise Technical Writing</a:t>
            </a:r>
            <a:endParaRPr lang="en-US" sz="900" dirty="0"/>
          </a:p>
        </p:txBody>
      </p:sp>
      <p:sp>
        <p:nvSpPr>
          <p:cNvPr id="31" name="Text 24"/>
          <p:cNvSpPr/>
          <p:nvPr/>
        </p:nvSpPr>
        <p:spPr>
          <a:xfrm>
            <a:off x="1122883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07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GATE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 Parameters for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draft is publication-ready until it clears five checks. The reviewer agent reports; the orchestrator applies the fix.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057400"/>
            <a:ext cx="2066544" cy="3246120"/>
          </a:xfrm>
          <a:prstGeom prst="rect">
            <a:avLst/>
          </a:prstGeom>
          <a:solidFill>
            <a:srgbClr val="EEF1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1225296" y="2313432"/>
            <a:ext cx="621792" cy="621792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1225296" y="231343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30936" y="3108960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67512" y="3657600"/>
            <a:ext cx="1737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the release note &amp; help topic benchmarks — fixed category order, required sections.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24912" y="2057400"/>
            <a:ext cx="2066544" cy="3246120"/>
          </a:xfrm>
          <a:prstGeom prst="rect">
            <a:avLst/>
          </a:prstGeom>
          <a:solidFill>
            <a:srgbClr val="EEF1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3447288" y="2313432"/>
            <a:ext cx="621792" cy="621792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3447288" y="231343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852928" y="3108960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 Accuracy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889504" y="3657600"/>
            <a:ext cx="1737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invented content, no internal IDs beyond Bug ID, no severity labels, correct AI tagging.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946904" y="2057400"/>
            <a:ext cx="2066544" cy="3246120"/>
          </a:xfrm>
          <a:prstGeom prst="rect">
            <a:avLst/>
          </a:prstGeom>
          <a:solidFill>
            <a:srgbClr val="EEF1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5669280" y="2313432"/>
            <a:ext cx="621792" cy="621792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5669280" y="231343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074920" y="3108960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Writing Standards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111496" y="3657600"/>
            <a:ext cx="1737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person, active voice, sentence case, correct tense, number &amp; currency formatting.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7168896" y="2057400"/>
            <a:ext cx="2066544" cy="3246120"/>
          </a:xfrm>
          <a:prstGeom prst="rect">
            <a:avLst/>
          </a:prstGeom>
          <a:solidFill>
            <a:srgbClr val="EEF1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7891272" y="2313432"/>
            <a:ext cx="621792" cy="621792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7891272" y="231343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296912" y="3108960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Branding Compliance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333488" y="3657600"/>
            <a:ext cx="1737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 palette, font stack, required header/footer, category icons, AI tag colour.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9390888" y="2057400"/>
            <a:ext cx="2066544" cy="3246120"/>
          </a:xfrm>
          <a:prstGeom prst="rect">
            <a:avLst/>
          </a:prstGeom>
          <a:solidFill>
            <a:srgbClr val="EEF1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0113264" y="2313432"/>
            <a:ext cx="621792" cy="621792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10113264" y="231343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518904" y="3108960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Hyperlink Integrity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9555480" y="3657600"/>
            <a:ext cx="1737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What's New entry links to its help topic; every help topic links back correctly.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02920" y="5532120"/>
            <a:ext cx="11201400" cy="777240"/>
          </a:xfrm>
          <a:prstGeom prst="rect">
            <a:avLst/>
          </a:prstGeom>
          <a:solidFill>
            <a:srgbClr val="12355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777240" y="553212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principle:  </a:t>
            </a:r>
            <a:r>
              <a:rPr lang="en-US" sz="1100" dirty="0">
                <a:solidFill>
                  <a:srgbClr val="AF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v1.0 run scored 32/37 on its first pass and was correctly held back for revision — the gate caught real defects before publication.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07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WealthWise Release Note Pipeline</a:t>
            </a:r>
            <a:r>
              <a:rPr lang="en-US" sz="9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					</a:t>
            </a:r>
            <a:r>
              <a:rPr lang="en-US" sz="900" dirty="0">
                <a:solidFill>
                  <a:srgbClr val="707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WealthWise Technical Writing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22883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07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7B964B-3EE2-FA00-B323-9A2307A77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0585B16-065C-A6B9-2F1F-CC42CA5AEB6A}"/>
              </a:ext>
            </a:extLst>
          </p:cNvPr>
          <p:cNvSpPr/>
          <p:nvPr/>
        </p:nvSpPr>
        <p:spPr>
          <a:xfrm>
            <a:off x="2773680" y="1635760"/>
            <a:ext cx="5516880" cy="3942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a-IN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FD820C4D-112B-1161-F23C-5F3A6355E58A}"/>
              </a:ext>
            </a:extLst>
          </p:cNvPr>
          <p:cNvSpPr/>
          <p:nvPr/>
        </p:nvSpPr>
        <p:spPr>
          <a:xfrm>
            <a:off x="50292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Demonstration</a:t>
            </a:r>
            <a:endParaRPr lang="en-US" sz="11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716C7F5-DAB9-7122-E8F0-1B5396105F21}"/>
              </a:ext>
            </a:extLst>
          </p:cNvPr>
          <p:cNvSpPr/>
          <p:nvPr/>
        </p:nvSpPr>
        <p:spPr>
          <a:xfrm>
            <a:off x="502920" y="713232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Demonstration</a:t>
            </a:r>
            <a:endParaRPr lang="en-US" sz="26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D8929982-7D63-13A7-C4C2-5C2C2ABBEF5C}"/>
              </a:ext>
            </a:extLst>
          </p:cNvPr>
          <p:cNvSpPr/>
          <p:nvPr/>
        </p:nvSpPr>
        <p:spPr>
          <a:xfrm>
            <a:off x="1225296" y="231343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D4E1C3AB-D00E-40E6-A1C6-5C89DC0E75A5}"/>
              </a:ext>
            </a:extLst>
          </p:cNvPr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07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WealthWise Release Note Pipeline</a:t>
            </a:r>
            <a:r>
              <a:rPr lang="en-US" sz="9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					</a:t>
            </a:r>
            <a:r>
              <a:rPr lang="en-US" sz="900" dirty="0">
                <a:solidFill>
                  <a:srgbClr val="707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WealthWise Technical Writing</a:t>
            </a:r>
            <a:endParaRPr lang="en-US" sz="900" dirty="0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9B425849-F06F-426B-B28D-8088DC1032BE}"/>
              </a:ext>
            </a:extLst>
          </p:cNvPr>
          <p:cNvSpPr/>
          <p:nvPr/>
        </p:nvSpPr>
        <p:spPr>
          <a:xfrm>
            <a:off x="1122883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07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pic>
        <p:nvPicPr>
          <p:cNvPr id="9" name="Graphic 8" descr="Chevron arrows with solid fill">
            <a:hlinkClick r:id="rId3"/>
            <a:extLst>
              <a:ext uri="{FF2B5EF4-FFF2-40B4-BE49-F238E27FC236}">
                <a16:creationId xmlns:a16="http://schemas.microsoft.com/office/drawing/2014/main" id="{679518DA-CEB9-3585-8487-A36ECED7A6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74920" y="3025386"/>
            <a:ext cx="914400" cy="9144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6E2EA4D-25B3-3BA9-4F16-E5F73ECB9E83}"/>
              </a:ext>
            </a:extLst>
          </p:cNvPr>
          <p:cNvSpPr txBox="1"/>
          <p:nvPr/>
        </p:nvSpPr>
        <p:spPr>
          <a:xfrm>
            <a:off x="3616960" y="2217142"/>
            <a:ext cx="4297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 err="1"/>
              <a:t>Ctrl+click</a:t>
            </a:r>
            <a:r>
              <a:rPr lang="en-IN" b="1" dirty="0"/>
              <a:t> </a:t>
            </a:r>
            <a:r>
              <a:rPr lang="en-IN" dirty="0"/>
              <a:t>the arrow to watch the video!</a:t>
            </a:r>
            <a:endParaRPr lang="pa-IN" dirty="0"/>
          </a:p>
        </p:txBody>
      </p:sp>
    </p:spTree>
    <p:extLst>
      <p:ext uri="{BB962C8B-B14F-4D97-AF65-F5344CB8AC3E}">
        <p14:creationId xmlns:p14="http://schemas.microsoft.com/office/powerpoint/2010/main" val="3903844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</TotalTime>
  <Words>1085</Words>
  <Application>Microsoft Office PowerPoint</Application>
  <PresentationFormat>Widescreen</PresentationFormat>
  <Paragraphs>179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Cambria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WealthWise Release Note Pipeline — Architecture</dc:title>
  <dc:subject>PptxGenJS Presentation</dc:subject>
  <dc:creator>WealthWise Technical Writing</dc:creator>
  <cp:lastModifiedBy>Shubh Karman</cp:lastModifiedBy>
  <cp:revision>10</cp:revision>
  <dcterms:created xsi:type="dcterms:W3CDTF">2026-07-03T18:52:27Z</dcterms:created>
  <dcterms:modified xsi:type="dcterms:W3CDTF">2026-07-03T20:59:22Z</dcterms:modified>
</cp:coreProperties>
</file>