
<file path=[Content_Types].xml><?xml version="1.0" encoding="utf-8"?>
<Types xmlns="http://schemas.openxmlformats.org/package/2006/content-types">
  <Default Extension="md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0.xml" ContentType="application/vnd.openxmlformats-officedocument.presentationml.slide+xml"/>
  <Override PartName="/ppt/slides/slide60.xml" ContentType="application/vnd.openxmlformats-officedocument.presentationml.slide+xml"/>
  <Override PartName="/ppt/slides/slide70.xml" ContentType="application/vnd.openxmlformats-officedocument.presentationml.slide+xml"/>
  <Override PartName="/ppt/slides/slide80.xml" ContentType="application/vnd.openxmlformats-officedocument.presentationml.slide+xml"/>
  <Override PartName="/ppt/notesSlides/notesSlide5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0.xml" ContentType="application/vnd.openxmlformats-officedocument.presentationml.notesMaster+xml"/>
  <Override PartName="/ppt/slideMasters/slideMaster10.xml" ContentType="application/vnd.openxmlformats-officedocument.presentationml.slideMaster+xml"/>
  <Override PartName="/ppt/theme/theme20.xml" ContentType="application/vnd.openxmlformats-officedocument.theme+xml"/>
  <Override PartName="/ppt/theme/theme10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07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78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75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4078-5165-AC8D-4035-028A5346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18E80-DDFC-88A6-3FA2-2D6616C6A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67A29-24F9-C8D5-7F43-E52E0720D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BB1B3-5A36-2FED-F3FF-01BDCDFD0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99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AB41-9FC4-11D0-5EB1-EA367C7E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81B64-82AA-6535-8DDF-C05E5A6BC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6F38F-1B54-3AB6-B68D-11F8F730C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5722F-32CC-8397-4B3C-E392529D9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806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0.xml"/><Relationship Id="rId13" Type="http://schemas.openxmlformats.org/officeDocument/2006/relationships/image" Target="../media/image15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4.png"/><Relationship Id="rId17" Type="http://schemas.openxmlformats.org/officeDocument/2006/relationships/slide" Target="slide80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slide" Target="slide60.xml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40.png"/><Relationship Id="rId14" Type="http://schemas.openxmlformats.org/officeDocument/2006/relationships/slide" Target="slide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md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md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md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md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43185-FA3E-37A5-96F3-4D274BBC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434DCD-1E75-FCEF-9B37-64D11D592B89}"/>
              </a:ext>
            </a:extLst>
          </p:cNvPr>
          <p:cNvSpPr/>
          <p:nvPr/>
        </p:nvSpPr>
        <p:spPr>
          <a:xfrm>
            <a:off x="7040880" y="-1554480"/>
            <a:ext cx="3566160" cy="3566160"/>
          </a:xfrm>
          <a:prstGeom prst="ellipse">
            <a:avLst/>
          </a:prstGeom>
          <a:solidFill>
            <a:srgbClr val="2A9D8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F6907-271C-31B9-84F4-0ECFECC85D15}"/>
              </a:ext>
            </a:extLst>
          </p:cNvPr>
          <p:cNvSpPr/>
          <p:nvPr/>
        </p:nvSpPr>
        <p:spPr>
          <a:xfrm>
            <a:off x="7635240" y="-960120"/>
            <a:ext cx="2377440" cy="2377440"/>
          </a:xfrm>
          <a:prstGeom prst="ellipse">
            <a:avLst/>
          </a:prstGeom>
          <a:solidFill>
            <a:srgbClr val="2A9D8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06CD1D-D945-DF1C-A672-1D44A302ABD3}"/>
              </a:ext>
            </a:extLst>
          </p:cNvPr>
          <p:cNvSpPr/>
          <p:nvPr/>
        </p:nvSpPr>
        <p:spPr>
          <a:xfrm>
            <a:off x="-1280160" y="3840480"/>
            <a:ext cx="2743200" cy="2743200"/>
          </a:xfrm>
          <a:prstGeom prst="ellipse">
            <a:avLst/>
          </a:prstGeom>
          <a:solidFill>
            <a:srgbClr val="2A9D8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B76805-802C-7A9D-E0F8-A932996DE54D}"/>
              </a:ext>
            </a:extLst>
          </p:cNvPr>
          <p:cNvSpPr/>
          <p:nvPr/>
        </p:nvSpPr>
        <p:spPr>
          <a:xfrm>
            <a:off x="566928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TWT AI MASTERY PROGRAM . CAPSTONE PROJECT  ·  PROOF OF CONCEPT</a:t>
            </a:r>
            <a:endParaRPr lang="en-US" sz="12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7A52B0-C992-E469-D9E3-1F5A3978ABC7}"/>
              </a:ext>
            </a:extLst>
          </p:cNvPr>
          <p:cNvSpPr/>
          <p:nvPr/>
        </p:nvSpPr>
        <p:spPr>
          <a:xfrm>
            <a:off x="566928" y="1627632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Powered Release Note Workflow</a:t>
            </a:r>
            <a:endParaRPr lang="en-US" sz="4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63573F-42DD-AC09-E318-8636B10BBBF4}"/>
              </a:ext>
            </a:extLst>
          </p:cNvPr>
          <p:cNvSpPr/>
          <p:nvPr/>
        </p:nvSpPr>
        <p:spPr>
          <a:xfrm>
            <a:off x="566928" y="2926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Source Data into Publication-ready Documentation</a:t>
            </a:r>
            <a:endParaRPr lang="en-US" sz="1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E13E27F-4956-1DC0-9F67-3D9B9079D667}"/>
              </a:ext>
            </a:extLst>
          </p:cNvPr>
          <p:cNvSpPr/>
          <p:nvPr/>
        </p:nvSpPr>
        <p:spPr>
          <a:xfrm>
            <a:off x="585216" y="3675888"/>
            <a:ext cx="13716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804B7E-1747-8B4E-85A3-51158068C7AC}"/>
              </a:ext>
            </a:extLst>
          </p:cNvPr>
          <p:cNvSpPr/>
          <p:nvPr/>
        </p:nvSpPr>
        <p:spPr>
          <a:xfrm>
            <a:off x="566928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July 2026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7CAB16-A3A0-D387-787C-A85B7E8064DC}"/>
              </a:ext>
            </a:extLst>
          </p:cNvPr>
          <p:cNvSpPr/>
          <p:nvPr/>
        </p:nvSpPr>
        <p:spPr>
          <a:xfrm>
            <a:off x="566928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Bhargavi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1677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3049" y="402336"/>
            <a:ext cx="9674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01  CONTEXT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Business Challenge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8F5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685800" y="1490472"/>
            <a:ext cx="640080" cy="64008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46304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information is scattered across multiple source systems and implementation notes.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490472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6459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Time-Consuming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566928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release notes creation is repetitive and time-consuming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044952"/>
            <a:ext cx="640080" cy="64008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2004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Review Loops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146304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review passes multiply the documentation effort per release.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6344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8F5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6"/>
          <p:cNvSpPr/>
          <p:nvPr/>
        </p:nvSpPr>
        <p:spPr>
          <a:xfrm>
            <a:off x="4892040" y="3044952"/>
            <a:ext cx="640080" cy="64008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20040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Overhead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566928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manual formatting is needed to make notes publication-ready.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25782" y="416052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E8F5F3">
              <a:alpha val="17647"/>
            </a:srgbClr>
          </a:solidFill>
          <a:ln w="12700">
            <a:solidFill>
              <a:srgbClr val="E8F5F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AA8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58368" y="42885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41605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A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r>
              <a:rPr lang="en-US" sz="10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end-to-end release-note workflow while ensuring quality, consistency, and publication standards.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Text 24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38758" cy="237744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02  APPROACH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AI-Powered Solution</a:t>
            </a:r>
          </a:p>
        </p:txBody>
      </p:sp>
      <p:sp>
        <p:nvSpPr>
          <p:cNvPr id="5" name="Shape 3"/>
          <p:cNvSpPr/>
          <p:nvPr/>
        </p:nvSpPr>
        <p:spPr>
          <a:xfrm>
            <a:off x="2468880" y="1705356"/>
            <a:ext cx="411480" cy="201168"/>
          </a:xfrm>
          <a:prstGeom prst="righ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1705356"/>
            <a:ext cx="411480" cy="201168"/>
          </a:xfrm>
          <a:prstGeom prst="righ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331720"/>
            <a:ext cx="201168" cy="365760"/>
          </a:xfrm>
          <a:prstGeom prst="down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3107432"/>
            <a:ext cx="411480" cy="201168"/>
          </a:xfrm>
          <a:prstGeom prst="lef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107432"/>
            <a:ext cx="411480" cy="201168"/>
          </a:xfrm>
          <a:prstGeom prst="lef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594360" y="1527048"/>
            <a:ext cx="548640" cy="54864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420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463040"/>
            <a:ext cx="1188720" cy="685800"/>
          </a:xfrm>
          <a:prstGeom prst="rect">
            <a:avLst/>
          </a:prstGeom>
          <a:solidFill>
            <a:srgbClr val="EEF1F3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+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 err="1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</a:t>
            </a: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Notes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92608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3063240" y="1527048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66420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Data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39496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32120" y="1527048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66420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39496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32120" y="2929124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06628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220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26" name="Shape 20"/>
          <p:cNvSpPr/>
          <p:nvPr/>
        </p:nvSpPr>
        <p:spPr>
          <a:xfrm>
            <a:off x="292608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1"/>
          <p:cNvSpPr/>
          <p:nvPr/>
        </p:nvSpPr>
        <p:spPr>
          <a:xfrm>
            <a:off x="3063240" y="2929124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06628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0332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5720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4360" y="2929124"/>
            <a:ext cx="548640" cy="54864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06628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3444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34" name="Shape 26"/>
          <p:cNvSpPr/>
          <p:nvPr/>
        </p:nvSpPr>
        <p:spPr>
          <a:xfrm>
            <a:off x="457200" y="3825236"/>
            <a:ext cx="8366760" cy="960120"/>
          </a:xfrm>
          <a:prstGeom prst="roundRect">
            <a:avLst>
              <a:gd name="adj" fmla="val 10667"/>
            </a:avLst>
          </a:prstGeom>
          <a:solidFill>
            <a:srgbClr val="FBF0E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1792" y="3977641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4041649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2688" y="3977641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178308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78308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Data Extractor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352044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352044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Generator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525780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25780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Reviewer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99516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99516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Publisher</a:t>
            </a:r>
            <a:endParaRPr lang="en-US" sz="1050" dirty="0"/>
          </a:p>
        </p:txBody>
      </p:sp>
      <p:sp>
        <p:nvSpPr>
          <p:cNvPr id="49" name="Text 40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2" name="Shape 35">
            <a:extLst>
              <a:ext uri="{FF2B5EF4-FFF2-40B4-BE49-F238E27FC236}">
                <a16:creationId xmlns:a16="http://schemas.microsoft.com/office/drawing/2014/main" id="{C6DD4E93-8059-4823-8B24-B02A002A85E3}"/>
              </a:ext>
            </a:extLst>
          </p:cNvPr>
          <p:cNvSpPr/>
          <p:nvPr/>
        </p:nvSpPr>
        <p:spPr>
          <a:xfrm>
            <a:off x="3422469" y="4413168"/>
            <a:ext cx="1874520" cy="263229"/>
          </a:xfrm>
          <a:prstGeom prst="roundRect">
            <a:avLst>
              <a:gd name="adj" fmla="val 17143"/>
            </a:avLst>
          </a:prstGeom>
          <a:solidFill>
            <a:schemeClr val="accent6">
              <a:lumMod val="75000"/>
            </a:scheme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cs typeface="Calibri" pitchFamily="34" charset="-120"/>
              </a:rPr>
              <a:t>Human Review and Approval</a:t>
            </a:r>
          </a:p>
          <a:p>
            <a:pPr algn="ctr"/>
            <a:endParaRPr lang="en-IN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611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03  DEMONSTRATION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End-to-End Workflow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E8F5F3"/>
          </a:solidFill>
          <a:ln w="9525">
            <a:solidFill>
              <a:srgbClr val="E8F5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22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13533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Source Data</a:t>
            </a:r>
            <a:endParaRPr lang="en-US" sz="1300" dirty="0">
              <a:solidFill>
                <a:srgbClr val="12355B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205740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EEF1F3"/>
          </a:solidFill>
          <a:ln w="952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3447288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7288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5331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Release Note</a:t>
            </a:r>
            <a:endParaRPr lang="en-US" sz="1300" dirty="0">
              <a:solidFill>
                <a:srgbClr val="12355B"/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071616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E8F5F3"/>
          </a:solidFill>
          <a:ln w="9525">
            <a:solidFill>
              <a:srgbClr val="E8F5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54496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13533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54496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Release Note</a:t>
            </a:r>
            <a:endParaRPr lang="en-US" sz="1300" dirty="0">
              <a:solidFill>
                <a:srgbClr val="12355B"/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57200" y="3200400"/>
            <a:ext cx="8366760" cy="1417320"/>
          </a:xfrm>
          <a:prstGeom prst="roundRect">
            <a:avLst>
              <a:gd name="adj" fmla="val 6452"/>
            </a:avLst>
          </a:prstGeom>
          <a:solidFill>
            <a:srgbClr val="FBF0E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2"/>
          <p:cNvSpPr/>
          <p:nvPr/>
        </p:nvSpPr>
        <p:spPr>
          <a:xfrm>
            <a:off x="731520" y="342900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1520" y="3429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325880" y="3401568"/>
            <a:ext cx="384048" cy="38404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493008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Release Note</a:t>
            </a:r>
            <a:endParaRPr lang="en-US" sz="1700" dirty="0">
              <a:solidFill>
                <a:srgbClr val="12355B"/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731520" y="4133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-&gt; Approval -&gt; Publication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2" name="Slide Zoom 41">
                <a:extLst>
                  <a:ext uri="{FF2B5EF4-FFF2-40B4-BE49-F238E27FC236}">
                    <a16:creationId xmlns:a16="http://schemas.microsoft.com/office/drawing/2014/main" id="{24D156E9-16B3-4D67-BF4A-277A727F14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0079" y="2057399"/>
              <a:ext cx="1831267" cy="929613"/>
            </p:xfrm>
            <a:graphic>
              <a:graphicData uri="http://schemas.microsoft.com/office/powerpoint/2016/slidezoom">
                <pslz:sldZm>
                  <pslz:sldZmObj sldId="301" cId="238642846">
                    <pslz:zmPr id="{7529E5C8-B9AB-47D4-9209-C348B921A4B7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31267" cy="92961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2" name="Slide Zoom 41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4D156E9-16B3-4D67-BF4A-277A727F14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079" y="2057399"/>
                <a:ext cx="1831267" cy="92961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4" name="Slide Zoom 43">
                <a:extLst>
                  <a:ext uri="{FF2B5EF4-FFF2-40B4-BE49-F238E27FC236}">
                    <a16:creationId xmlns:a16="http://schemas.microsoft.com/office/drawing/2014/main" id="{D6D1C9B8-6BD6-4611-AEB7-7CC68216D9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74720" y="2020824"/>
              <a:ext cx="1763486" cy="961862"/>
            </p:xfrm>
            <a:graphic>
              <a:graphicData uri="http://schemas.microsoft.com/office/powerpoint/2016/slidezoom">
                <pslz:sldZm>
                  <pslz:sldZmObj sldId="302" cId="636061836">
                    <pslz:zmPr id="{236B2021-C4B8-45B5-8A29-717C44C1F6D4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63486" cy="9618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4" name="Slide Zoom 43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D6D1C9B8-6BD6-4611-AEB7-7CC68216D9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74720" y="2020824"/>
                <a:ext cx="1763486" cy="9618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6" name="Slide Zoom 45">
                <a:extLst>
                  <a:ext uri="{FF2B5EF4-FFF2-40B4-BE49-F238E27FC236}">
                    <a16:creationId xmlns:a16="http://schemas.microsoft.com/office/drawing/2014/main" id="{4A6FFE5B-4593-4DCF-BA69-9A6295BC07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39691" y="2048256"/>
              <a:ext cx="1761309" cy="937532"/>
            </p:xfrm>
            <a:graphic>
              <a:graphicData uri="http://schemas.microsoft.com/office/powerpoint/2016/slidezoom">
                <pslz:sldZm>
                  <pslz:sldZmObj sldId="303" cId="3399947531">
                    <pslz:zmPr id="{247751EA-8D89-4621-ADD2-DC73BB8D188D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61309" cy="93753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6" name="Slide Zoom 45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4A6FFE5B-4593-4DCF-BA69-9A6295BC07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39691" y="2048256"/>
                <a:ext cx="1761309" cy="93753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8" name="Slide Zoom 47">
                <a:extLst>
                  <a:ext uri="{FF2B5EF4-FFF2-40B4-BE49-F238E27FC236}">
                    <a16:creationId xmlns:a16="http://schemas.microsoft.com/office/drawing/2014/main" id="{B011D2E3-3668-4B62-860C-B7AE74AD58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85616" y="3263836"/>
              <a:ext cx="2203704" cy="1239584"/>
            </p:xfrm>
            <a:graphic>
              <a:graphicData uri="http://schemas.microsoft.com/office/powerpoint/2016/slidezoom">
                <pslz:sldZm>
                  <pslz:sldZmObj sldId="304" cId="288928094">
                    <pslz:zmPr id="{3D08C4F1-A073-4D32-9149-A621580A2409}" returnToParent="0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03704" cy="123958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8" name="Slide Zoom 47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B011D2E3-3668-4B62-860C-B7AE74AD58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85616" y="3263836"/>
                <a:ext cx="2203704" cy="123958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4970E69-02BF-4A0F-A5F8-593AAE1E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3E0B4-5DC0-4249-B6C9-55D5B4E6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14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6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FC32F-9DB0-41E9-8402-249D0784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CF756-4ED0-45DD-B133-DE9B83F4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96112" cy="237744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04  IMPACT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Business Value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313687"/>
            <a:ext cx="6248400" cy="3429000"/>
          </a:xfrm>
          <a:prstGeom prst="roundRect">
            <a:avLst>
              <a:gd name="adj" fmla="val 2667"/>
            </a:avLst>
          </a:prstGeom>
          <a:solidFill>
            <a:srgbClr val="EEF1F3"/>
          </a:solidFill>
          <a:ln w="952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731522" y="1542287"/>
            <a:ext cx="457200" cy="4572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50" y="1652015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2" y="1542287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>
              <a:solidFill>
                <a:srgbClr val="12355B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2" y="2255519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4" y="2328671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2" y="2182367"/>
            <a:ext cx="40462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documentation effort in release note creation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731522" y="2740151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4" y="2813303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1" y="2666999"/>
            <a:ext cx="36434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standardized release note generation 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1522" y="3224783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4" y="3297935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2" y="3151631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documentation turnaround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Shape 12"/>
          <p:cNvSpPr/>
          <p:nvPr/>
        </p:nvSpPr>
        <p:spPr>
          <a:xfrm>
            <a:off x="731522" y="3709415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4" y="3782567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2" y="3636263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outputs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731522" y="4194047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4" y="4267199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2" y="4120895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content quality through AI review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Text 32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7EFCA-209F-4BC7-BC92-7C165DB3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35604D-5895-9F76-283C-232D7D0B6B05}"/>
              </a:ext>
            </a:extLst>
          </p:cNvPr>
          <p:cNvSpPr/>
          <p:nvPr/>
        </p:nvSpPr>
        <p:spPr>
          <a:xfrm>
            <a:off x="-1463040" y="2834640"/>
            <a:ext cx="3291840" cy="3291840"/>
          </a:xfrm>
          <a:prstGeom prst="ellipse">
            <a:avLst/>
          </a:prstGeom>
          <a:solidFill>
            <a:srgbClr val="2A9D8F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EBF72B-8480-9B50-3493-67472DD10F36}"/>
              </a:ext>
            </a:extLst>
          </p:cNvPr>
          <p:cNvSpPr/>
          <p:nvPr/>
        </p:nvSpPr>
        <p:spPr>
          <a:xfrm>
            <a:off x="-822960" y="3474720"/>
            <a:ext cx="2011680" cy="2011680"/>
          </a:xfrm>
          <a:prstGeom prst="ellipse">
            <a:avLst/>
          </a:prstGeom>
          <a:solidFill>
            <a:srgbClr val="2A9D8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39CF7E-B809-4B44-95AB-2CC0D42187DB}"/>
              </a:ext>
            </a:extLst>
          </p:cNvPr>
          <p:cNvSpPr/>
          <p:nvPr/>
        </p:nvSpPr>
        <p:spPr>
          <a:xfrm>
            <a:off x="566928" y="10515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makes people faster,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redundant.”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03F536-C07B-06BE-D8E8-04854515C94A}"/>
              </a:ext>
            </a:extLst>
          </p:cNvPr>
          <p:cNvSpPr/>
          <p:nvPr/>
        </p:nvSpPr>
        <p:spPr>
          <a:xfrm>
            <a:off x="585216" y="2606040"/>
            <a:ext cx="13716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697A56-876A-9EC4-3AB0-5C75F5FD74DC}"/>
              </a:ext>
            </a:extLst>
          </p:cNvPr>
          <p:cNvSpPr/>
          <p:nvPr/>
        </p:nvSpPr>
        <p:spPr>
          <a:xfrm>
            <a:off x="566928" y="285292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technical and business context to deliver customer-ready release notes 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4CD067-DA94-A0B9-6F2D-DC3CD5BBEBE8}"/>
              </a:ext>
            </a:extLst>
          </p:cNvPr>
          <p:cNvSpPr/>
          <p:nvPr/>
        </p:nvSpPr>
        <p:spPr>
          <a:xfrm>
            <a:off x="566928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CAPSTONE PROJECT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065855-C080-3BBD-9F65-1374C761622A}"/>
              </a:ext>
            </a:extLst>
          </p:cNvPr>
          <p:cNvSpPr/>
          <p:nvPr/>
        </p:nvSpPr>
        <p:spPr>
          <a:xfrm>
            <a:off x="566928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Bhargavi</a:t>
            </a:r>
            <a:endParaRPr lang="en-US" sz="13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39F8FF-144B-9AC0-FC70-A4258AE8D835}"/>
              </a:ext>
            </a:extLst>
          </p:cNvPr>
          <p:cNvSpPr/>
          <p:nvPr/>
        </p:nvSpPr>
        <p:spPr>
          <a:xfrm>
            <a:off x="566928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0457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4970E69-02BF-4A0F-A5F8-593AAE1E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2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3E0B4-5DC0-4249-B6C9-55D5B4E6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14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618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FC32F-9DB0-41E9-8402-249D0784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75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CF756-4ED0-45DD-B133-DE9B83F4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234</Words>
  <Application>Microsoft Office PowerPoint</Application>
  <PresentationFormat>On-screen Show (16:9)</PresentationFormat>
  <Paragraphs>72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Release Note Generation</dc:title>
  <dc:subject>PptxGenJS Presentation</dc:subject>
  <dc:creator>Riffat Wyne</dc:creator>
  <cp:lastModifiedBy>bhargavi chary</cp:lastModifiedBy>
  <cp:revision>9</cp:revision>
  <dcterms:created xsi:type="dcterms:W3CDTF">2026-07-02T15:31:33Z</dcterms:created>
  <dcterms:modified xsi:type="dcterms:W3CDTF">2026-07-03T20:12:39Z</dcterms:modified>
</cp:coreProperties>
</file>