
<file path=[Content_Types].xml><?xml version="1.0" encoding="utf-8"?>
<Types xmlns="http://schemas.openxmlformats.org/package/2006/content-types">
  <Default Extension="md" ContentType="image/pn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0.xml" ContentType="application/vnd.openxmlformats-officedocument.presentationml.slide+xml"/>
  <Override PartName="/ppt/slides/slide60.xml" ContentType="application/vnd.openxmlformats-officedocument.presentationml.slide+xml"/>
  <Override PartName="/ppt/slides/slide70.xml" ContentType="application/vnd.openxmlformats-officedocument.presentationml.slide+xml"/>
  <Override PartName="/ppt/notesSlides/notesSlide50.xml" ContentType="application/vnd.openxmlformats-officedocument.presentationml.notesSlide+xml"/>
  <Override PartName="/ppt/slideLayouts/slideLayout10.xml" ContentType="application/vnd.openxmlformats-officedocument.presentationml.slideLayout+xml"/>
  <Override PartName="/ppt/notesMasters/notesMaster10.xml" ContentType="application/vnd.openxmlformats-officedocument.presentationml.notesMaster+xml"/>
  <Override PartName="/ppt/slideMasters/slideMaster10.xml" ContentType="application/vnd.openxmlformats-officedocument.presentationml.slideMaster+xml"/>
  <Override PartName="/ppt/theme/theme20.xml" ContentType="application/vnd.openxmlformats-officedocument.theme+xml"/>
  <Override PartName="/ppt/theme/theme10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307" r:id="rId2"/>
    <p:sldId id="298" r:id="rId3"/>
    <p:sldId id="299" r:id="rId4"/>
    <p:sldId id="300" r:id="rId5"/>
    <p:sldId id="301" r:id="rId6"/>
    <p:sldId id="302" r:id="rId7"/>
    <p:sldId id="303" r:id="rId8"/>
    <p:sldId id="309" r:id="rId9"/>
    <p:sldId id="310" r:id="rId10"/>
    <p:sldId id="305" r:id="rId11"/>
    <p:sldId id="308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8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2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_rels/notesMaster10.xml.rels><?xml version="1.0" encoding="UTF-8" standalone="yes"?>
<Relationships xmlns="http://schemas.openxmlformats.org/package/2006/relationships"><Relationship Id="rId1" Type="http://schemas.openxmlformats.org/officeDocument/2006/relationships/theme" Target="../theme/theme2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781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0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752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F4078-5165-AC8D-4035-028A5346B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A18E80-DDFC-88A6-3FA2-2D6616C6A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C67A29-24F9-C8D5-7F43-E52E0720D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BB1B3-5A36-2FED-F3FF-01BDCDFD00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2991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0667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1AB41-9FC4-11D0-5EB1-EA367C7E5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781B64-82AA-6535-8DDF-C05E5A6BC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96F38F-1B54-3AB6-B68D-11F8F730C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5722F-32CC-8397-4B3C-E392529D9F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88067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066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5.png"/><Relationship Id="rId18" Type="http://schemas.openxmlformats.org/officeDocument/2006/relationships/slide" Target="slide8.xml"/><Relationship Id="rId3" Type="http://schemas.openxmlformats.org/officeDocument/2006/relationships/notesSlide" Target="../notesSlides/notesSlide4.xml"/><Relationship Id="rId21" Type="http://schemas.openxmlformats.org/officeDocument/2006/relationships/oleObject" Target="file:///C:\Users\admin\Projects\ai-relesase-note-workflow\sample-data\release-notes.docx" TargetMode="External"/><Relationship Id="rId7" Type="http://schemas.openxmlformats.org/officeDocument/2006/relationships/image" Target="../media/image13.png"/><Relationship Id="rId12" Type="http://schemas.openxmlformats.org/officeDocument/2006/relationships/slide" Target="slide60.xml"/><Relationship Id="rId17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16.png"/><Relationship Id="rId20" Type="http://schemas.openxmlformats.org/officeDocument/2006/relationships/slide" Target="slide9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8.pn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5" Type="http://schemas.openxmlformats.org/officeDocument/2006/relationships/slide" Target="slide70.xml"/><Relationship Id="rId10" Type="http://schemas.openxmlformats.org/officeDocument/2006/relationships/image" Target="../media/image140.png"/><Relationship Id="rId19" Type="http://schemas.openxmlformats.org/officeDocument/2006/relationships/image" Target="../media/image18.png"/><Relationship Id="rId4" Type="http://schemas.openxmlformats.org/officeDocument/2006/relationships/image" Target="../media/image1.png"/><Relationship Id="rId9" Type="http://schemas.openxmlformats.org/officeDocument/2006/relationships/slide" Target="slide50.xml"/><Relationship Id="rId14" Type="http://schemas.openxmlformats.org/officeDocument/2006/relationships/image" Target="../media/image16.png"/><Relationship Id="rId22" Type="http://schemas.openxmlformats.org/officeDocument/2006/relationships/image" Target="../media/image12.w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md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md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md"/><Relationship Id="rId1" Type="http://schemas.openxmlformats.org/officeDocument/2006/relationships/slideLayout" Target="../slideLayouts/slideLayout10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md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55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43185-FA3E-37A5-96F3-4D274BBC1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6434DCD-1E75-FCEF-9B37-64D11D592B89}"/>
              </a:ext>
            </a:extLst>
          </p:cNvPr>
          <p:cNvSpPr/>
          <p:nvPr/>
        </p:nvSpPr>
        <p:spPr>
          <a:xfrm>
            <a:off x="7040880" y="-1554480"/>
            <a:ext cx="3566160" cy="3566160"/>
          </a:xfrm>
          <a:prstGeom prst="ellipse">
            <a:avLst/>
          </a:prstGeom>
          <a:solidFill>
            <a:srgbClr val="2A9D8F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BEF6907-271C-31B9-84F4-0ECFECC85D15}"/>
              </a:ext>
            </a:extLst>
          </p:cNvPr>
          <p:cNvSpPr/>
          <p:nvPr/>
        </p:nvSpPr>
        <p:spPr>
          <a:xfrm>
            <a:off x="7635240" y="-960120"/>
            <a:ext cx="2377440" cy="2377440"/>
          </a:xfrm>
          <a:prstGeom prst="ellipse">
            <a:avLst/>
          </a:prstGeom>
          <a:solidFill>
            <a:srgbClr val="2A9D8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006CD1D-D945-DF1C-A672-1D44A302ABD3}"/>
              </a:ext>
            </a:extLst>
          </p:cNvPr>
          <p:cNvSpPr/>
          <p:nvPr/>
        </p:nvSpPr>
        <p:spPr>
          <a:xfrm>
            <a:off x="-1280160" y="3840480"/>
            <a:ext cx="2743200" cy="2743200"/>
          </a:xfrm>
          <a:prstGeom prst="ellipse">
            <a:avLst/>
          </a:prstGeom>
          <a:solidFill>
            <a:srgbClr val="2A9D8F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0B76805-802C-7A9D-E0F8-A932996DE54D}"/>
              </a:ext>
            </a:extLst>
          </p:cNvPr>
          <p:cNvSpPr/>
          <p:nvPr/>
        </p:nvSpPr>
        <p:spPr>
          <a:xfrm>
            <a:off x="566928" y="11704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TWT AI MASTERY PROGRAM . CAPSTONE PROJECT  ·  PROOF OF CONCEPT</a:t>
            </a:r>
            <a:endParaRPr lang="en-US" sz="12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37A52B0-C992-E469-D9E3-1F5A3978ABC7}"/>
              </a:ext>
            </a:extLst>
          </p:cNvPr>
          <p:cNvSpPr/>
          <p:nvPr/>
        </p:nvSpPr>
        <p:spPr>
          <a:xfrm>
            <a:off x="566928" y="1627632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Powered Release Note Workflow</a:t>
            </a:r>
            <a:endParaRPr lang="en-US" sz="4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463573F-42DD-AC09-E318-8636B10BBBF4}"/>
              </a:ext>
            </a:extLst>
          </p:cNvPr>
          <p:cNvSpPr/>
          <p:nvPr/>
        </p:nvSpPr>
        <p:spPr>
          <a:xfrm>
            <a:off x="566928" y="2926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Source Data into Publication-ready Documentation</a:t>
            </a:r>
            <a:endParaRPr lang="en-US" sz="17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E13E27F-4956-1DC0-9F67-3D9B9079D667}"/>
              </a:ext>
            </a:extLst>
          </p:cNvPr>
          <p:cNvSpPr/>
          <p:nvPr/>
        </p:nvSpPr>
        <p:spPr>
          <a:xfrm>
            <a:off x="585216" y="3675888"/>
            <a:ext cx="1371600" cy="0"/>
          </a:xfrm>
          <a:prstGeom prst="line">
            <a:avLst/>
          </a:prstGeom>
          <a:noFill/>
          <a:ln w="3175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0804B7E-1747-8B4E-85A3-51158068C7AC}"/>
              </a:ext>
            </a:extLst>
          </p:cNvPr>
          <p:cNvSpPr/>
          <p:nvPr/>
        </p:nvSpPr>
        <p:spPr>
          <a:xfrm>
            <a:off x="566928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July 2026</a:t>
            </a:r>
            <a:endParaRPr lang="en-US" sz="13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57CAB16-A3A0-D387-787C-A85B7E8064DC}"/>
              </a:ext>
            </a:extLst>
          </p:cNvPr>
          <p:cNvSpPr/>
          <p:nvPr/>
        </p:nvSpPr>
        <p:spPr>
          <a:xfrm>
            <a:off x="566928" y="4315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Bhargavi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816776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43049" y="402336"/>
            <a:ext cx="9674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2A9D8F"/>
                </a:solidFill>
                <a:latin typeface="Calibri" pitchFamily="34" charset="0"/>
                <a:cs typeface="Calibri" pitchFamily="34" charset="-120"/>
              </a:rPr>
              <a:t>01  CONTEXT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</a:rPr>
              <a:t>Business Challenge</a:t>
            </a:r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8F5F3"/>
          </a:solidFill>
          <a:ln/>
          <a:effectLst>
            <a:outerShdw blurRad="101600" dist="38100" dir="5400000" algn="bl" rotWithShape="0">
              <a:srgbClr val="0B2745">
                <a:alpha val="12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685800" y="1490472"/>
            <a:ext cx="640080" cy="640080"/>
          </a:xfrm>
          <a:prstGeom prst="ellipse">
            <a:avLst/>
          </a:prstGeom>
          <a:solidFill>
            <a:srgbClr val="22D3EE">
              <a:alpha val="20000"/>
            </a:srgbClr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645920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14904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Sources</a:t>
            </a:r>
            <a:endParaRPr lang="en-US" sz="1500" dirty="0">
              <a:solidFill>
                <a:srgbClr val="12355B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14630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information is scattered across multiple source systems and implementation notes.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4663440" y="12344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EF1F3"/>
          </a:solidFill>
          <a:ln/>
          <a:effectLst>
            <a:outerShdw blurRad="101600" dist="38100" dir="5400000" algn="bl" rotWithShape="0">
              <a:srgbClr val="0B2745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490472"/>
            <a:ext cx="640080" cy="640080"/>
          </a:xfrm>
          <a:prstGeom prst="ellipse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164592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0" y="14904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&amp; Time-Consuming</a:t>
            </a:r>
            <a:endParaRPr lang="en-US" sz="1500" dirty="0">
              <a:solidFill>
                <a:srgbClr val="12355B"/>
              </a:solidFill>
            </a:endParaRPr>
          </a:p>
        </p:txBody>
      </p:sp>
      <p:sp>
        <p:nvSpPr>
          <p:cNvPr id="14" name="Text 10"/>
          <p:cNvSpPr/>
          <p:nvPr/>
        </p:nvSpPr>
        <p:spPr>
          <a:xfrm>
            <a:off x="566928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release notes creation is repetitive and time-consuming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5" name="Shape 11"/>
          <p:cNvSpPr/>
          <p:nvPr/>
        </p:nvSpPr>
        <p:spPr>
          <a:xfrm>
            <a:off x="457200" y="278892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EF1F3"/>
          </a:solidFill>
          <a:ln/>
          <a:effectLst>
            <a:outerShdw blurRad="101600" dist="38100" dir="5400000" algn="bl" rotWithShape="0">
              <a:srgbClr val="0B2745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85800" y="3044952"/>
            <a:ext cx="640080" cy="640080"/>
          </a:xfrm>
          <a:prstGeom prst="ellipse">
            <a:avLst/>
          </a:prstGeom>
          <a:solidFill>
            <a:srgbClr val="F43F5E">
              <a:alpha val="20000"/>
            </a:srgbClr>
          </a:solidFill>
          <a:ln w="12700">
            <a:solidFill>
              <a:srgbClr val="F43F5E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20040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63040" y="30449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Review Loops</a:t>
            </a:r>
            <a:endParaRPr lang="en-US" sz="1500" dirty="0">
              <a:solidFill>
                <a:srgbClr val="12355B"/>
              </a:solidFill>
            </a:endParaRPr>
          </a:p>
        </p:txBody>
      </p:sp>
      <p:sp>
        <p:nvSpPr>
          <p:cNvPr id="19" name="Text 14"/>
          <p:cNvSpPr/>
          <p:nvPr/>
        </p:nvSpPr>
        <p:spPr>
          <a:xfrm>
            <a:off x="1463040" y="3383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review passes multiply the documentation effort per release.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0" name="Shape 15"/>
          <p:cNvSpPr/>
          <p:nvPr/>
        </p:nvSpPr>
        <p:spPr>
          <a:xfrm>
            <a:off x="4663440" y="278892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8F5F3"/>
          </a:solidFill>
          <a:ln/>
          <a:effectLst>
            <a:outerShdw blurRad="101600" dist="38100" dir="5400000" algn="bl" rotWithShape="0">
              <a:srgbClr val="0B2745">
                <a:alpha val="12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1" name="Shape 16"/>
          <p:cNvSpPr/>
          <p:nvPr/>
        </p:nvSpPr>
        <p:spPr>
          <a:xfrm>
            <a:off x="4892040" y="3044952"/>
            <a:ext cx="640080" cy="640080"/>
          </a:xfrm>
          <a:prstGeom prst="ellipse">
            <a:avLst/>
          </a:prstGeom>
          <a:solidFill>
            <a:srgbClr val="A78BFA">
              <a:alpha val="20000"/>
            </a:srgbClr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3200400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69280" y="30449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Overhead</a:t>
            </a:r>
            <a:endParaRPr lang="en-US" sz="1500" dirty="0">
              <a:solidFill>
                <a:srgbClr val="12355B"/>
              </a:solidFill>
            </a:endParaRPr>
          </a:p>
        </p:txBody>
      </p:sp>
      <p:sp>
        <p:nvSpPr>
          <p:cNvPr id="24" name="Text 18"/>
          <p:cNvSpPr/>
          <p:nvPr/>
        </p:nvSpPr>
        <p:spPr>
          <a:xfrm>
            <a:off x="5669280" y="3383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manual formatting is needed to make notes publication-ready.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Shape 19"/>
          <p:cNvSpPr/>
          <p:nvPr/>
        </p:nvSpPr>
        <p:spPr>
          <a:xfrm>
            <a:off x="525782" y="4160520"/>
            <a:ext cx="8366760" cy="548640"/>
          </a:xfrm>
          <a:prstGeom prst="roundRect">
            <a:avLst>
              <a:gd name="adj" fmla="val 13333"/>
            </a:avLst>
          </a:prstGeom>
          <a:solidFill>
            <a:srgbClr val="E8F5F3">
              <a:alpha val="17647"/>
            </a:srgbClr>
          </a:solidFill>
          <a:ln w="12700">
            <a:solidFill>
              <a:srgbClr val="E8F5F3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rgbClr val="FFAA8F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58368" y="4288536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51560" y="41605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FFA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r>
              <a:rPr lang="en-US" sz="1000" b="1" kern="0" spc="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end-to-end release-note workflow while ensuring quality, consistency, and publication standards.</a:t>
            </a:r>
            <a:endParaRPr lang="en-US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1" name="Text 24"/>
          <p:cNvSpPr/>
          <p:nvPr/>
        </p:nvSpPr>
        <p:spPr>
          <a:xfrm>
            <a:off x="8001000" y="47731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038758" cy="237744"/>
          </a:xfrm>
          <a:prstGeom prst="roundRect">
            <a:avLst>
              <a:gd name="adj" fmla="val 50000"/>
            </a:avLst>
          </a:prstGeom>
          <a:noFill/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2A9D8F"/>
                </a:solidFill>
                <a:latin typeface="Calibri" pitchFamily="34" charset="0"/>
                <a:cs typeface="Calibri" pitchFamily="34" charset="-120"/>
              </a:rPr>
              <a:t>02  APPROACH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</a:rPr>
              <a:t>AI-Powered Solution</a:t>
            </a:r>
          </a:p>
        </p:txBody>
      </p:sp>
      <p:sp>
        <p:nvSpPr>
          <p:cNvPr id="5" name="Shape 3"/>
          <p:cNvSpPr/>
          <p:nvPr/>
        </p:nvSpPr>
        <p:spPr>
          <a:xfrm>
            <a:off x="2468880" y="1705356"/>
            <a:ext cx="411480" cy="201168"/>
          </a:xfrm>
          <a:prstGeom prst="rightArrow">
            <a:avLst/>
          </a:prstGeom>
          <a:solidFill>
            <a:srgbClr val="8B5CF6">
              <a:alpha val="6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0" y="1705356"/>
            <a:ext cx="411480" cy="201168"/>
          </a:xfrm>
          <a:prstGeom prst="rightArrow">
            <a:avLst/>
          </a:prstGeom>
          <a:solidFill>
            <a:srgbClr val="8B5CF6">
              <a:alpha val="6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86600" y="2331720"/>
            <a:ext cx="201168" cy="365760"/>
          </a:xfrm>
          <a:prstGeom prst="downArrow">
            <a:avLst/>
          </a:prstGeom>
          <a:solidFill>
            <a:srgbClr val="8B5CF6">
              <a:alpha val="6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0" y="3107432"/>
            <a:ext cx="411480" cy="201168"/>
          </a:xfrm>
          <a:prstGeom prst="leftArrow">
            <a:avLst/>
          </a:prstGeom>
          <a:solidFill>
            <a:srgbClr val="8B5CF6">
              <a:alpha val="6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3107432"/>
            <a:ext cx="411480" cy="201168"/>
          </a:xfrm>
          <a:prstGeom prst="leftArrow">
            <a:avLst/>
          </a:prstGeom>
          <a:solidFill>
            <a:srgbClr val="8B5CF6">
              <a:alpha val="6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2588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EEF1F3"/>
          </a:solidFill>
          <a:ln w="15875">
            <a:solidFill>
              <a:srgbClr val="EEF1F3"/>
            </a:solidFill>
            <a:prstDash val="solid"/>
          </a:ln>
          <a:effectLst>
            <a:outerShdw blurRad="1524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1" name="Shape 9"/>
          <p:cNvSpPr/>
          <p:nvPr/>
        </p:nvSpPr>
        <p:spPr>
          <a:xfrm>
            <a:off x="594360" y="1527048"/>
            <a:ext cx="548640" cy="548640"/>
          </a:xfrm>
          <a:prstGeom prst="ellipse">
            <a:avLst/>
          </a:prstGeom>
          <a:solidFill>
            <a:srgbClr val="F43F5E">
              <a:alpha val="20000"/>
            </a:srgbClr>
          </a:solidFill>
          <a:ln w="12700">
            <a:solidFill>
              <a:srgbClr val="F43F5E"/>
            </a:solidFill>
            <a:prstDash val="solid"/>
          </a:ln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64208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234440" y="1463040"/>
            <a:ext cx="1188720" cy="685800"/>
          </a:xfrm>
          <a:prstGeom prst="rect">
            <a:avLst/>
          </a:prstGeom>
          <a:solidFill>
            <a:srgbClr val="EEF1F3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 +</a:t>
            </a:r>
            <a:endParaRPr lang="en-US" sz="1100" dirty="0">
              <a:solidFill>
                <a:srgbClr val="12355B"/>
              </a:solidFill>
            </a:endParaRPr>
          </a:p>
          <a:p>
            <a:pPr marL="0" indent="0" algn="l">
              <a:buNone/>
            </a:pPr>
            <a:r>
              <a:rPr lang="en-US" sz="1100" b="1" dirty="0" err="1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</a:t>
            </a: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Notes</a:t>
            </a:r>
            <a:endParaRPr lang="en-US" sz="1100" dirty="0">
              <a:solidFill>
                <a:srgbClr val="12355B"/>
              </a:solidFill>
            </a:endParaRPr>
          </a:p>
        </p:txBody>
      </p:sp>
      <p:sp>
        <p:nvSpPr>
          <p:cNvPr id="14" name="Shape 11"/>
          <p:cNvSpPr/>
          <p:nvPr/>
        </p:nvSpPr>
        <p:spPr>
          <a:xfrm>
            <a:off x="2926080" y="132588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EEF1F3"/>
          </a:solidFill>
          <a:ln w="15875">
            <a:solidFill>
              <a:srgbClr val="EEF1F3"/>
            </a:solidFill>
            <a:prstDash val="solid"/>
          </a:ln>
          <a:effectLst>
            <a:outerShdw blurRad="1524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5" name="Shape 12"/>
          <p:cNvSpPr/>
          <p:nvPr/>
        </p:nvSpPr>
        <p:spPr>
          <a:xfrm>
            <a:off x="3063240" y="1527048"/>
            <a:ext cx="548640" cy="548640"/>
          </a:xfrm>
          <a:prstGeom prst="ellipse">
            <a:avLst/>
          </a:prstGeom>
          <a:solidFill>
            <a:srgbClr val="22D3EE">
              <a:alpha val="20000"/>
            </a:srgbClr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664208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703320" y="146304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Data</a:t>
            </a:r>
            <a:endParaRPr lang="en-US" sz="1100" dirty="0">
              <a:solidFill>
                <a:srgbClr val="12355B"/>
              </a:solidFill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</a:t>
            </a:r>
            <a:endParaRPr lang="en-US" sz="1100" dirty="0">
              <a:solidFill>
                <a:srgbClr val="12355B"/>
              </a:solidFill>
            </a:endParaRPr>
          </a:p>
        </p:txBody>
      </p:sp>
      <p:sp>
        <p:nvSpPr>
          <p:cNvPr id="18" name="Shape 14"/>
          <p:cNvSpPr/>
          <p:nvPr/>
        </p:nvSpPr>
        <p:spPr>
          <a:xfrm>
            <a:off x="5394960" y="132588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EEF1F3"/>
          </a:solidFill>
          <a:ln w="15875">
            <a:solidFill>
              <a:srgbClr val="EEF1F3"/>
            </a:solidFill>
            <a:prstDash val="solid"/>
          </a:ln>
          <a:effectLst>
            <a:outerShdw blurRad="1524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532120" y="1527048"/>
            <a:ext cx="548640" cy="548640"/>
          </a:xfrm>
          <a:prstGeom prst="ellipse">
            <a:avLst/>
          </a:prstGeom>
          <a:solidFill>
            <a:srgbClr val="A78BFA">
              <a:alpha val="20000"/>
            </a:srgbClr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66420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172200" y="146304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</a:t>
            </a:r>
            <a:endParaRPr lang="en-US" sz="1100" dirty="0">
              <a:solidFill>
                <a:srgbClr val="12355B"/>
              </a:solidFill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</a:t>
            </a:r>
            <a:endParaRPr lang="en-US" sz="1100" dirty="0">
              <a:solidFill>
                <a:srgbClr val="12355B"/>
              </a:solidFill>
            </a:endParaRPr>
          </a:p>
        </p:txBody>
      </p:sp>
      <p:sp>
        <p:nvSpPr>
          <p:cNvPr id="22" name="Shape 17"/>
          <p:cNvSpPr/>
          <p:nvPr/>
        </p:nvSpPr>
        <p:spPr>
          <a:xfrm>
            <a:off x="5394960" y="2727956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EEF1F3"/>
          </a:solidFill>
          <a:ln w="15875">
            <a:solidFill>
              <a:srgbClr val="EEF1F3"/>
            </a:solidFill>
            <a:prstDash val="solid"/>
          </a:ln>
          <a:effectLst>
            <a:outerShdw blurRad="1524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532120" y="2929124"/>
            <a:ext cx="548640" cy="548640"/>
          </a:xfrm>
          <a:prstGeom prst="ellipse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3066284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2865116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</a:t>
            </a:r>
            <a:endParaRPr lang="en-US" sz="1100" dirty="0">
              <a:solidFill>
                <a:srgbClr val="12355B"/>
              </a:solidFill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1100" dirty="0">
              <a:solidFill>
                <a:srgbClr val="12355B"/>
              </a:solidFill>
            </a:endParaRPr>
          </a:p>
        </p:txBody>
      </p:sp>
      <p:sp>
        <p:nvSpPr>
          <p:cNvPr id="26" name="Shape 20"/>
          <p:cNvSpPr/>
          <p:nvPr/>
        </p:nvSpPr>
        <p:spPr>
          <a:xfrm>
            <a:off x="2926080" y="2727956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EEF1F3"/>
          </a:solidFill>
          <a:ln w="15875">
            <a:solidFill>
              <a:srgbClr val="EEF1F3"/>
            </a:solidFill>
            <a:prstDash val="solid"/>
          </a:ln>
          <a:effectLst>
            <a:outerShdw blurRad="1524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7" name="Shape 21"/>
          <p:cNvSpPr/>
          <p:nvPr/>
        </p:nvSpPr>
        <p:spPr>
          <a:xfrm>
            <a:off x="3063240" y="2929124"/>
            <a:ext cx="548640" cy="548640"/>
          </a:xfrm>
          <a:prstGeom prst="ellipse">
            <a:avLst/>
          </a:prstGeom>
          <a:solidFill>
            <a:srgbClr val="22D3EE">
              <a:alpha val="20000"/>
            </a:srgbClr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0" y="3066284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703320" y="2865116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</a:t>
            </a:r>
            <a:endParaRPr lang="en-US" sz="1100" dirty="0">
              <a:solidFill>
                <a:srgbClr val="12355B"/>
              </a:solidFill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</a:t>
            </a:r>
            <a:endParaRPr lang="en-US" sz="1100" dirty="0">
              <a:solidFill>
                <a:srgbClr val="12355B"/>
              </a:solidFill>
            </a:endParaRPr>
          </a:p>
        </p:txBody>
      </p:sp>
      <p:sp>
        <p:nvSpPr>
          <p:cNvPr id="30" name="Shape 23"/>
          <p:cNvSpPr/>
          <p:nvPr/>
        </p:nvSpPr>
        <p:spPr>
          <a:xfrm>
            <a:off x="457200" y="2727956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EEF1F3"/>
          </a:solidFill>
          <a:ln w="15875">
            <a:solidFill>
              <a:srgbClr val="EEF1F3"/>
            </a:solidFill>
            <a:prstDash val="solid"/>
          </a:ln>
          <a:effectLst>
            <a:outerShdw blurRad="1524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94360" y="2929124"/>
            <a:ext cx="548640" cy="548640"/>
          </a:xfrm>
          <a:prstGeom prst="ellipse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3066284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234440" y="2865116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Publication-Ready</a:t>
            </a:r>
            <a:endParaRPr lang="en-US" sz="1100" dirty="0">
              <a:solidFill>
                <a:srgbClr val="12355B"/>
              </a:solidFill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</a:t>
            </a:r>
            <a:endParaRPr lang="en-US" sz="1100" dirty="0">
              <a:solidFill>
                <a:srgbClr val="12355B"/>
              </a:solidFill>
            </a:endParaRPr>
          </a:p>
        </p:txBody>
      </p:sp>
      <p:sp>
        <p:nvSpPr>
          <p:cNvPr id="34" name="Shape 26"/>
          <p:cNvSpPr/>
          <p:nvPr/>
        </p:nvSpPr>
        <p:spPr>
          <a:xfrm>
            <a:off x="457200" y="3825236"/>
            <a:ext cx="8366760" cy="960120"/>
          </a:xfrm>
          <a:prstGeom prst="roundRect">
            <a:avLst>
              <a:gd name="adj" fmla="val 10667"/>
            </a:avLst>
          </a:prstGeom>
          <a:solidFill>
            <a:srgbClr val="FBF0E3"/>
          </a:solidFill>
          <a:ln/>
          <a:effectLst>
            <a:outerShdw blurRad="101600" dist="38100" dir="5400000" algn="bl" rotWithShape="0">
              <a:srgbClr val="0B2745">
                <a:alpha val="12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621792" y="3977641"/>
            <a:ext cx="1005840" cy="320040"/>
          </a:xfrm>
          <a:prstGeom prst="roundRect">
            <a:avLst>
              <a:gd name="adj" fmla="val 17143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4041649"/>
            <a:ext cx="182880" cy="18288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932688" y="3977641"/>
            <a:ext cx="694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SKILLS</a:t>
            </a:r>
            <a:endParaRPr lang="en-US" sz="900" dirty="0"/>
          </a:p>
        </p:txBody>
      </p:sp>
      <p:sp>
        <p:nvSpPr>
          <p:cNvPr id="38" name="Shape 29"/>
          <p:cNvSpPr/>
          <p:nvPr/>
        </p:nvSpPr>
        <p:spPr>
          <a:xfrm>
            <a:off x="1783080" y="3977641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1A2332"/>
          </a:solidFill>
          <a:ln w="9525">
            <a:solidFill>
              <a:srgbClr val="8B5CF6">
                <a:alpha val="50000"/>
              </a:srgbClr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1783080" y="3977641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Data Extractor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3520440" y="3977641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1A2332"/>
          </a:solidFill>
          <a:ln w="9525">
            <a:solidFill>
              <a:srgbClr val="8B5CF6">
                <a:alpha val="50000"/>
              </a:srgbClr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3520440" y="3977641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 Generator</a:t>
            </a:r>
            <a:endParaRPr lang="en-US" sz="1050" dirty="0"/>
          </a:p>
        </p:txBody>
      </p:sp>
      <p:sp>
        <p:nvSpPr>
          <p:cNvPr id="42" name="Shape 33"/>
          <p:cNvSpPr/>
          <p:nvPr/>
        </p:nvSpPr>
        <p:spPr>
          <a:xfrm>
            <a:off x="5257800" y="3977641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1A2332"/>
          </a:solidFill>
          <a:ln w="9525">
            <a:solidFill>
              <a:srgbClr val="8B5CF6">
                <a:alpha val="50000"/>
              </a:srgbClr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5257800" y="3977641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 Reviewer</a:t>
            </a:r>
            <a:endParaRPr lang="en-US" sz="1000" dirty="0"/>
          </a:p>
        </p:txBody>
      </p:sp>
      <p:sp>
        <p:nvSpPr>
          <p:cNvPr id="44" name="Shape 35"/>
          <p:cNvSpPr/>
          <p:nvPr/>
        </p:nvSpPr>
        <p:spPr>
          <a:xfrm>
            <a:off x="6995160" y="3977641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1A2332"/>
          </a:solidFill>
          <a:ln w="9525">
            <a:solidFill>
              <a:srgbClr val="8B5CF6">
                <a:alpha val="50000"/>
              </a:srgbClr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6995160" y="3977641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 Publisher</a:t>
            </a:r>
            <a:endParaRPr lang="en-US" sz="1050" dirty="0"/>
          </a:p>
        </p:txBody>
      </p:sp>
      <p:sp>
        <p:nvSpPr>
          <p:cNvPr id="49" name="Text 40"/>
          <p:cNvSpPr/>
          <p:nvPr/>
        </p:nvSpPr>
        <p:spPr>
          <a:xfrm>
            <a:off x="8001000" y="47731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52" name="Shape 35">
            <a:extLst>
              <a:ext uri="{FF2B5EF4-FFF2-40B4-BE49-F238E27FC236}">
                <a16:creationId xmlns:a16="http://schemas.microsoft.com/office/drawing/2014/main" id="{C6DD4E93-8059-4823-8B24-B02A002A85E3}"/>
              </a:ext>
            </a:extLst>
          </p:cNvPr>
          <p:cNvSpPr/>
          <p:nvPr/>
        </p:nvSpPr>
        <p:spPr>
          <a:xfrm>
            <a:off x="3422469" y="4413168"/>
            <a:ext cx="1874520" cy="263229"/>
          </a:xfrm>
          <a:prstGeom prst="roundRect">
            <a:avLst>
              <a:gd name="adj" fmla="val 17143"/>
            </a:avLst>
          </a:prstGeom>
          <a:solidFill>
            <a:schemeClr val="accent6">
              <a:lumMod val="75000"/>
            </a:schemeClr>
          </a:solidFill>
          <a:ln w="9525">
            <a:solidFill>
              <a:srgbClr val="8B5CF6">
                <a:alpha val="50000"/>
              </a:srgbClr>
            </a:solidFill>
            <a:prstDash val="solid"/>
          </a:ln>
        </p:spPr>
        <p:txBody>
          <a:bodyPr/>
          <a:lstStyle/>
          <a:p>
            <a:pPr algn="ctr"/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cs typeface="Calibri" pitchFamily="34" charset="-120"/>
              </a:rPr>
              <a:t>Human Review and Approval</a:t>
            </a:r>
          </a:p>
          <a:p>
            <a:pPr algn="ctr"/>
            <a:endParaRPr lang="en-IN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65760"/>
            <a:ext cx="16110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100" b="1" kern="0" spc="150" dirty="0">
                <a:solidFill>
                  <a:srgbClr val="2A9D8F"/>
                </a:solidFill>
                <a:latin typeface="Calibri" pitchFamily="34" charset="0"/>
                <a:cs typeface="Calibri" pitchFamily="34" charset="-120"/>
              </a:rPr>
              <a:t>03  DEMONSTRATION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</a:rPr>
              <a:t>End-to-End Workflow</a:t>
            </a:r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24912" cy="1874520"/>
          </a:xfrm>
          <a:prstGeom prst="roundRect">
            <a:avLst>
              <a:gd name="adj" fmla="val 3902"/>
            </a:avLst>
          </a:prstGeom>
          <a:solidFill>
            <a:srgbClr val="E8F5F3"/>
          </a:solidFill>
          <a:ln w="9525">
            <a:solidFill>
              <a:srgbClr val="E8F5F3"/>
            </a:solidFill>
            <a:prstDash val="solid"/>
          </a:ln>
          <a:effectLst>
            <a:outerShdw blurRad="1524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384048" cy="256032"/>
          </a:xfrm>
          <a:prstGeom prst="roundRect">
            <a:avLst>
              <a:gd name="adj" fmla="val 21429"/>
            </a:avLst>
          </a:prstGeom>
          <a:solidFill>
            <a:srgbClr val="22D3EE">
              <a:alpha val="22000"/>
            </a:srgbClr>
          </a:solidFill>
          <a:ln w="635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9192" y="135331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16916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Source Data</a:t>
            </a:r>
            <a:endParaRPr lang="en-US" sz="1300" dirty="0">
              <a:solidFill>
                <a:srgbClr val="12355B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640080" y="2057400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64408" y="1188720"/>
            <a:ext cx="2724912" cy="1874520"/>
          </a:xfrm>
          <a:prstGeom prst="roundRect">
            <a:avLst>
              <a:gd name="adj" fmla="val 3902"/>
            </a:avLst>
          </a:prstGeom>
          <a:solidFill>
            <a:srgbClr val="EEF1F3"/>
          </a:solidFill>
          <a:ln w="9525">
            <a:solidFill>
              <a:srgbClr val="EEF1F3"/>
            </a:solidFill>
            <a:prstDash val="solid"/>
          </a:ln>
          <a:effectLst>
            <a:outerShdw blurRad="1524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3" name="Shape 10"/>
          <p:cNvSpPr/>
          <p:nvPr/>
        </p:nvSpPr>
        <p:spPr>
          <a:xfrm>
            <a:off x="3447288" y="1371600"/>
            <a:ext cx="384048" cy="256032"/>
          </a:xfrm>
          <a:prstGeom prst="roundRect">
            <a:avLst>
              <a:gd name="adj" fmla="val 21429"/>
            </a:avLst>
          </a:prstGeom>
          <a:solidFill>
            <a:srgbClr val="A78BFA">
              <a:alpha val="22000"/>
            </a:srgbClr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47288" y="137160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5331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447288" y="16916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Release Note</a:t>
            </a:r>
            <a:endParaRPr lang="en-US" sz="1300" dirty="0">
              <a:solidFill>
                <a:srgbClr val="12355B"/>
              </a:solidFill>
            </a:endParaRPr>
          </a:p>
        </p:txBody>
      </p:sp>
      <p:sp>
        <p:nvSpPr>
          <p:cNvPr id="19" name="Shape 15"/>
          <p:cNvSpPr/>
          <p:nvPr/>
        </p:nvSpPr>
        <p:spPr>
          <a:xfrm>
            <a:off x="6071616" y="1188720"/>
            <a:ext cx="2724912" cy="1874520"/>
          </a:xfrm>
          <a:prstGeom prst="roundRect">
            <a:avLst>
              <a:gd name="adj" fmla="val 3902"/>
            </a:avLst>
          </a:prstGeom>
          <a:solidFill>
            <a:srgbClr val="E8F5F3"/>
          </a:solidFill>
          <a:ln w="9525">
            <a:solidFill>
              <a:srgbClr val="E8F5F3"/>
            </a:solidFill>
            <a:prstDash val="solid"/>
          </a:ln>
          <a:effectLst>
            <a:outerShdw blurRad="1524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254496" y="1371600"/>
            <a:ext cx="38404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22000"/>
            </a:srgbClr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54496" y="137160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608" y="1353312"/>
            <a:ext cx="292608" cy="29260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54496" y="16916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Release Note</a:t>
            </a:r>
            <a:endParaRPr lang="en-US" sz="1300" dirty="0">
              <a:solidFill>
                <a:srgbClr val="12355B"/>
              </a:solidFill>
            </a:endParaRPr>
          </a:p>
        </p:txBody>
      </p:sp>
      <p:sp>
        <p:nvSpPr>
          <p:cNvPr id="26" name="Shape 21"/>
          <p:cNvSpPr/>
          <p:nvPr/>
        </p:nvSpPr>
        <p:spPr>
          <a:xfrm>
            <a:off x="457200" y="3200400"/>
            <a:ext cx="8366760" cy="1417320"/>
          </a:xfrm>
          <a:prstGeom prst="roundRect">
            <a:avLst>
              <a:gd name="adj" fmla="val 6452"/>
            </a:avLst>
          </a:prstGeom>
          <a:solidFill>
            <a:srgbClr val="FBF0E3"/>
          </a:solidFill>
          <a:ln/>
          <a:effectLst>
            <a:outerShdw blurRad="101600" dist="38100" dir="5400000" algn="bl" rotWithShape="0">
              <a:srgbClr val="0B2745">
                <a:alpha val="12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7" name="Shape 22"/>
          <p:cNvSpPr/>
          <p:nvPr/>
        </p:nvSpPr>
        <p:spPr>
          <a:xfrm>
            <a:off x="731520" y="3429000"/>
            <a:ext cx="45720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25000"/>
            </a:srgbClr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31520" y="34290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1325880" y="3401568"/>
            <a:ext cx="384048" cy="384048"/>
          </a:xfrm>
          <a:prstGeom prst="ellipse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3493008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31520" y="3794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Release Note</a:t>
            </a:r>
            <a:endParaRPr lang="en-US" sz="1700" dirty="0">
              <a:solidFill>
                <a:srgbClr val="12355B"/>
              </a:solidFill>
            </a:endParaRPr>
          </a:p>
        </p:txBody>
      </p:sp>
      <p:sp>
        <p:nvSpPr>
          <p:cNvPr id="32" name="Text 26"/>
          <p:cNvSpPr/>
          <p:nvPr/>
        </p:nvSpPr>
        <p:spPr>
          <a:xfrm>
            <a:off x="731520" y="41330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Validation -&gt; Approval -&gt; Publication</a:t>
            </a:r>
            <a:endParaRPr lang="en-US" sz="1000" dirty="0"/>
          </a:p>
        </p:txBody>
      </p:sp>
      <p:sp>
        <p:nvSpPr>
          <p:cNvPr id="40" name="Text 33"/>
          <p:cNvSpPr/>
          <p:nvPr/>
        </p:nvSpPr>
        <p:spPr>
          <a:xfrm>
            <a:off x="8001000" y="47731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2" name="Slide Zoom 41">
                <a:extLst>
                  <a:ext uri="{FF2B5EF4-FFF2-40B4-BE49-F238E27FC236}">
                    <a16:creationId xmlns:a16="http://schemas.microsoft.com/office/drawing/2014/main" id="{24D156E9-16B3-4D67-BF4A-277A727F14E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40079" y="2057399"/>
              <a:ext cx="1831267" cy="929613"/>
            </p:xfrm>
            <a:graphic>
              <a:graphicData uri="http://schemas.microsoft.com/office/powerpoint/2016/slidezoom">
                <pslz:sldZm>
                  <pslz:sldZmObj sldId="301" cId="238642846">
                    <pslz:zmPr id="{7529E5C8-B9AB-47D4-9209-C348B921A4B7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831267" cy="92961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2" name="Slide Zoom 41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24D156E9-16B3-4D67-BF4A-277A727F14E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40079" y="2057399"/>
                <a:ext cx="1831267" cy="92961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4" name="Slide Zoom 43">
                <a:extLst>
                  <a:ext uri="{FF2B5EF4-FFF2-40B4-BE49-F238E27FC236}">
                    <a16:creationId xmlns:a16="http://schemas.microsoft.com/office/drawing/2014/main" id="{D6D1C9B8-6BD6-4611-AEB7-7CC68216D95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474720" y="2020824"/>
              <a:ext cx="1763486" cy="961862"/>
            </p:xfrm>
            <a:graphic>
              <a:graphicData uri="http://schemas.microsoft.com/office/powerpoint/2016/slidezoom">
                <pslz:sldZm>
                  <pslz:sldZmObj sldId="302" cId="636061836">
                    <pslz:zmPr id="{236B2021-C4B8-45B5-8A29-717C44C1F6D4}" returnToParent="0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763486" cy="96186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4" name="Slide Zoom 43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D6D1C9B8-6BD6-4611-AEB7-7CC68216D95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474720" y="2020824"/>
                <a:ext cx="1763486" cy="96186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6" name="Slide Zoom 45">
                <a:extLst>
                  <a:ext uri="{FF2B5EF4-FFF2-40B4-BE49-F238E27FC236}">
                    <a16:creationId xmlns:a16="http://schemas.microsoft.com/office/drawing/2014/main" id="{4A6FFE5B-4593-4DCF-BA69-9A6295BC077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239691" y="2048256"/>
              <a:ext cx="1761309" cy="937532"/>
            </p:xfrm>
            <a:graphic>
              <a:graphicData uri="http://schemas.microsoft.com/office/powerpoint/2016/slidezoom">
                <pslz:sldZm>
                  <pslz:sldZmObj sldId="303" cId="3399947531">
                    <pslz:zmPr id="{247751EA-8D89-4621-ADD2-DC73BB8D188D}" returnToParent="0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761309" cy="93753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6" name="Slide Zoom 45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4A6FFE5B-4593-4DCF-BA69-9A6295BC077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239691" y="2048256"/>
                <a:ext cx="1761309" cy="93753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0" name="Slide Zoom 9">
                <a:extLst>
                  <a:ext uri="{FF2B5EF4-FFF2-40B4-BE49-F238E27FC236}">
                    <a16:creationId xmlns:a16="http://schemas.microsoft.com/office/drawing/2014/main" id="{BAB6DA1F-743B-4785-A8F5-68107AFF1F9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96136966"/>
                  </p:ext>
                </p:extLst>
              </p:nvPr>
            </p:nvGraphicFramePr>
            <p:xfrm>
              <a:off x="3170790" y="3299133"/>
              <a:ext cx="2200221" cy="1237624"/>
            </p:xfrm>
            <a:graphic>
              <a:graphicData uri="http://schemas.microsoft.com/office/powerpoint/2016/slidezoom">
                <pslz:sldZm>
                  <pslz:sldZmObj sldId="309" cId="1640519903">
                    <pslz:zmPr id="{9BE59383-CC27-414F-A909-033DE6F91BD7}" returnToParent="0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200221" cy="123762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0" name="Slide Zoom 9">
                <a:hlinkClick r:id="rId18" action="ppaction://hlinksldjump"/>
                <a:extLst>
                  <a:ext uri="{FF2B5EF4-FFF2-40B4-BE49-F238E27FC236}">
                    <a16:creationId xmlns:a16="http://schemas.microsoft.com/office/drawing/2014/main" id="{BAB6DA1F-743B-4785-A8F5-68107AFF1F9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170790" y="3299133"/>
                <a:ext cx="2200221" cy="123762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8" name="Slide Zoom 17">
                <a:extLst>
                  <a:ext uri="{FF2B5EF4-FFF2-40B4-BE49-F238E27FC236}">
                    <a16:creationId xmlns:a16="http://schemas.microsoft.com/office/drawing/2014/main" id="{AE8F9581-05A2-4631-99A9-A5F355ADB35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22165951"/>
                  </p:ext>
                </p:extLst>
              </p:nvPr>
            </p:nvGraphicFramePr>
            <p:xfrm>
              <a:off x="5428053" y="3325069"/>
              <a:ext cx="2141874" cy="1204804"/>
            </p:xfrm>
            <a:graphic>
              <a:graphicData uri="http://schemas.microsoft.com/office/powerpoint/2016/slidezoom">
                <pslz:sldZm>
                  <pslz:sldZmObj sldId="310" cId="930371033">
                    <pslz:zmPr id="{C8348A4B-0DA5-446D-9FC5-8078F002AC21}" returnToParent="0" transitionDur="1000">
                      <p166:blipFill xmlns:p166="http://schemas.microsoft.com/office/powerpoint/2016/6/main">
                        <a:blip r:embed="rId1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41874" cy="120480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8" name="Slide Zoom 17">
                <a:hlinkClick r:id="rId20" action="ppaction://hlinksldjump"/>
                <a:extLst>
                  <a:ext uri="{FF2B5EF4-FFF2-40B4-BE49-F238E27FC236}">
                    <a16:creationId xmlns:a16="http://schemas.microsoft.com/office/drawing/2014/main" id="{AE8F9581-05A2-4631-99A9-A5F355ADB35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428053" y="3325069"/>
                <a:ext cx="2141874" cy="120480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graphicFrame>
        <p:nvGraphicFramePr>
          <p:cNvPr id="24" name="Object 23">
            <a:extLst>
              <a:ext uri="{FF2B5EF4-FFF2-40B4-BE49-F238E27FC236}">
                <a16:creationId xmlns:a16="http://schemas.microsoft.com/office/drawing/2014/main" id="{9F31EE9C-6475-45DF-A8E2-B9E8E5A9CAA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2596527"/>
              </p:ext>
            </p:extLst>
          </p:nvPr>
        </p:nvGraphicFramePr>
        <p:xfrm>
          <a:off x="7836408" y="3521583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" name="Document" showAsIcon="1" r:id="rId21" imgW="914400" imgH="771480" progId="Word.Document.12">
                  <p:link updateAutomatic="1"/>
                </p:oleObj>
              </mc:Choice>
              <mc:Fallback>
                <p:oleObj name="Document" showAsIcon="1" r:id="rId21" imgW="914400" imgH="771480" progId="Word.Documen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36408" y="3521583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C4970E69-02BF-4A0F-A5F8-593AAE1E0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42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D3E0B4-5DC0-4249-B6C9-55D5B4E66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30148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061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EFC32F-9DB0-41E9-8402-249D0784CA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947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74B43C-6971-4552-AA17-562F5FC834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7971" y="0"/>
            <a:ext cx="9241971" cy="506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519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B6EDE3-6AE3-49AB-BB58-1A42E38F00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1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371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96112" cy="237744"/>
          </a:xfrm>
          <a:prstGeom prst="roundRect">
            <a:avLst>
              <a:gd name="adj" fmla="val 50000"/>
            </a:avLst>
          </a:prstGeom>
          <a:noFill/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2A9D8F"/>
                </a:solidFill>
                <a:latin typeface="Calibri" pitchFamily="34" charset="0"/>
                <a:cs typeface="Calibri" pitchFamily="34" charset="-120"/>
              </a:rPr>
              <a:t>04  IMPACT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</a:rPr>
              <a:t>Business Value</a:t>
            </a:r>
          </a:p>
        </p:txBody>
      </p:sp>
      <p:sp>
        <p:nvSpPr>
          <p:cNvPr id="5" name="Shape 3"/>
          <p:cNvSpPr/>
          <p:nvPr/>
        </p:nvSpPr>
        <p:spPr>
          <a:xfrm>
            <a:off x="457200" y="1313687"/>
            <a:ext cx="6248400" cy="3429000"/>
          </a:xfrm>
          <a:prstGeom prst="roundRect">
            <a:avLst>
              <a:gd name="adj" fmla="val 2667"/>
            </a:avLst>
          </a:prstGeom>
          <a:solidFill>
            <a:srgbClr val="EEF1F3"/>
          </a:solidFill>
          <a:ln w="9525">
            <a:solidFill>
              <a:srgbClr val="EEF1F3"/>
            </a:solidFill>
            <a:prstDash val="solid"/>
          </a:ln>
          <a:effectLst>
            <a:outerShdw blurRad="1524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731522" y="1542287"/>
            <a:ext cx="457200" cy="457200"/>
          </a:xfrm>
          <a:prstGeom prst="ellipse">
            <a:avLst/>
          </a:prstGeom>
          <a:solidFill>
            <a:srgbClr val="10B981">
              <a:alpha val="22000"/>
            </a:srgbClr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50" y="1652015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2" y="1542287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800" dirty="0">
              <a:solidFill>
                <a:srgbClr val="12355B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2" y="2255519"/>
            <a:ext cx="292608" cy="292608"/>
          </a:xfrm>
          <a:prstGeom prst="ellipse">
            <a:avLst/>
          </a:prstGeom>
          <a:solidFill>
            <a:srgbClr val="10B981">
              <a:alpha val="18000"/>
            </a:srgbClr>
          </a:solidFill>
          <a:ln w="9525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4" y="2328671"/>
            <a:ext cx="146304" cy="14630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2" y="2182367"/>
            <a:ext cx="40462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manual documentation effort in release note creation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731522" y="2740151"/>
            <a:ext cx="292608" cy="292608"/>
          </a:xfrm>
          <a:prstGeom prst="ellipse">
            <a:avLst/>
          </a:prstGeom>
          <a:solidFill>
            <a:srgbClr val="10B981">
              <a:alpha val="18000"/>
            </a:srgbClr>
          </a:solidFill>
          <a:ln w="9525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4" y="2813303"/>
            <a:ext cx="146304" cy="14630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1" y="2666999"/>
            <a:ext cx="3643449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and standardized release note generation 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31522" y="3224783"/>
            <a:ext cx="292608" cy="292608"/>
          </a:xfrm>
          <a:prstGeom prst="ellipse">
            <a:avLst/>
          </a:prstGeom>
          <a:solidFill>
            <a:srgbClr val="10B981">
              <a:alpha val="18000"/>
            </a:srgbClr>
          </a:solidFill>
          <a:ln w="9525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4" y="3297935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43002" y="3151631"/>
            <a:ext cx="32461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documentation turnaround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Shape 12"/>
          <p:cNvSpPr/>
          <p:nvPr/>
        </p:nvSpPr>
        <p:spPr>
          <a:xfrm>
            <a:off x="731522" y="3709415"/>
            <a:ext cx="292608" cy="292608"/>
          </a:xfrm>
          <a:prstGeom prst="ellipse">
            <a:avLst/>
          </a:prstGeom>
          <a:solidFill>
            <a:srgbClr val="10B981">
              <a:alpha val="18000"/>
            </a:srgbClr>
          </a:solidFill>
          <a:ln w="9525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4" y="3782567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43002" y="3636263"/>
            <a:ext cx="32461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Publication-ready outputs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1" name="Shape 14"/>
          <p:cNvSpPr/>
          <p:nvPr/>
        </p:nvSpPr>
        <p:spPr>
          <a:xfrm>
            <a:off x="731522" y="4194047"/>
            <a:ext cx="292608" cy="292608"/>
          </a:xfrm>
          <a:prstGeom prst="ellipse">
            <a:avLst/>
          </a:prstGeom>
          <a:solidFill>
            <a:srgbClr val="10B981">
              <a:alpha val="18000"/>
            </a:srgbClr>
          </a:solidFill>
          <a:ln w="9525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4" y="4267199"/>
            <a:ext cx="146304" cy="146304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143002" y="4120895"/>
            <a:ext cx="32461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content quality through AI review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6" name="Text 32"/>
          <p:cNvSpPr/>
          <p:nvPr/>
        </p:nvSpPr>
        <p:spPr>
          <a:xfrm>
            <a:off x="8001000" y="47731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55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17EFCA-209F-4BC7-BC92-7C165DB31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235604D-5895-9F76-283C-232D7D0B6B05}"/>
              </a:ext>
            </a:extLst>
          </p:cNvPr>
          <p:cNvSpPr/>
          <p:nvPr/>
        </p:nvSpPr>
        <p:spPr>
          <a:xfrm>
            <a:off x="-1463040" y="2834640"/>
            <a:ext cx="3291840" cy="3291840"/>
          </a:xfrm>
          <a:prstGeom prst="ellipse">
            <a:avLst/>
          </a:prstGeom>
          <a:solidFill>
            <a:srgbClr val="2A9D8F">
              <a:alpha val="2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CEBF72B-8480-9B50-3493-67472DD10F36}"/>
              </a:ext>
            </a:extLst>
          </p:cNvPr>
          <p:cNvSpPr/>
          <p:nvPr/>
        </p:nvSpPr>
        <p:spPr>
          <a:xfrm>
            <a:off x="-822960" y="3474720"/>
            <a:ext cx="2011680" cy="2011680"/>
          </a:xfrm>
          <a:prstGeom prst="ellipse">
            <a:avLst/>
          </a:prstGeom>
          <a:solidFill>
            <a:srgbClr val="2A9D8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D39CF7E-B809-4B44-95AB-2CC0D42187DB}"/>
              </a:ext>
            </a:extLst>
          </p:cNvPr>
          <p:cNvSpPr/>
          <p:nvPr/>
        </p:nvSpPr>
        <p:spPr>
          <a:xfrm>
            <a:off x="566928" y="105156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“This makes people faster,</a:t>
            </a:r>
            <a:endParaRPr lang="en-US" sz="4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redundant.”</a:t>
            </a:r>
            <a:endParaRPr lang="en-US" sz="4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803F536-C07B-06BE-D8E8-04854515C94A}"/>
              </a:ext>
            </a:extLst>
          </p:cNvPr>
          <p:cNvSpPr/>
          <p:nvPr/>
        </p:nvSpPr>
        <p:spPr>
          <a:xfrm>
            <a:off x="585216" y="2606040"/>
            <a:ext cx="1371600" cy="0"/>
          </a:xfrm>
          <a:prstGeom prst="line">
            <a:avLst/>
          </a:prstGeom>
          <a:noFill/>
          <a:ln w="3175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6697A56-876A-9EC4-3AB0-5C75F5FD74DC}"/>
              </a:ext>
            </a:extLst>
          </p:cNvPr>
          <p:cNvSpPr/>
          <p:nvPr/>
        </p:nvSpPr>
        <p:spPr>
          <a:xfrm>
            <a:off x="566928" y="285292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technical and business context to deliver customer-ready release notes </a:t>
            </a:r>
            <a:endParaRPr lang="en-US" sz="15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64CD067-DA94-A0B9-6F2D-DC3CD5BBEBE8}"/>
              </a:ext>
            </a:extLst>
          </p:cNvPr>
          <p:cNvSpPr/>
          <p:nvPr/>
        </p:nvSpPr>
        <p:spPr>
          <a:xfrm>
            <a:off x="566928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 ·  CAPSTONE PROJECT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5065855-C080-3BBD-9F65-1374C761622A}"/>
              </a:ext>
            </a:extLst>
          </p:cNvPr>
          <p:cNvSpPr/>
          <p:nvPr/>
        </p:nvSpPr>
        <p:spPr>
          <a:xfrm>
            <a:off x="566928" y="4114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Bhargavi</a:t>
            </a:r>
            <a:endParaRPr lang="en-US" sz="1300" b="1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D39F8FF-144B-9AC0-FC70-A4258AE8D835}"/>
              </a:ext>
            </a:extLst>
          </p:cNvPr>
          <p:cNvSpPr/>
          <p:nvPr/>
        </p:nvSpPr>
        <p:spPr>
          <a:xfrm>
            <a:off x="566928" y="44988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804573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C4970E69-02BF-4A0F-A5F8-593AAE1E0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428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D3E0B4-5DC0-4249-B6C9-55D5B4E66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30148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0618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EFC32F-9DB0-41E9-8402-249D0784CA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947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1155</TotalTime>
  <Words>234</Words>
  <Application>Microsoft Office PowerPoint</Application>
  <PresentationFormat>On-screen Show (16:9)</PresentationFormat>
  <Paragraphs>72</Paragraphs>
  <Slides>11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Links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Cambria</vt:lpstr>
      <vt:lpstr>Office Theme</vt:lpstr>
      <vt:lpstr>C:\Users\admin\Projects\ai-relesase-note-workflow\sample-data\release-notes.docx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Release Note Generation</dc:title>
  <dc:subject>PptxGenJS Presentation</dc:subject>
  <dc:creator>Riffat Wyne</dc:creator>
  <cp:lastModifiedBy>bhargavi chary</cp:lastModifiedBy>
  <cp:revision>12</cp:revision>
  <dcterms:created xsi:type="dcterms:W3CDTF">2026-07-02T15:31:33Z</dcterms:created>
  <dcterms:modified xsi:type="dcterms:W3CDTF">2026-07-04T07:33:12Z</dcterms:modified>
</cp:coreProperties>
</file>